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Rectangle 1"/>
          <p:cNvSpPr/>
          <p:nvPr/>
        </p:nvSpPr>
        <p:spPr>
          <a:xfrm>
            <a:off x="4892040" y="0"/>
            <a:ext cx="729691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188720"/>
            <a:ext cx="4206240" cy="1188720"/>
          </a:xfrm>
          <a:prstGeom prst="rect">
            <a:avLst/>
          </a:prstGeom>
          <a:noFill/>
        </p:spPr>
        <p:txBody>
          <a:bodyPr wrap="square">
            <a:spAutoFit/>
          </a:bodyPr>
          <a:lstStyle/>
          <a:p>
            <a:pPr algn="l"/>
            <a:r>
              <a:rPr sz="4800" b="1" i="0">
                <a:solidFill>
                  <a:srgbClr val="FFFFFF"/>
                </a:solidFill>
                <a:latin typeface="Noto Sans JP"/>
              </a:rPr>
              <a:t>小さいほど、</a:t>
            </a:r>
          </a:p>
        </p:txBody>
      </p:sp>
      <p:sp>
        <p:nvSpPr>
          <p:cNvPr id="4" name="TextBox 3"/>
          <p:cNvSpPr txBox="1"/>
          <p:nvPr/>
        </p:nvSpPr>
        <p:spPr>
          <a:xfrm>
            <a:off x="502920" y="2423160"/>
            <a:ext cx="4206240" cy="1188720"/>
          </a:xfrm>
          <a:prstGeom prst="rect">
            <a:avLst/>
          </a:prstGeom>
          <a:noFill/>
        </p:spPr>
        <p:txBody>
          <a:bodyPr wrap="square">
            <a:spAutoFit/>
          </a:bodyPr>
          <a:lstStyle/>
          <a:p>
            <a:pPr algn="l"/>
            <a:r>
              <a:rPr sz="4800" b="1" i="0">
                <a:solidFill>
                  <a:srgbClr val="FFFFFF"/>
                </a:solidFill>
                <a:latin typeface="Noto Sans JP"/>
              </a:rPr>
              <a:t>豊かだ。</a:t>
            </a:r>
          </a:p>
        </p:txBody>
      </p:sp>
      <p:cxnSp>
        <p:nvCxnSpPr>
          <p:cNvPr id="5" name="Connector 4"/>
          <p:cNvCxnSpPr/>
          <p:nvPr/>
        </p:nvCxnSpPr>
        <p:spPr>
          <a:xfrm>
            <a:off x="502920" y="3749039"/>
            <a:ext cx="3977640" cy="0"/>
          </a:xfrm>
          <a:prstGeom prst="line">
            <a:avLst/>
          </a:prstGeom>
          <a:ln w="6350">
            <a:solidFill>
              <a:srgbClr val="88888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3931920"/>
            <a:ext cx="4206240" cy="457200"/>
          </a:xfrm>
          <a:prstGeom prst="rect">
            <a:avLst/>
          </a:prstGeom>
          <a:noFill/>
        </p:spPr>
        <p:txBody>
          <a:bodyPr wrap="square">
            <a:spAutoFit/>
          </a:bodyPr>
          <a:lstStyle/>
          <a:p>
            <a:pPr algn="l"/>
            <a:r>
              <a:rPr sz="1400" b="0" i="0">
                <a:solidFill>
                  <a:srgbClr val="FFFFFF"/>
                </a:solidFill>
                <a:latin typeface="Inter"/>
              </a:rPr>
              <a:t>YADOKARI Trailer House Proposal</a:t>
            </a:r>
          </a:p>
        </p:txBody>
      </p:sp>
      <p:sp>
        <p:nvSpPr>
          <p:cNvPr id="7" name="TextBox 6"/>
          <p:cNvSpPr txBox="1"/>
          <p:nvPr/>
        </p:nvSpPr>
        <p:spPr>
          <a:xfrm>
            <a:off x="502920" y="6355080"/>
            <a:ext cx="4206240" cy="320040"/>
          </a:xfrm>
          <a:prstGeom prst="rect">
            <a:avLst/>
          </a:prstGeom>
          <a:noFill/>
        </p:spPr>
        <p:txBody>
          <a:bodyPr wrap="square">
            <a:spAutoFit/>
          </a:bodyPr>
          <a:lstStyle/>
          <a:p>
            <a:pPr algn="l"/>
            <a:r>
              <a:rPr sz="1100" b="0" i="0">
                <a:solidFill>
                  <a:srgbClr val="888888"/>
                </a:solidFill>
                <a:latin typeface="Noto Sans JP"/>
              </a:rPr>
              <a:t>YADOKARI株式会社</a:t>
            </a:r>
          </a:p>
        </p:txBody>
      </p:sp>
      <p:sp>
        <p:nvSpPr>
          <p:cNvPr id="8" name="Rectangle 7"/>
          <p:cNvSpPr/>
          <p:nvPr/>
        </p:nvSpPr>
        <p:spPr>
          <a:xfrm>
            <a:off x="5166360" y="274320"/>
            <a:ext cx="6812280" cy="626364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66360" y="3223259"/>
            <a:ext cx="6812280" cy="365760"/>
          </a:xfrm>
          <a:prstGeom prst="rect">
            <a:avLst/>
          </a:prstGeom>
          <a:noFill/>
        </p:spPr>
        <p:txBody>
          <a:bodyPr wrap="square">
            <a:spAutoFit/>
          </a:bodyPr>
          <a:lstStyle/>
          <a:p>
            <a:pPr algn="ctr"/>
            <a:r>
              <a:rPr sz="1000" b="0" i="0">
                <a:solidFill>
                  <a:srgbClr val="888888"/>
                </a:solidFill>
                <a:latin typeface="Noto Sans JP"/>
              </a:rPr>
              <a:t>[ 表紙写真 — 自然の中のトレーラーハウス外観 ]</a:t>
            </a:r>
          </a:p>
        </p:txBody>
      </p:sp>
      <p:sp>
        <p:nvSpPr>
          <p:cNvPr id="10" name="TextBox 9"/>
          <p:cNvSpPr txBox="1"/>
          <p:nvPr/>
        </p:nvSpPr>
        <p:spPr>
          <a:xfrm>
            <a:off x="10515600" y="6510528"/>
            <a:ext cx="1463040" cy="274320"/>
          </a:xfrm>
          <a:prstGeom prst="rect">
            <a:avLst/>
          </a:prstGeom>
          <a:noFill/>
        </p:spPr>
        <p:txBody>
          <a:bodyPr wrap="square">
            <a:spAutoFit/>
          </a:bodyPr>
          <a:lstStyle/>
          <a:p>
            <a:pPr algn="l"/>
            <a:r>
              <a:rPr sz="1000" b="0" i="0">
                <a:solidFill>
                  <a:srgbClr val="888888"/>
                </a:solidFill>
                <a:latin typeface="Inter"/>
              </a:rPr>
              <a:t>yadokari.net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Noto Sans JP"/>
              </a:rPr>
              <a:t>ミッション</a:t>
            </a:r>
          </a:p>
        </p:txBody>
      </p:sp>
      <p:sp>
        <p:nvSpPr>
          <p:cNvPr id="4" name="TextBox 3"/>
          <p:cNvSpPr txBox="1"/>
          <p:nvPr/>
        </p:nvSpPr>
        <p:spPr>
          <a:xfrm>
            <a:off x="228600" y="868680"/>
            <a:ext cx="8229600" cy="347472"/>
          </a:xfrm>
          <a:prstGeom prst="rect">
            <a:avLst/>
          </a:prstGeom>
          <a:noFill/>
        </p:spPr>
        <p:txBody>
          <a:bodyPr wrap="square">
            <a:spAutoFit/>
          </a:bodyPr>
          <a:lstStyle/>
          <a:p>
            <a:pPr algn="l"/>
            <a:r>
              <a:rPr sz="1300" b="0" i="0">
                <a:solidFill>
                  <a:srgbClr val="888888"/>
                </a:solidFill>
                <a:latin typeface="Noto Sans JP"/>
              </a:rPr>
              <a:t>世界を変える、暮らしを創る。</a:t>
            </a:r>
          </a:p>
        </p:txBody>
      </p:sp>
      <p:cxnSp>
        <p:nvCxnSpPr>
          <p:cNvPr id="5" name="Connector 4"/>
          <p:cNvCxnSpPr/>
          <p:nvPr/>
        </p:nvCxnSpPr>
        <p:spPr>
          <a:xfrm>
            <a:off x="228600" y="1298448"/>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1554480"/>
            <a:ext cx="11247120" cy="502920"/>
          </a:xfrm>
          <a:prstGeom prst="rect">
            <a:avLst/>
          </a:prstGeom>
          <a:noFill/>
        </p:spPr>
        <p:txBody>
          <a:bodyPr wrap="square">
            <a:spAutoFit/>
          </a:bodyPr>
          <a:lstStyle/>
          <a:p>
            <a:pPr algn="l"/>
            <a:r>
              <a:rPr sz="1700" b="1" i="0">
                <a:solidFill>
                  <a:srgbClr val="111111"/>
                </a:solidFill>
                <a:latin typeface="Noto Sans JP"/>
              </a:rPr>
              <a:t>「世界を変える、暮らしを創る」の実現を目指す</a:t>
            </a:r>
          </a:p>
        </p:txBody>
      </p:sp>
      <p:sp>
        <p:nvSpPr>
          <p:cNvPr id="7" name="TextBox 6"/>
          <p:cNvSpPr txBox="1"/>
          <p:nvPr/>
        </p:nvSpPr>
        <p:spPr>
          <a:xfrm>
            <a:off x="457200" y="2057400"/>
            <a:ext cx="11247120" cy="502920"/>
          </a:xfrm>
          <a:prstGeom prst="rect">
            <a:avLst/>
          </a:prstGeom>
          <a:noFill/>
        </p:spPr>
        <p:txBody>
          <a:bodyPr wrap="square">
            <a:spAutoFit/>
          </a:bodyPr>
          <a:lstStyle/>
          <a:p>
            <a:pPr algn="l"/>
            <a:r>
              <a:rPr sz="1700" b="1" i="0">
                <a:solidFill>
                  <a:srgbClr val="111111"/>
                </a:solidFill>
                <a:latin typeface="Noto Sans JP"/>
              </a:rPr>
              <a:t>ソーシャルデザインカンパニー。小さな空間の中に広がる、大きな可能性。</a:t>
            </a:r>
          </a:p>
        </p:txBody>
      </p:sp>
      <p:sp>
        <p:nvSpPr>
          <p:cNvPr id="8" name="TextBox 7"/>
          <p:cNvSpPr txBox="1"/>
          <p:nvPr/>
        </p:nvSpPr>
        <p:spPr>
          <a:xfrm>
            <a:off x="457200" y="2651760"/>
            <a:ext cx="11247120" cy="411480"/>
          </a:xfrm>
          <a:prstGeom prst="rect">
            <a:avLst/>
          </a:prstGeom>
          <a:noFill/>
        </p:spPr>
        <p:txBody>
          <a:bodyPr wrap="square">
            <a:spAutoFit/>
          </a:bodyPr>
          <a:lstStyle/>
          <a:p>
            <a:pPr algn="l"/>
            <a:r>
              <a:rPr sz="1300" b="0" i="0">
                <a:solidFill>
                  <a:srgbClr val="444444"/>
                </a:solidFill>
                <a:latin typeface="Noto Sans JP"/>
              </a:rPr>
              <a:t>多様な生き方・暮らしのカタチに触れ、未来のライフスタイルを探求し提供し続けます。</a:t>
            </a:r>
          </a:p>
        </p:txBody>
      </p:sp>
      <p:cxnSp>
        <p:nvCxnSpPr>
          <p:cNvPr id="9" name="Connector 8"/>
          <p:cNvCxnSpPr/>
          <p:nvPr/>
        </p:nvCxnSpPr>
        <p:spPr>
          <a:xfrm>
            <a:off x="457200" y="3200400"/>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200" y="3337560"/>
            <a:ext cx="2286000" cy="347472"/>
          </a:xfrm>
          <a:prstGeom prst="rect">
            <a:avLst/>
          </a:prstGeom>
          <a:noFill/>
        </p:spPr>
        <p:txBody>
          <a:bodyPr wrap="square">
            <a:spAutoFit/>
          </a:bodyPr>
          <a:lstStyle/>
          <a:p>
            <a:pPr algn="l"/>
            <a:r>
              <a:rPr sz="1100" b="1" i="0">
                <a:solidFill>
                  <a:srgbClr val="888888"/>
                </a:solidFill>
                <a:latin typeface="Noto Sans JP"/>
              </a:rPr>
              <a:t>実　績</a:t>
            </a:r>
          </a:p>
        </p:txBody>
      </p:sp>
      <p:sp>
        <p:nvSpPr>
          <p:cNvPr id="11" name="TextBox 10"/>
          <p:cNvSpPr txBox="1"/>
          <p:nvPr/>
        </p:nvSpPr>
        <p:spPr>
          <a:xfrm>
            <a:off x="274320" y="3703320"/>
            <a:ext cx="2743200" cy="914400"/>
          </a:xfrm>
          <a:prstGeom prst="rect">
            <a:avLst/>
          </a:prstGeom>
          <a:noFill/>
        </p:spPr>
        <p:txBody>
          <a:bodyPr wrap="square">
            <a:spAutoFit/>
          </a:bodyPr>
          <a:lstStyle/>
          <a:p>
            <a:pPr algn="ctr"/>
            <a:r>
              <a:rPr sz="5200" b="1" i="0">
                <a:solidFill>
                  <a:srgbClr val="111111"/>
                </a:solidFill>
                <a:latin typeface="Inter"/>
              </a:rPr>
              <a:t>500</a:t>
            </a:r>
          </a:p>
        </p:txBody>
      </p:sp>
      <p:sp>
        <p:nvSpPr>
          <p:cNvPr id="12" name="TextBox 11"/>
          <p:cNvSpPr txBox="1"/>
          <p:nvPr/>
        </p:nvSpPr>
        <p:spPr>
          <a:xfrm>
            <a:off x="274320" y="4572000"/>
            <a:ext cx="2743200" cy="320040"/>
          </a:xfrm>
          <a:prstGeom prst="rect">
            <a:avLst/>
          </a:prstGeom>
          <a:noFill/>
        </p:spPr>
        <p:txBody>
          <a:bodyPr wrap="square">
            <a:spAutoFit/>
          </a:bodyPr>
          <a:lstStyle/>
          <a:p>
            <a:pPr algn="ctr"/>
            <a:r>
              <a:rPr sz="1300" b="0" i="0">
                <a:solidFill>
                  <a:srgbClr val="888888"/>
                </a:solidFill>
                <a:latin typeface="Noto Sans JP"/>
              </a:rPr>
              <a:t>台以上</a:t>
            </a:r>
          </a:p>
        </p:txBody>
      </p:sp>
      <p:sp>
        <p:nvSpPr>
          <p:cNvPr id="13" name="TextBox 12"/>
          <p:cNvSpPr txBox="1"/>
          <p:nvPr/>
        </p:nvSpPr>
        <p:spPr>
          <a:xfrm>
            <a:off x="274320" y="4873752"/>
            <a:ext cx="2743200" cy="320040"/>
          </a:xfrm>
          <a:prstGeom prst="rect">
            <a:avLst/>
          </a:prstGeom>
          <a:noFill/>
        </p:spPr>
        <p:txBody>
          <a:bodyPr wrap="square">
            <a:spAutoFit/>
          </a:bodyPr>
          <a:lstStyle/>
          <a:p>
            <a:pPr algn="ctr"/>
            <a:r>
              <a:rPr sz="1100" b="0" i="0">
                <a:solidFill>
                  <a:srgbClr val="888888"/>
                </a:solidFill>
                <a:latin typeface="Noto Sans JP"/>
              </a:rPr>
              <a:t>トレーラーハウス
販売実績</a:t>
            </a:r>
          </a:p>
        </p:txBody>
      </p:sp>
      <p:sp>
        <p:nvSpPr>
          <p:cNvPr id="14" name="TextBox 13"/>
          <p:cNvSpPr txBox="1"/>
          <p:nvPr/>
        </p:nvSpPr>
        <p:spPr>
          <a:xfrm>
            <a:off x="3200400" y="3703320"/>
            <a:ext cx="2743200" cy="914400"/>
          </a:xfrm>
          <a:prstGeom prst="rect">
            <a:avLst/>
          </a:prstGeom>
          <a:noFill/>
        </p:spPr>
        <p:txBody>
          <a:bodyPr wrap="square">
            <a:spAutoFit/>
          </a:bodyPr>
          <a:lstStyle/>
          <a:p>
            <a:pPr algn="ctr"/>
            <a:r>
              <a:rPr sz="5200" b="1" i="0">
                <a:solidFill>
                  <a:srgbClr val="111111"/>
                </a:solidFill>
                <a:latin typeface="Inter"/>
              </a:rPr>
              <a:t>200</a:t>
            </a:r>
          </a:p>
        </p:txBody>
      </p:sp>
      <p:sp>
        <p:nvSpPr>
          <p:cNvPr id="15" name="TextBox 14"/>
          <p:cNvSpPr txBox="1"/>
          <p:nvPr/>
        </p:nvSpPr>
        <p:spPr>
          <a:xfrm>
            <a:off x="3200400" y="4572000"/>
            <a:ext cx="2743200" cy="320040"/>
          </a:xfrm>
          <a:prstGeom prst="rect">
            <a:avLst/>
          </a:prstGeom>
          <a:noFill/>
        </p:spPr>
        <p:txBody>
          <a:bodyPr wrap="square">
            <a:spAutoFit/>
          </a:bodyPr>
          <a:lstStyle/>
          <a:p>
            <a:pPr algn="ctr"/>
            <a:r>
              <a:rPr sz="1300" b="0" i="0">
                <a:solidFill>
                  <a:srgbClr val="888888"/>
                </a:solidFill>
                <a:latin typeface="Noto Sans JP"/>
              </a:rPr>
              <a:t>件以上</a:t>
            </a:r>
          </a:p>
        </p:txBody>
      </p:sp>
      <p:sp>
        <p:nvSpPr>
          <p:cNvPr id="16" name="TextBox 15"/>
          <p:cNvSpPr txBox="1"/>
          <p:nvPr/>
        </p:nvSpPr>
        <p:spPr>
          <a:xfrm>
            <a:off x="3200400" y="4873752"/>
            <a:ext cx="2743200" cy="320040"/>
          </a:xfrm>
          <a:prstGeom prst="rect">
            <a:avLst/>
          </a:prstGeom>
          <a:noFill/>
        </p:spPr>
        <p:txBody>
          <a:bodyPr wrap="square">
            <a:spAutoFit/>
          </a:bodyPr>
          <a:lstStyle/>
          <a:p>
            <a:pPr algn="ctr"/>
            <a:r>
              <a:rPr sz="1100" b="0" i="0">
                <a:solidFill>
                  <a:srgbClr val="888888"/>
                </a:solidFill>
                <a:latin typeface="Noto Sans JP"/>
              </a:rPr>
              <a:t>導入施設</a:t>
            </a:r>
          </a:p>
        </p:txBody>
      </p:sp>
      <p:sp>
        <p:nvSpPr>
          <p:cNvPr id="17" name="TextBox 16"/>
          <p:cNvSpPr txBox="1"/>
          <p:nvPr/>
        </p:nvSpPr>
        <p:spPr>
          <a:xfrm>
            <a:off x="6126480" y="3703320"/>
            <a:ext cx="2743200" cy="914400"/>
          </a:xfrm>
          <a:prstGeom prst="rect">
            <a:avLst/>
          </a:prstGeom>
          <a:noFill/>
        </p:spPr>
        <p:txBody>
          <a:bodyPr wrap="square">
            <a:spAutoFit/>
          </a:bodyPr>
          <a:lstStyle/>
          <a:p>
            <a:pPr algn="ctr"/>
            <a:r>
              <a:rPr sz="5200" b="1" i="0">
                <a:solidFill>
                  <a:srgbClr val="111111"/>
                </a:solidFill>
                <a:latin typeface="Inter"/>
              </a:rPr>
              <a:t>100</a:t>
            </a:r>
          </a:p>
        </p:txBody>
      </p:sp>
      <p:sp>
        <p:nvSpPr>
          <p:cNvPr id="18" name="TextBox 17"/>
          <p:cNvSpPr txBox="1"/>
          <p:nvPr/>
        </p:nvSpPr>
        <p:spPr>
          <a:xfrm>
            <a:off x="6126480" y="4572000"/>
            <a:ext cx="2743200" cy="320040"/>
          </a:xfrm>
          <a:prstGeom prst="rect">
            <a:avLst/>
          </a:prstGeom>
          <a:noFill/>
        </p:spPr>
        <p:txBody>
          <a:bodyPr wrap="square">
            <a:spAutoFit/>
          </a:bodyPr>
          <a:lstStyle/>
          <a:p>
            <a:pPr algn="ctr"/>
            <a:r>
              <a:rPr sz="1300" b="0" i="0">
                <a:solidFill>
                  <a:srgbClr val="888888"/>
                </a:solidFill>
                <a:latin typeface="Noto Sans JP"/>
              </a:rPr>
              <a:t>媒体以上</a:t>
            </a:r>
          </a:p>
        </p:txBody>
      </p:sp>
      <p:sp>
        <p:nvSpPr>
          <p:cNvPr id="19" name="TextBox 18"/>
          <p:cNvSpPr txBox="1"/>
          <p:nvPr/>
        </p:nvSpPr>
        <p:spPr>
          <a:xfrm>
            <a:off x="6126480" y="4873752"/>
            <a:ext cx="2743200" cy="320040"/>
          </a:xfrm>
          <a:prstGeom prst="rect">
            <a:avLst/>
          </a:prstGeom>
          <a:noFill/>
        </p:spPr>
        <p:txBody>
          <a:bodyPr wrap="square">
            <a:spAutoFit/>
          </a:bodyPr>
          <a:lstStyle/>
          <a:p>
            <a:pPr algn="ctr"/>
            <a:r>
              <a:rPr sz="1100" b="0" i="0">
                <a:solidFill>
                  <a:srgbClr val="888888"/>
                </a:solidFill>
                <a:latin typeface="Noto Sans JP"/>
              </a:rPr>
              <a:t>メディア掲載
NHK他</a:t>
            </a:r>
          </a:p>
        </p:txBody>
      </p:sp>
      <p:sp>
        <p:nvSpPr>
          <p:cNvPr id="20" name="TextBox 19"/>
          <p:cNvSpPr txBox="1"/>
          <p:nvPr/>
        </p:nvSpPr>
        <p:spPr>
          <a:xfrm>
            <a:off x="9144000" y="3703320"/>
            <a:ext cx="2743200" cy="914400"/>
          </a:xfrm>
          <a:prstGeom prst="rect">
            <a:avLst/>
          </a:prstGeom>
          <a:noFill/>
        </p:spPr>
        <p:txBody>
          <a:bodyPr wrap="square">
            <a:spAutoFit/>
          </a:bodyPr>
          <a:lstStyle/>
          <a:p>
            <a:pPr algn="ctr"/>
            <a:r>
              <a:rPr sz="4400" b="1" i="0">
                <a:solidFill>
                  <a:srgbClr val="111111"/>
                </a:solidFill>
                <a:latin typeface="Inter"/>
              </a:rPr>
              <a:t>2012</a:t>
            </a:r>
          </a:p>
        </p:txBody>
      </p:sp>
      <p:sp>
        <p:nvSpPr>
          <p:cNvPr id="21" name="TextBox 20"/>
          <p:cNvSpPr txBox="1"/>
          <p:nvPr/>
        </p:nvSpPr>
        <p:spPr>
          <a:xfrm>
            <a:off x="9144000" y="4572000"/>
            <a:ext cx="2743200" cy="320040"/>
          </a:xfrm>
          <a:prstGeom prst="rect">
            <a:avLst/>
          </a:prstGeom>
          <a:noFill/>
        </p:spPr>
        <p:txBody>
          <a:bodyPr wrap="square">
            <a:spAutoFit/>
          </a:bodyPr>
          <a:lstStyle/>
          <a:p>
            <a:pPr algn="ctr"/>
            <a:r>
              <a:rPr sz="1300" b="0" i="0">
                <a:solidFill>
                  <a:srgbClr val="888888"/>
                </a:solidFill>
                <a:latin typeface="Noto Sans JP"/>
              </a:rPr>
              <a:t>年設立</a:t>
            </a:r>
          </a:p>
        </p:txBody>
      </p:sp>
      <p:sp>
        <p:nvSpPr>
          <p:cNvPr id="22" name="TextBox 21"/>
          <p:cNvSpPr txBox="1"/>
          <p:nvPr/>
        </p:nvSpPr>
        <p:spPr>
          <a:xfrm>
            <a:off x="9144000" y="4873752"/>
            <a:ext cx="2743200" cy="320040"/>
          </a:xfrm>
          <a:prstGeom prst="rect">
            <a:avLst/>
          </a:prstGeom>
          <a:noFill/>
        </p:spPr>
        <p:txBody>
          <a:bodyPr wrap="square">
            <a:spAutoFit/>
          </a:bodyPr>
          <a:lstStyle/>
          <a:p>
            <a:pPr algn="ctr"/>
            <a:r>
              <a:rPr sz="1100" b="0" i="0">
                <a:solidFill>
                  <a:srgbClr val="888888"/>
                </a:solidFill>
                <a:latin typeface="Noto Sans JP"/>
              </a:rPr>
              <a:t>神奈川県横浜市</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Noto Sans JP"/>
              </a:rPr>
              <a:t>なぜ今、トレーラーハウスなのか？</a:t>
            </a:r>
          </a:p>
        </p:txBody>
      </p:sp>
      <p:sp>
        <p:nvSpPr>
          <p:cNvPr id="4" name="TextBox 3"/>
          <p:cNvSpPr txBox="1"/>
          <p:nvPr/>
        </p:nvSpPr>
        <p:spPr>
          <a:xfrm>
            <a:off x="228600" y="868680"/>
            <a:ext cx="8229600" cy="347472"/>
          </a:xfrm>
          <a:prstGeom prst="rect">
            <a:avLst/>
          </a:prstGeom>
          <a:noFill/>
        </p:spPr>
        <p:txBody>
          <a:bodyPr wrap="square">
            <a:spAutoFit/>
          </a:bodyPr>
          <a:lstStyle/>
          <a:p>
            <a:pPr algn="l"/>
            <a:r>
              <a:rPr sz="1300" b="0" i="0">
                <a:solidFill>
                  <a:srgbClr val="888888"/>
                </a:solidFill>
                <a:latin typeface="Noto Sans JP"/>
              </a:rPr>
              <a:t>市場背景</a:t>
            </a:r>
          </a:p>
        </p:txBody>
      </p:sp>
      <p:cxnSp>
        <p:nvCxnSpPr>
          <p:cNvPr id="5" name="Connector 4"/>
          <p:cNvCxnSpPr/>
          <p:nvPr/>
        </p:nvCxnSpPr>
        <p:spPr>
          <a:xfrm>
            <a:off x="228600" y="1298448"/>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11480" y="1444752"/>
            <a:ext cx="2788920" cy="2651760"/>
          </a:xfrm>
          <a:prstGeom prst="rect">
            <a:avLst/>
          </a:prstGeom>
          <a:solidFill>
            <a:srgbClr val="F0F0E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444752"/>
            <a:ext cx="2788920" cy="5029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1481328"/>
            <a:ext cx="502920" cy="411480"/>
          </a:xfrm>
          <a:prstGeom prst="rect">
            <a:avLst/>
          </a:prstGeom>
          <a:noFill/>
        </p:spPr>
        <p:txBody>
          <a:bodyPr wrap="square">
            <a:spAutoFit/>
          </a:bodyPr>
          <a:lstStyle/>
          <a:p>
            <a:pPr algn="l"/>
            <a:r>
              <a:rPr sz="1800" b="1" i="0">
                <a:solidFill>
                  <a:srgbClr val="FFFFFF"/>
                </a:solidFill>
                <a:latin typeface="Inter"/>
              </a:rPr>
              <a:t>01</a:t>
            </a:r>
          </a:p>
        </p:txBody>
      </p:sp>
      <p:sp>
        <p:nvSpPr>
          <p:cNvPr id="9" name="TextBox 8"/>
          <p:cNvSpPr txBox="1"/>
          <p:nvPr/>
        </p:nvSpPr>
        <p:spPr>
          <a:xfrm>
            <a:off x="521208" y="2011680"/>
            <a:ext cx="2560320" cy="685800"/>
          </a:xfrm>
          <a:prstGeom prst="rect">
            <a:avLst/>
          </a:prstGeom>
          <a:noFill/>
        </p:spPr>
        <p:txBody>
          <a:bodyPr wrap="square">
            <a:spAutoFit/>
          </a:bodyPr>
          <a:lstStyle/>
          <a:p>
            <a:pPr algn="l"/>
            <a:r>
              <a:rPr sz="1400" b="1" i="0">
                <a:solidFill>
                  <a:srgbClr val="111111"/>
                </a:solidFill>
                <a:latin typeface="Noto Sans JP"/>
              </a:rPr>
              <a:t>インバウンド
回復</a:t>
            </a:r>
          </a:p>
        </p:txBody>
      </p:sp>
      <p:sp>
        <p:nvSpPr>
          <p:cNvPr id="10" name="TextBox 9"/>
          <p:cNvSpPr txBox="1"/>
          <p:nvPr/>
        </p:nvSpPr>
        <p:spPr>
          <a:xfrm>
            <a:off x="521208" y="2788920"/>
            <a:ext cx="2560320" cy="1005840"/>
          </a:xfrm>
          <a:prstGeom prst="rect">
            <a:avLst/>
          </a:prstGeom>
          <a:noFill/>
        </p:spPr>
        <p:txBody>
          <a:bodyPr wrap="square">
            <a:spAutoFit/>
          </a:bodyPr>
          <a:lstStyle/>
          <a:p>
            <a:pPr algn="l"/>
            <a:r>
              <a:rPr sz="1200" b="0" i="0">
                <a:solidFill>
                  <a:srgbClr val="444444"/>
                </a:solidFill>
                <a:latin typeface="Noto Sans JP"/>
              </a:rPr>
              <a:t>訪日観光客の急増に伴い、グランピング・体験型宿泊の需要が急拡大。</a:t>
            </a:r>
          </a:p>
        </p:txBody>
      </p:sp>
      <p:sp>
        <p:nvSpPr>
          <p:cNvPr id="11" name="Rectangle 10"/>
          <p:cNvSpPr/>
          <p:nvPr/>
        </p:nvSpPr>
        <p:spPr>
          <a:xfrm>
            <a:off x="3364992" y="1444752"/>
            <a:ext cx="2788920" cy="2651760"/>
          </a:xfrm>
          <a:prstGeom prst="rect">
            <a:avLst/>
          </a:prstGeom>
          <a:solidFill>
            <a:srgbClr val="F0F0E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64992" y="1444752"/>
            <a:ext cx="2788920" cy="5029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0" y="1481328"/>
            <a:ext cx="502920" cy="411480"/>
          </a:xfrm>
          <a:prstGeom prst="rect">
            <a:avLst/>
          </a:prstGeom>
          <a:noFill/>
        </p:spPr>
        <p:txBody>
          <a:bodyPr wrap="square">
            <a:spAutoFit/>
          </a:bodyPr>
          <a:lstStyle/>
          <a:p>
            <a:pPr algn="l"/>
            <a:r>
              <a:rPr sz="1800" b="1" i="0">
                <a:solidFill>
                  <a:srgbClr val="FFFFFF"/>
                </a:solidFill>
                <a:latin typeface="Inter"/>
              </a:rPr>
              <a:t>02</a:t>
            </a:r>
          </a:p>
        </p:txBody>
      </p:sp>
      <p:sp>
        <p:nvSpPr>
          <p:cNvPr id="14" name="TextBox 13"/>
          <p:cNvSpPr txBox="1"/>
          <p:nvPr/>
        </p:nvSpPr>
        <p:spPr>
          <a:xfrm>
            <a:off x="3474720" y="2011680"/>
            <a:ext cx="2560320" cy="685800"/>
          </a:xfrm>
          <a:prstGeom prst="rect">
            <a:avLst/>
          </a:prstGeom>
          <a:noFill/>
        </p:spPr>
        <p:txBody>
          <a:bodyPr wrap="square">
            <a:spAutoFit/>
          </a:bodyPr>
          <a:lstStyle/>
          <a:p>
            <a:pPr algn="l"/>
            <a:r>
              <a:rPr sz="1400" b="1" i="0">
                <a:solidFill>
                  <a:srgbClr val="111111"/>
                </a:solidFill>
                <a:latin typeface="Noto Sans JP"/>
              </a:rPr>
              <a:t>移住・
二拠点生活</a:t>
            </a:r>
          </a:p>
        </p:txBody>
      </p:sp>
      <p:sp>
        <p:nvSpPr>
          <p:cNvPr id="15" name="TextBox 14"/>
          <p:cNvSpPr txBox="1"/>
          <p:nvPr/>
        </p:nvSpPr>
        <p:spPr>
          <a:xfrm>
            <a:off x="3474720" y="2788920"/>
            <a:ext cx="2560320" cy="1005840"/>
          </a:xfrm>
          <a:prstGeom prst="rect">
            <a:avLst/>
          </a:prstGeom>
          <a:noFill/>
        </p:spPr>
        <p:txBody>
          <a:bodyPr wrap="square">
            <a:spAutoFit/>
          </a:bodyPr>
          <a:lstStyle/>
          <a:p>
            <a:pPr algn="l"/>
            <a:r>
              <a:rPr sz="1200" b="0" i="0">
                <a:solidFill>
                  <a:srgbClr val="444444"/>
                </a:solidFill>
                <a:latin typeface="Noto Sans JP"/>
              </a:rPr>
              <a:t>地方移住や二拠点生活トレンドが加速。手軽に始められる住まいのニーズが増大。</a:t>
            </a:r>
          </a:p>
        </p:txBody>
      </p:sp>
      <p:sp>
        <p:nvSpPr>
          <p:cNvPr id="16" name="Rectangle 15"/>
          <p:cNvSpPr/>
          <p:nvPr/>
        </p:nvSpPr>
        <p:spPr>
          <a:xfrm>
            <a:off x="6318504" y="1444752"/>
            <a:ext cx="2788920" cy="2651760"/>
          </a:xfrm>
          <a:prstGeom prst="rect">
            <a:avLst/>
          </a:prstGeom>
          <a:solidFill>
            <a:srgbClr val="F0F0E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18504" y="1444752"/>
            <a:ext cx="2788920" cy="5029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2" y="1481328"/>
            <a:ext cx="502920" cy="411480"/>
          </a:xfrm>
          <a:prstGeom prst="rect">
            <a:avLst/>
          </a:prstGeom>
          <a:noFill/>
        </p:spPr>
        <p:txBody>
          <a:bodyPr wrap="square">
            <a:spAutoFit/>
          </a:bodyPr>
          <a:lstStyle/>
          <a:p>
            <a:pPr algn="l"/>
            <a:r>
              <a:rPr sz="1800" b="1" i="0">
                <a:solidFill>
                  <a:srgbClr val="FFFFFF"/>
                </a:solidFill>
                <a:latin typeface="Inter"/>
              </a:rPr>
              <a:t>03</a:t>
            </a:r>
          </a:p>
        </p:txBody>
      </p:sp>
      <p:sp>
        <p:nvSpPr>
          <p:cNvPr id="19" name="TextBox 18"/>
          <p:cNvSpPr txBox="1"/>
          <p:nvPr/>
        </p:nvSpPr>
        <p:spPr>
          <a:xfrm>
            <a:off x="6428232" y="2011680"/>
            <a:ext cx="2560320" cy="685800"/>
          </a:xfrm>
          <a:prstGeom prst="rect">
            <a:avLst/>
          </a:prstGeom>
          <a:noFill/>
        </p:spPr>
        <p:txBody>
          <a:bodyPr wrap="square">
            <a:spAutoFit/>
          </a:bodyPr>
          <a:lstStyle/>
          <a:p>
            <a:pPr algn="l"/>
            <a:r>
              <a:rPr sz="1400" b="1" i="0">
                <a:solidFill>
                  <a:srgbClr val="111111"/>
                </a:solidFill>
                <a:latin typeface="Noto Sans JP"/>
              </a:rPr>
              <a:t>遊休地の
有効活用</a:t>
            </a:r>
          </a:p>
        </p:txBody>
      </p:sp>
      <p:sp>
        <p:nvSpPr>
          <p:cNvPr id="20" name="TextBox 19"/>
          <p:cNvSpPr txBox="1"/>
          <p:nvPr/>
        </p:nvSpPr>
        <p:spPr>
          <a:xfrm>
            <a:off x="6428232" y="2788920"/>
            <a:ext cx="2560320" cy="1005840"/>
          </a:xfrm>
          <a:prstGeom prst="rect">
            <a:avLst/>
          </a:prstGeom>
          <a:noFill/>
        </p:spPr>
        <p:txBody>
          <a:bodyPr wrap="square">
            <a:spAutoFit/>
          </a:bodyPr>
          <a:lstStyle/>
          <a:p>
            <a:pPr algn="l"/>
            <a:r>
              <a:rPr sz="1200" b="0" i="0">
                <a:solidFill>
                  <a:srgbClr val="444444"/>
                </a:solidFill>
                <a:latin typeface="Noto Sans JP"/>
              </a:rPr>
              <a:t>空き地・農地・山林などの遊休資産を収益化したいオーナーが増加。</a:t>
            </a:r>
          </a:p>
        </p:txBody>
      </p:sp>
      <p:sp>
        <p:nvSpPr>
          <p:cNvPr id="21" name="Rectangle 20"/>
          <p:cNvSpPr/>
          <p:nvPr/>
        </p:nvSpPr>
        <p:spPr>
          <a:xfrm>
            <a:off x="9272015" y="1444752"/>
            <a:ext cx="2788920" cy="2651760"/>
          </a:xfrm>
          <a:prstGeom prst="rect">
            <a:avLst/>
          </a:prstGeom>
          <a:solidFill>
            <a:srgbClr val="F0F0EE"/>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72015" y="1444752"/>
            <a:ext cx="2788920" cy="5029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81743" y="1481328"/>
            <a:ext cx="502920" cy="411480"/>
          </a:xfrm>
          <a:prstGeom prst="rect">
            <a:avLst/>
          </a:prstGeom>
          <a:noFill/>
        </p:spPr>
        <p:txBody>
          <a:bodyPr wrap="square">
            <a:spAutoFit/>
          </a:bodyPr>
          <a:lstStyle/>
          <a:p>
            <a:pPr algn="l"/>
            <a:r>
              <a:rPr sz="1800" b="1" i="0">
                <a:solidFill>
                  <a:srgbClr val="FFFFFF"/>
                </a:solidFill>
                <a:latin typeface="Inter"/>
              </a:rPr>
              <a:t>04</a:t>
            </a:r>
          </a:p>
        </p:txBody>
      </p:sp>
      <p:sp>
        <p:nvSpPr>
          <p:cNvPr id="24" name="TextBox 23"/>
          <p:cNvSpPr txBox="1"/>
          <p:nvPr/>
        </p:nvSpPr>
        <p:spPr>
          <a:xfrm>
            <a:off x="9381743" y="2011680"/>
            <a:ext cx="2560320" cy="685800"/>
          </a:xfrm>
          <a:prstGeom prst="rect">
            <a:avLst/>
          </a:prstGeom>
          <a:noFill/>
        </p:spPr>
        <p:txBody>
          <a:bodyPr wrap="square">
            <a:spAutoFit/>
          </a:bodyPr>
          <a:lstStyle/>
          <a:p>
            <a:pPr algn="l"/>
            <a:r>
              <a:rPr sz="1400" b="1" i="0">
                <a:solidFill>
                  <a:srgbClr val="111111"/>
                </a:solidFill>
                <a:latin typeface="Noto Sans JP"/>
              </a:rPr>
              <a:t>建設業の
課題</a:t>
            </a:r>
          </a:p>
        </p:txBody>
      </p:sp>
      <p:sp>
        <p:nvSpPr>
          <p:cNvPr id="25" name="TextBox 24"/>
          <p:cNvSpPr txBox="1"/>
          <p:nvPr/>
        </p:nvSpPr>
        <p:spPr>
          <a:xfrm>
            <a:off x="9381743" y="2788920"/>
            <a:ext cx="2560320" cy="1005840"/>
          </a:xfrm>
          <a:prstGeom prst="rect">
            <a:avLst/>
          </a:prstGeom>
          <a:noFill/>
        </p:spPr>
        <p:txBody>
          <a:bodyPr wrap="square">
            <a:spAutoFit/>
          </a:bodyPr>
          <a:lstStyle/>
          <a:p>
            <a:pPr algn="l"/>
            <a:r>
              <a:rPr sz="1200" b="0" i="0">
                <a:solidFill>
                  <a:srgbClr val="444444"/>
                </a:solidFill>
                <a:latin typeface="Noto Sans JP"/>
              </a:rPr>
              <a:t>職人不足・工期長期化・コスト高騰が深刻化。スピードと低コストが求められる。</a:t>
            </a:r>
          </a:p>
        </p:txBody>
      </p:sp>
      <p:cxnSp>
        <p:nvCxnSpPr>
          <p:cNvPr id="26" name="Connector 25"/>
          <p:cNvCxnSpPr/>
          <p:nvPr/>
        </p:nvCxnSpPr>
        <p:spPr>
          <a:xfrm>
            <a:off x="411480" y="4315968"/>
            <a:ext cx="1133856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411480" y="4434840"/>
            <a:ext cx="11365992" cy="150876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553712"/>
            <a:ext cx="10972800" cy="475488"/>
          </a:xfrm>
          <a:prstGeom prst="rect">
            <a:avLst/>
          </a:prstGeom>
          <a:noFill/>
        </p:spPr>
        <p:txBody>
          <a:bodyPr wrap="square">
            <a:spAutoFit/>
          </a:bodyPr>
          <a:lstStyle/>
          <a:p>
            <a:pPr algn="l"/>
            <a:r>
              <a:rPr sz="1600" b="1" i="0">
                <a:solidFill>
                  <a:srgbClr val="FFFFFF"/>
                </a:solidFill>
                <a:latin typeface="Noto Sans JP"/>
              </a:rPr>
              <a:t>YADOKARIのトレーラーハウスは、これらすべての課題に応える「可動産」という新しい選択肢です。</a:t>
            </a:r>
          </a:p>
        </p:txBody>
      </p:sp>
      <p:sp>
        <p:nvSpPr>
          <p:cNvPr id="29" name="TextBox 28"/>
          <p:cNvSpPr txBox="1"/>
          <p:nvPr/>
        </p:nvSpPr>
        <p:spPr>
          <a:xfrm>
            <a:off x="685800" y="5138928"/>
            <a:ext cx="10789920" cy="713232"/>
          </a:xfrm>
          <a:prstGeom prst="rect">
            <a:avLst/>
          </a:prstGeom>
          <a:noFill/>
        </p:spPr>
        <p:txBody>
          <a:bodyPr wrap="square">
            <a:spAutoFit/>
          </a:bodyPr>
          <a:lstStyle/>
          <a:p>
            <a:pPr algn="l"/>
            <a:r>
              <a:rPr sz="1200" b="0" i="0">
                <a:solidFill>
                  <a:srgbClr val="888888"/>
                </a:solidFill>
                <a:latin typeface="Noto Sans JP"/>
              </a:rPr>
              <a:t>→ 初期費用を抑えながら高品質な空間を短期間で実現</a:t>
            </a:r>
          </a:p>
          <a:p>
            <a:pPr algn="l">
              <a:spcBef>
                <a:spcPts val="200"/>
              </a:spcBef>
            </a:pPr>
            <a:r>
              <a:rPr sz="1200" b="0" i="0">
                <a:solidFill>
                  <a:srgbClr val="888888"/>
                </a:solidFill>
                <a:latin typeface="Noto Sans JP"/>
              </a:rPr>
              <a:t>→ 移動できるから、土地を選ばない柔軟な事業展開が可能</a:t>
            </a:r>
          </a:p>
          <a:p>
            <a:pPr algn="l">
              <a:spcBef>
                <a:spcPts val="200"/>
              </a:spcBef>
            </a:pPr>
            <a:r>
              <a:rPr sz="1200" b="0" i="0">
                <a:solidFill>
                  <a:srgbClr val="888888"/>
                </a:solidFill>
                <a:latin typeface="Noto Sans JP"/>
              </a:rPr>
              <a:t>→ 建築物でない「車両」扱いで、法規制・税制面のハードルを低減</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Noto Sans JP"/>
              </a:rPr>
              <a:t>可動産という選択肢</a:t>
            </a:r>
          </a:p>
        </p:txBody>
      </p:sp>
      <p:cxnSp>
        <p:nvCxnSpPr>
          <p:cNvPr id="4" name="Connector 3"/>
          <p:cNvCxnSpPr/>
          <p:nvPr/>
        </p:nvCxnSpPr>
        <p:spPr>
          <a:xfrm>
            <a:off x="228600" y="1051560"/>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1417320"/>
            <a:ext cx="640080" cy="502920"/>
          </a:xfrm>
          <a:prstGeom prst="rect">
            <a:avLst/>
          </a:prstGeom>
          <a:noFill/>
        </p:spPr>
        <p:txBody>
          <a:bodyPr wrap="square">
            <a:spAutoFit/>
          </a:bodyPr>
          <a:lstStyle/>
          <a:p>
            <a:pPr algn="l"/>
            <a:r>
              <a:rPr sz="2600" b="1" i="0">
                <a:solidFill>
                  <a:srgbClr val="DDDDDD"/>
                </a:solidFill>
                <a:latin typeface="Inter"/>
              </a:rPr>
              <a:t>01</a:t>
            </a:r>
          </a:p>
        </p:txBody>
      </p:sp>
      <p:sp>
        <p:nvSpPr>
          <p:cNvPr id="6" name="TextBox 5"/>
          <p:cNvSpPr txBox="1"/>
          <p:nvPr/>
        </p:nvSpPr>
        <p:spPr>
          <a:xfrm>
            <a:off x="457200" y="1965960"/>
            <a:ext cx="2651760" cy="457200"/>
          </a:xfrm>
          <a:prstGeom prst="rect">
            <a:avLst/>
          </a:prstGeom>
          <a:noFill/>
        </p:spPr>
        <p:txBody>
          <a:bodyPr wrap="square">
            <a:spAutoFit/>
          </a:bodyPr>
          <a:lstStyle/>
          <a:p>
            <a:pPr algn="l"/>
            <a:r>
              <a:rPr sz="1600" b="1" i="0">
                <a:solidFill>
                  <a:srgbClr val="111111"/>
                </a:solidFill>
                <a:latin typeface="Noto Sans JP"/>
              </a:rPr>
              <a:t>機動力</a:t>
            </a:r>
          </a:p>
        </p:txBody>
      </p:sp>
      <p:sp>
        <p:nvSpPr>
          <p:cNvPr id="7" name="TextBox 6"/>
          <p:cNvSpPr txBox="1"/>
          <p:nvPr/>
        </p:nvSpPr>
        <p:spPr>
          <a:xfrm>
            <a:off x="457200" y="2487168"/>
            <a:ext cx="2651760" cy="822960"/>
          </a:xfrm>
          <a:prstGeom prst="rect">
            <a:avLst/>
          </a:prstGeom>
          <a:noFill/>
        </p:spPr>
        <p:txBody>
          <a:bodyPr wrap="square">
            <a:spAutoFit/>
          </a:bodyPr>
          <a:lstStyle/>
          <a:p>
            <a:pPr algn="l"/>
            <a:r>
              <a:rPr sz="1200" b="0" i="0">
                <a:solidFill>
                  <a:srgbClr val="444444"/>
                </a:solidFill>
                <a:latin typeface="Noto Sans JP"/>
              </a:rPr>
              <a:t>基礎不要。場所を選ばない
柔軟な運用。</a:t>
            </a:r>
          </a:p>
        </p:txBody>
      </p:sp>
      <p:cxnSp>
        <p:nvCxnSpPr>
          <p:cNvPr id="8" name="Connector 7"/>
          <p:cNvCxnSpPr/>
          <p:nvPr/>
        </p:nvCxnSpPr>
        <p:spPr>
          <a:xfrm>
            <a:off x="3255264" y="1371600"/>
            <a:ext cx="0" cy="210312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410712" y="1417320"/>
            <a:ext cx="640080" cy="502920"/>
          </a:xfrm>
          <a:prstGeom prst="rect">
            <a:avLst/>
          </a:prstGeom>
          <a:noFill/>
        </p:spPr>
        <p:txBody>
          <a:bodyPr wrap="square">
            <a:spAutoFit/>
          </a:bodyPr>
          <a:lstStyle/>
          <a:p>
            <a:pPr algn="l"/>
            <a:r>
              <a:rPr sz="2600" b="1" i="0">
                <a:solidFill>
                  <a:srgbClr val="DDDDDD"/>
                </a:solidFill>
                <a:latin typeface="Inter"/>
              </a:rPr>
              <a:t>02</a:t>
            </a:r>
          </a:p>
        </p:txBody>
      </p:sp>
      <p:sp>
        <p:nvSpPr>
          <p:cNvPr id="10" name="TextBox 9"/>
          <p:cNvSpPr txBox="1"/>
          <p:nvPr/>
        </p:nvSpPr>
        <p:spPr>
          <a:xfrm>
            <a:off x="3410712" y="1965960"/>
            <a:ext cx="2651760" cy="457200"/>
          </a:xfrm>
          <a:prstGeom prst="rect">
            <a:avLst/>
          </a:prstGeom>
          <a:noFill/>
        </p:spPr>
        <p:txBody>
          <a:bodyPr wrap="square">
            <a:spAutoFit/>
          </a:bodyPr>
          <a:lstStyle/>
          <a:p>
            <a:pPr algn="l"/>
            <a:r>
              <a:rPr sz="1600" b="1" i="0">
                <a:solidFill>
                  <a:srgbClr val="111111"/>
                </a:solidFill>
                <a:latin typeface="Noto Sans JP"/>
              </a:rPr>
              <a:t>コスト</a:t>
            </a:r>
          </a:p>
        </p:txBody>
      </p:sp>
      <p:sp>
        <p:nvSpPr>
          <p:cNvPr id="11" name="TextBox 10"/>
          <p:cNvSpPr txBox="1"/>
          <p:nvPr/>
        </p:nvSpPr>
        <p:spPr>
          <a:xfrm>
            <a:off x="3410712" y="2487168"/>
            <a:ext cx="2651760" cy="822960"/>
          </a:xfrm>
          <a:prstGeom prst="rect">
            <a:avLst/>
          </a:prstGeom>
          <a:noFill/>
        </p:spPr>
        <p:txBody>
          <a:bodyPr wrap="square">
            <a:spAutoFit/>
          </a:bodyPr>
          <a:lstStyle/>
          <a:p>
            <a:pPr algn="l"/>
            <a:r>
              <a:rPr sz="1200" b="0" i="0">
                <a:solidFill>
                  <a:srgbClr val="444444"/>
                </a:solidFill>
                <a:latin typeface="Noto Sans JP"/>
              </a:rPr>
              <a:t>従来の建築物に比べ
初期費用を大幅に抑制。</a:t>
            </a:r>
          </a:p>
        </p:txBody>
      </p:sp>
      <p:cxnSp>
        <p:nvCxnSpPr>
          <p:cNvPr id="12" name="Connector 11"/>
          <p:cNvCxnSpPr/>
          <p:nvPr/>
        </p:nvCxnSpPr>
        <p:spPr>
          <a:xfrm>
            <a:off x="6208776" y="1371600"/>
            <a:ext cx="0" cy="210312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64224" y="1417320"/>
            <a:ext cx="640080" cy="502920"/>
          </a:xfrm>
          <a:prstGeom prst="rect">
            <a:avLst/>
          </a:prstGeom>
          <a:noFill/>
        </p:spPr>
        <p:txBody>
          <a:bodyPr wrap="square">
            <a:spAutoFit/>
          </a:bodyPr>
          <a:lstStyle/>
          <a:p>
            <a:pPr algn="l"/>
            <a:r>
              <a:rPr sz="2600" b="1" i="0">
                <a:solidFill>
                  <a:srgbClr val="DDDDDD"/>
                </a:solidFill>
                <a:latin typeface="Inter"/>
              </a:rPr>
              <a:t>03</a:t>
            </a:r>
          </a:p>
        </p:txBody>
      </p:sp>
      <p:sp>
        <p:nvSpPr>
          <p:cNvPr id="14" name="TextBox 13"/>
          <p:cNvSpPr txBox="1"/>
          <p:nvPr/>
        </p:nvSpPr>
        <p:spPr>
          <a:xfrm>
            <a:off x="6364224" y="1965960"/>
            <a:ext cx="2651760" cy="457200"/>
          </a:xfrm>
          <a:prstGeom prst="rect">
            <a:avLst/>
          </a:prstGeom>
          <a:noFill/>
        </p:spPr>
        <p:txBody>
          <a:bodyPr wrap="square">
            <a:spAutoFit/>
          </a:bodyPr>
          <a:lstStyle/>
          <a:p>
            <a:pPr algn="l"/>
            <a:r>
              <a:rPr sz="1600" b="1" i="0">
                <a:solidFill>
                  <a:srgbClr val="111111"/>
                </a:solidFill>
                <a:latin typeface="Noto Sans JP"/>
              </a:rPr>
              <a:t>スピード</a:t>
            </a:r>
          </a:p>
        </p:txBody>
      </p:sp>
      <p:sp>
        <p:nvSpPr>
          <p:cNvPr id="15" name="TextBox 14"/>
          <p:cNvSpPr txBox="1"/>
          <p:nvPr/>
        </p:nvSpPr>
        <p:spPr>
          <a:xfrm>
            <a:off x="6364224" y="2487168"/>
            <a:ext cx="2651760" cy="822960"/>
          </a:xfrm>
          <a:prstGeom prst="rect">
            <a:avLst/>
          </a:prstGeom>
          <a:noFill/>
        </p:spPr>
        <p:txBody>
          <a:bodyPr wrap="square">
            <a:spAutoFit/>
          </a:bodyPr>
          <a:lstStyle/>
          <a:p>
            <a:pPr algn="l"/>
            <a:r>
              <a:rPr sz="1200" b="0" i="0">
                <a:solidFill>
                  <a:srgbClr val="444444"/>
                </a:solidFill>
                <a:latin typeface="Noto Sans JP"/>
              </a:rPr>
              <a:t>製造〜納品まで
最短3〜4ヶ月。</a:t>
            </a:r>
          </a:p>
        </p:txBody>
      </p:sp>
      <p:cxnSp>
        <p:nvCxnSpPr>
          <p:cNvPr id="16" name="Connector 15"/>
          <p:cNvCxnSpPr/>
          <p:nvPr/>
        </p:nvCxnSpPr>
        <p:spPr>
          <a:xfrm>
            <a:off x="9162288" y="1371600"/>
            <a:ext cx="0" cy="210312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317736" y="1417320"/>
            <a:ext cx="640080" cy="502920"/>
          </a:xfrm>
          <a:prstGeom prst="rect">
            <a:avLst/>
          </a:prstGeom>
          <a:noFill/>
        </p:spPr>
        <p:txBody>
          <a:bodyPr wrap="square">
            <a:spAutoFit/>
          </a:bodyPr>
          <a:lstStyle/>
          <a:p>
            <a:pPr algn="l"/>
            <a:r>
              <a:rPr sz="2600" b="1" i="0">
                <a:solidFill>
                  <a:srgbClr val="DDDDDD"/>
                </a:solidFill>
                <a:latin typeface="Inter"/>
              </a:rPr>
              <a:t>04</a:t>
            </a:r>
          </a:p>
        </p:txBody>
      </p:sp>
      <p:sp>
        <p:nvSpPr>
          <p:cNvPr id="18" name="TextBox 17"/>
          <p:cNvSpPr txBox="1"/>
          <p:nvPr/>
        </p:nvSpPr>
        <p:spPr>
          <a:xfrm>
            <a:off x="9317736" y="1965960"/>
            <a:ext cx="2651760" cy="457200"/>
          </a:xfrm>
          <a:prstGeom prst="rect">
            <a:avLst/>
          </a:prstGeom>
          <a:noFill/>
        </p:spPr>
        <p:txBody>
          <a:bodyPr wrap="square">
            <a:spAutoFit/>
          </a:bodyPr>
          <a:lstStyle/>
          <a:p>
            <a:pPr algn="l"/>
            <a:r>
              <a:rPr sz="1600" b="1" i="0">
                <a:solidFill>
                  <a:srgbClr val="111111"/>
                </a:solidFill>
                <a:latin typeface="Noto Sans JP"/>
              </a:rPr>
              <a:t>法制メリット</a:t>
            </a:r>
          </a:p>
        </p:txBody>
      </p:sp>
      <p:sp>
        <p:nvSpPr>
          <p:cNvPr id="19" name="TextBox 18"/>
          <p:cNvSpPr txBox="1"/>
          <p:nvPr/>
        </p:nvSpPr>
        <p:spPr>
          <a:xfrm>
            <a:off x="9317736" y="2487168"/>
            <a:ext cx="2651760" cy="822960"/>
          </a:xfrm>
          <a:prstGeom prst="rect">
            <a:avLst/>
          </a:prstGeom>
          <a:noFill/>
        </p:spPr>
        <p:txBody>
          <a:bodyPr wrap="square">
            <a:spAutoFit/>
          </a:bodyPr>
          <a:lstStyle/>
          <a:p>
            <a:pPr algn="l"/>
            <a:r>
              <a:rPr sz="1200" b="0" i="0">
                <a:solidFill>
                  <a:srgbClr val="444444"/>
                </a:solidFill>
                <a:latin typeface="Noto Sans JP"/>
              </a:rPr>
              <a:t>条件次第で「車両」扱い。
税制・手続のハードルを低減。</a:t>
            </a:r>
          </a:p>
        </p:txBody>
      </p:sp>
      <p:cxnSp>
        <p:nvCxnSpPr>
          <p:cNvPr id="20" name="Connector 19"/>
          <p:cNvCxnSpPr/>
          <p:nvPr/>
        </p:nvCxnSpPr>
        <p:spPr>
          <a:xfrm>
            <a:off x="411480" y="3566160"/>
            <a:ext cx="1133856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 y="3703320"/>
            <a:ext cx="3657600" cy="320040"/>
          </a:xfrm>
          <a:prstGeom prst="rect">
            <a:avLst/>
          </a:prstGeom>
          <a:noFill/>
        </p:spPr>
        <p:txBody>
          <a:bodyPr wrap="square">
            <a:spAutoFit/>
          </a:bodyPr>
          <a:lstStyle/>
          <a:p>
            <a:pPr algn="l"/>
            <a:r>
              <a:rPr sz="1100" b="1" i="0">
                <a:solidFill>
                  <a:srgbClr val="888888"/>
                </a:solidFill>
                <a:latin typeface="Noto Sans JP"/>
              </a:rPr>
              <a:t>従来の建築物との比較</a:t>
            </a:r>
          </a:p>
        </p:txBody>
      </p:sp>
      <p:sp>
        <p:nvSpPr>
          <p:cNvPr id="22" name="Rectangle 21"/>
          <p:cNvSpPr/>
          <p:nvPr/>
        </p:nvSpPr>
        <p:spPr>
          <a:xfrm>
            <a:off x="457200" y="4096512"/>
            <a:ext cx="2514600" cy="32004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4151376"/>
            <a:ext cx="2423160" cy="246887"/>
          </a:xfrm>
          <a:prstGeom prst="rect">
            <a:avLst/>
          </a:prstGeom>
          <a:noFill/>
        </p:spPr>
        <p:txBody>
          <a:bodyPr wrap="square">
            <a:spAutoFit/>
          </a:bodyPr>
          <a:lstStyle/>
          <a:p>
            <a:pPr algn="ctr"/>
            <a:r>
              <a:rPr sz="1100" b="1" i="0">
                <a:solidFill>
                  <a:srgbClr val="111111"/>
                </a:solidFill>
                <a:latin typeface="Noto Sans JP"/>
              </a:rPr>
              <a:t/>
            </a:r>
          </a:p>
        </p:txBody>
      </p:sp>
      <p:sp>
        <p:nvSpPr>
          <p:cNvPr id="24" name="Rectangle 23"/>
          <p:cNvSpPr/>
          <p:nvPr/>
        </p:nvSpPr>
        <p:spPr>
          <a:xfrm>
            <a:off x="3108960" y="4096512"/>
            <a:ext cx="3337560" cy="3200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82112" y="4151376"/>
            <a:ext cx="3246120" cy="246887"/>
          </a:xfrm>
          <a:prstGeom prst="rect">
            <a:avLst/>
          </a:prstGeom>
          <a:noFill/>
        </p:spPr>
        <p:txBody>
          <a:bodyPr wrap="square">
            <a:spAutoFit/>
          </a:bodyPr>
          <a:lstStyle/>
          <a:p>
            <a:pPr algn="ctr"/>
            <a:r>
              <a:rPr sz="1100" b="1" i="0">
                <a:solidFill>
                  <a:srgbClr val="FFFFFF"/>
                </a:solidFill>
                <a:latin typeface="Noto Sans JP"/>
              </a:rPr>
              <a:t>従来の建築物</a:t>
            </a:r>
          </a:p>
        </p:txBody>
      </p:sp>
      <p:sp>
        <p:nvSpPr>
          <p:cNvPr id="26" name="Rectangle 25"/>
          <p:cNvSpPr/>
          <p:nvPr/>
        </p:nvSpPr>
        <p:spPr>
          <a:xfrm>
            <a:off x="6583680" y="4096512"/>
            <a:ext cx="3337560" cy="32004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56832" y="4151376"/>
            <a:ext cx="3246120" cy="246887"/>
          </a:xfrm>
          <a:prstGeom prst="rect">
            <a:avLst/>
          </a:prstGeom>
          <a:noFill/>
        </p:spPr>
        <p:txBody>
          <a:bodyPr wrap="square">
            <a:spAutoFit/>
          </a:bodyPr>
          <a:lstStyle/>
          <a:p>
            <a:pPr algn="ctr"/>
            <a:r>
              <a:rPr sz="1100" b="1" i="0">
                <a:solidFill>
                  <a:srgbClr val="111111"/>
                </a:solidFill>
                <a:latin typeface="Noto Sans JP"/>
              </a:rPr>
              <a:t>▶ トレーラーハウス</a:t>
            </a:r>
          </a:p>
        </p:txBody>
      </p:sp>
      <p:sp>
        <p:nvSpPr>
          <p:cNvPr id="28" name="Rectangle 27"/>
          <p:cNvSpPr/>
          <p:nvPr/>
        </p:nvSpPr>
        <p:spPr>
          <a:xfrm>
            <a:off x="457200" y="4416552"/>
            <a:ext cx="2514600" cy="301751"/>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462272"/>
            <a:ext cx="2395727" cy="246887"/>
          </a:xfrm>
          <a:prstGeom prst="rect">
            <a:avLst/>
          </a:prstGeom>
          <a:noFill/>
        </p:spPr>
        <p:txBody>
          <a:bodyPr wrap="square">
            <a:spAutoFit/>
          </a:bodyPr>
          <a:lstStyle/>
          <a:p>
            <a:pPr algn="l"/>
            <a:r>
              <a:rPr sz="1100" b="0" i="0">
                <a:solidFill>
                  <a:srgbClr val="111111"/>
                </a:solidFill>
                <a:latin typeface="Noto Sans JP"/>
              </a:rPr>
              <a:t>初期費用</a:t>
            </a:r>
          </a:p>
        </p:txBody>
      </p:sp>
      <p:sp>
        <p:nvSpPr>
          <p:cNvPr id="30" name="Rectangle 29"/>
          <p:cNvSpPr/>
          <p:nvPr/>
        </p:nvSpPr>
        <p:spPr>
          <a:xfrm>
            <a:off x="3108960" y="4416552"/>
            <a:ext cx="3337560" cy="301751"/>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0" y="4462272"/>
            <a:ext cx="3218688" cy="246887"/>
          </a:xfrm>
          <a:prstGeom prst="rect">
            <a:avLst/>
          </a:prstGeom>
          <a:noFill/>
        </p:spPr>
        <p:txBody>
          <a:bodyPr wrap="square">
            <a:spAutoFit/>
          </a:bodyPr>
          <a:lstStyle/>
          <a:p>
            <a:pPr algn="ctr"/>
            <a:r>
              <a:rPr sz="1100" b="0" i="0">
                <a:solidFill>
                  <a:srgbClr val="111111"/>
                </a:solidFill>
                <a:latin typeface="Noto Sans JP"/>
              </a:rPr>
              <a:t>数千万〜数億円</a:t>
            </a:r>
          </a:p>
        </p:txBody>
      </p:sp>
      <p:sp>
        <p:nvSpPr>
          <p:cNvPr id="32" name="Rectangle 31"/>
          <p:cNvSpPr/>
          <p:nvPr/>
        </p:nvSpPr>
        <p:spPr>
          <a:xfrm>
            <a:off x="6583680" y="4416552"/>
            <a:ext cx="3337560" cy="301751"/>
          </a:xfrm>
          <a:prstGeom prst="rect">
            <a:avLst/>
          </a:prstGeom>
          <a:solidFill>
            <a:srgbClr val="E8F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5120" y="4462272"/>
            <a:ext cx="3218688" cy="246887"/>
          </a:xfrm>
          <a:prstGeom prst="rect">
            <a:avLst/>
          </a:prstGeom>
          <a:noFill/>
        </p:spPr>
        <p:txBody>
          <a:bodyPr wrap="square">
            <a:spAutoFit/>
          </a:bodyPr>
          <a:lstStyle/>
          <a:p>
            <a:pPr algn="ctr"/>
            <a:r>
              <a:rPr sz="1200" b="1" i="0">
                <a:solidFill>
                  <a:srgbClr val="111111"/>
                </a:solidFill>
                <a:latin typeface="Noto Sans JP"/>
              </a:rPr>
              <a:t>749万円〜</a:t>
            </a:r>
          </a:p>
        </p:txBody>
      </p:sp>
      <p:sp>
        <p:nvSpPr>
          <p:cNvPr id="34" name="Rectangle 33"/>
          <p:cNvSpPr/>
          <p:nvPr/>
        </p:nvSpPr>
        <p:spPr>
          <a:xfrm>
            <a:off x="457200" y="4736592"/>
            <a:ext cx="2514600" cy="3017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4782312"/>
            <a:ext cx="2395727" cy="246887"/>
          </a:xfrm>
          <a:prstGeom prst="rect">
            <a:avLst/>
          </a:prstGeom>
          <a:noFill/>
        </p:spPr>
        <p:txBody>
          <a:bodyPr wrap="square">
            <a:spAutoFit/>
          </a:bodyPr>
          <a:lstStyle/>
          <a:p>
            <a:pPr algn="l"/>
            <a:r>
              <a:rPr sz="1100" b="0" i="0">
                <a:solidFill>
                  <a:srgbClr val="111111"/>
                </a:solidFill>
                <a:latin typeface="Noto Sans JP"/>
              </a:rPr>
              <a:t>工  期</a:t>
            </a:r>
          </a:p>
        </p:txBody>
      </p:sp>
      <p:sp>
        <p:nvSpPr>
          <p:cNvPr id="36" name="Rectangle 35"/>
          <p:cNvSpPr/>
          <p:nvPr/>
        </p:nvSpPr>
        <p:spPr>
          <a:xfrm>
            <a:off x="3108960" y="4736592"/>
            <a:ext cx="3337560" cy="3017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0" y="4782312"/>
            <a:ext cx="3218688" cy="246887"/>
          </a:xfrm>
          <a:prstGeom prst="rect">
            <a:avLst/>
          </a:prstGeom>
          <a:noFill/>
        </p:spPr>
        <p:txBody>
          <a:bodyPr wrap="square">
            <a:spAutoFit/>
          </a:bodyPr>
          <a:lstStyle/>
          <a:p>
            <a:pPr algn="ctr"/>
            <a:r>
              <a:rPr sz="1100" b="0" i="0">
                <a:solidFill>
                  <a:srgbClr val="111111"/>
                </a:solidFill>
                <a:latin typeface="Noto Sans JP"/>
              </a:rPr>
              <a:t>6ヶ月〜1年以上</a:t>
            </a:r>
          </a:p>
        </p:txBody>
      </p:sp>
      <p:sp>
        <p:nvSpPr>
          <p:cNvPr id="38" name="Rectangle 37"/>
          <p:cNvSpPr/>
          <p:nvPr/>
        </p:nvSpPr>
        <p:spPr>
          <a:xfrm>
            <a:off x="6583680" y="4736592"/>
            <a:ext cx="3337560" cy="301751"/>
          </a:xfrm>
          <a:prstGeom prst="rect">
            <a:avLst/>
          </a:prstGeom>
          <a:solidFill>
            <a:srgbClr val="E8F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75120" y="4782312"/>
            <a:ext cx="3218688" cy="246887"/>
          </a:xfrm>
          <a:prstGeom prst="rect">
            <a:avLst/>
          </a:prstGeom>
          <a:noFill/>
        </p:spPr>
        <p:txBody>
          <a:bodyPr wrap="square">
            <a:spAutoFit/>
          </a:bodyPr>
          <a:lstStyle/>
          <a:p>
            <a:pPr algn="ctr"/>
            <a:r>
              <a:rPr sz="1200" b="1" i="0">
                <a:solidFill>
                  <a:srgbClr val="111111"/>
                </a:solidFill>
                <a:latin typeface="Noto Sans JP"/>
              </a:rPr>
              <a:t>約3〜4ヶ月</a:t>
            </a:r>
          </a:p>
        </p:txBody>
      </p:sp>
      <p:sp>
        <p:nvSpPr>
          <p:cNvPr id="40" name="Rectangle 39"/>
          <p:cNvSpPr/>
          <p:nvPr/>
        </p:nvSpPr>
        <p:spPr>
          <a:xfrm>
            <a:off x="457200" y="5056632"/>
            <a:ext cx="2514600" cy="301751"/>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5102352"/>
            <a:ext cx="2395727" cy="246887"/>
          </a:xfrm>
          <a:prstGeom prst="rect">
            <a:avLst/>
          </a:prstGeom>
          <a:noFill/>
        </p:spPr>
        <p:txBody>
          <a:bodyPr wrap="square">
            <a:spAutoFit/>
          </a:bodyPr>
          <a:lstStyle/>
          <a:p>
            <a:pPr algn="l"/>
            <a:r>
              <a:rPr sz="1100" b="0" i="0">
                <a:solidFill>
                  <a:srgbClr val="111111"/>
                </a:solidFill>
                <a:latin typeface="Noto Sans JP"/>
              </a:rPr>
              <a:t>移設・撤去</a:t>
            </a:r>
          </a:p>
        </p:txBody>
      </p:sp>
      <p:sp>
        <p:nvSpPr>
          <p:cNvPr id="42" name="Rectangle 41"/>
          <p:cNvSpPr/>
          <p:nvPr/>
        </p:nvSpPr>
        <p:spPr>
          <a:xfrm>
            <a:off x="3108960" y="5056632"/>
            <a:ext cx="3337560" cy="301751"/>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0" y="5102352"/>
            <a:ext cx="3218688" cy="246887"/>
          </a:xfrm>
          <a:prstGeom prst="rect">
            <a:avLst/>
          </a:prstGeom>
          <a:noFill/>
        </p:spPr>
        <p:txBody>
          <a:bodyPr wrap="square">
            <a:spAutoFit/>
          </a:bodyPr>
          <a:lstStyle/>
          <a:p>
            <a:pPr algn="ctr"/>
            <a:r>
              <a:rPr sz="1100" b="0" i="0">
                <a:solidFill>
                  <a:srgbClr val="111111"/>
                </a:solidFill>
                <a:latin typeface="Noto Sans JP"/>
              </a:rPr>
              <a:t>ほぼ不可</a:t>
            </a:r>
          </a:p>
        </p:txBody>
      </p:sp>
      <p:sp>
        <p:nvSpPr>
          <p:cNvPr id="44" name="Rectangle 43"/>
          <p:cNvSpPr/>
          <p:nvPr/>
        </p:nvSpPr>
        <p:spPr>
          <a:xfrm>
            <a:off x="6583680" y="5056632"/>
            <a:ext cx="3337560" cy="301751"/>
          </a:xfrm>
          <a:prstGeom prst="rect">
            <a:avLst/>
          </a:prstGeom>
          <a:solidFill>
            <a:srgbClr val="E8F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75120" y="5102352"/>
            <a:ext cx="3218688" cy="246887"/>
          </a:xfrm>
          <a:prstGeom prst="rect">
            <a:avLst/>
          </a:prstGeom>
          <a:noFill/>
        </p:spPr>
        <p:txBody>
          <a:bodyPr wrap="square">
            <a:spAutoFit/>
          </a:bodyPr>
          <a:lstStyle/>
          <a:p>
            <a:pPr algn="ctr"/>
            <a:r>
              <a:rPr sz="1200" b="1" i="0">
                <a:solidFill>
                  <a:srgbClr val="111111"/>
                </a:solidFill>
                <a:latin typeface="Noto Sans JP"/>
              </a:rPr>
              <a:t>可能（再設置・売却）</a:t>
            </a:r>
          </a:p>
        </p:txBody>
      </p:sp>
      <p:sp>
        <p:nvSpPr>
          <p:cNvPr id="46" name="Rectangle 45"/>
          <p:cNvSpPr/>
          <p:nvPr/>
        </p:nvSpPr>
        <p:spPr>
          <a:xfrm>
            <a:off x="457200" y="5376672"/>
            <a:ext cx="2514600" cy="3017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5422392"/>
            <a:ext cx="2395727" cy="246887"/>
          </a:xfrm>
          <a:prstGeom prst="rect">
            <a:avLst/>
          </a:prstGeom>
          <a:noFill/>
        </p:spPr>
        <p:txBody>
          <a:bodyPr wrap="square">
            <a:spAutoFit/>
          </a:bodyPr>
          <a:lstStyle/>
          <a:p>
            <a:pPr algn="l"/>
            <a:r>
              <a:rPr sz="1100" b="0" i="0">
                <a:solidFill>
                  <a:srgbClr val="111111"/>
                </a:solidFill>
                <a:latin typeface="Noto Sans JP"/>
              </a:rPr>
              <a:t>建築確認</a:t>
            </a:r>
          </a:p>
        </p:txBody>
      </p:sp>
      <p:sp>
        <p:nvSpPr>
          <p:cNvPr id="48" name="Rectangle 47"/>
          <p:cNvSpPr/>
          <p:nvPr/>
        </p:nvSpPr>
        <p:spPr>
          <a:xfrm>
            <a:off x="3108960" y="5376672"/>
            <a:ext cx="3337560" cy="3017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00400" y="5422392"/>
            <a:ext cx="3218688" cy="246887"/>
          </a:xfrm>
          <a:prstGeom prst="rect">
            <a:avLst/>
          </a:prstGeom>
          <a:noFill/>
        </p:spPr>
        <p:txBody>
          <a:bodyPr wrap="square">
            <a:spAutoFit/>
          </a:bodyPr>
          <a:lstStyle/>
          <a:p>
            <a:pPr algn="ctr"/>
            <a:r>
              <a:rPr sz="1100" b="0" i="0">
                <a:solidFill>
                  <a:srgbClr val="111111"/>
                </a:solidFill>
                <a:latin typeface="Noto Sans JP"/>
              </a:rPr>
              <a:t>必要</a:t>
            </a:r>
          </a:p>
        </p:txBody>
      </p:sp>
      <p:sp>
        <p:nvSpPr>
          <p:cNvPr id="50" name="Rectangle 49"/>
          <p:cNvSpPr/>
          <p:nvPr/>
        </p:nvSpPr>
        <p:spPr>
          <a:xfrm>
            <a:off x="6583680" y="5376672"/>
            <a:ext cx="3337560" cy="301751"/>
          </a:xfrm>
          <a:prstGeom prst="rect">
            <a:avLst/>
          </a:prstGeom>
          <a:solidFill>
            <a:srgbClr val="E8F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75120" y="5422392"/>
            <a:ext cx="3218688" cy="246887"/>
          </a:xfrm>
          <a:prstGeom prst="rect">
            <a:avLst/>
          </a:prstGeom>
          <a:noFill/>
        </p:spPr>
        <p:txBody>
          <a:bodyPr wrap="square">
            <a:spAutoFit/>
          </a:bodyPr>
          <a:lstStyle/>
          <a:p>
            <a:pPr algn="ctr"/>
            <a:r>
              <a:rPr sz="1200" b="1" i="0">
                <a:solidFill>
                  <a:srgbClr val="111111"/>
                </a:solidFill>
                <a:latin typeface="Noto Sans JP"/>
              </a:rPr>
              <a:t>不要（条件付き）※</a:t>
            </a:r>
          </a:p>
        </p:txBody>
      </p:sp>
      <p:sp>
        <p:nvSpPr>
          <p:cNvPr id="52" name="Rectangle 51"/>
          <p:cNvSpPr/>
          <p:nvPr/>
        </p:nvSpPr>
        <p:spPr>
          <a:xfrm>
            <a:off x="457200" y="5696712"/>
            <a:ext cx="2514600" cy="301751"/>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8640" y="5742432"/>
            <a:ext cx="2395727" cy="246887"/>
          </a:xfrm>
          <a:prstGeom prst="rect">
            <a:avLst/>
          </a:prstGeom>
          <a:noFill/>
        </p:spPr>
        <p:txBody>
          <a:bodyPr wrap="square">
            <a:spAutoFit/>
          </a:bodyPr>
          <a:lstStyle/>
          <a:p>
            <a:pPr algn="l"/>
            <a:r>
              <a:rPr sz="1100" b="0" i="0">
                <a:solidFill>
                  <a:srgbClr val="111111"/>
                </a:solidFill>
                <a:latin typeface="Noto Sans JP"/>
              </a:rPr>
              <a:t>固定資産税</a:t>
            </a:r>
          </a:p>
        </p:txBody>
      </p:sp>
      <p:sp>
        <p:nvSpPr>
          <p:cNvPr id="54" name="Rectangle 53"/>
          <p:cNvSpPr/>
          <p:nvPr/>
        </p:nvSpPr>
        <p:spPr>
          <a:xfrm>
            <a:off x="3108960" y="5696712"/>
            <a:ext cx="3337560" cy="301751"/>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00400" y="5742432"/>
            <a:ext cx="3218688" cy="246887"/>
          </a:xfrm>
          <a:prstGeom prst="rect">
            <a:avLst/>
          </a:prstGeom>
          <a:noFill/>
        </p:spPr>
        <p:txBody>
          <a:bodyPr wrap="square">
            <a:spAutoFit/>
          </a:bodyPr>
          <a:lstStyle/>
          <a:p>
            <a:pPr algn="ctr"/>
            <a:r>
              <a:rPr sz="1100" b="0" i="0">
                <a:solidFill>
                  <a:srgbClr val="111111"/>
                </a:solidFill>
                <a:latin typeface="Noto Sans JP"/>
              </a:rPr>
              <a:t>課税</a:t>
            </a:r>
          </a:p>
        </p:txBody>
      </p:sp>
      <p:sp>
        <p:nvSpPr>
          <p:cNvPr id="56" name="Rectangle 55"/>
          <p:cNvSpPr/>
          <p:nvPr/>
        </p:nvSpPr>
        <p:spPr>
          <a:xfrm>
            <a:off x="6583680" y="5696712"/>
            <a:ext cx="3337560" cy="301751"/>
          </a:xfrm>
          <a:prstGeom prst="rect">
            <a:avLst/>
          </a:prstGeom>
          <a:solidFill>
            <a:srgbClr val="E8F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75120" y="5742432"/>
            <a:ext cx="3218688" cy="246887"/>
          </a:xfrm>
          <a:prstGeom prst="rect">
            <a:avLst/>
          </a:prstGeom>
          <a:noFill/>
        </p:spPr>
        <p:txBody>
          <a:bodyPr wrap="square">
            <a:spAutoFit/>
          </a:bodyPr>
          <a:lstStyle/>
          <a:p>
            <a:pPr algn="ctr"/>
            <a:r>
              <a:rPr sz="1200" b="1" i="0">
                <a:solidFill>
                  <a:srgbClr val="111111"/>
                </a:solidFill>
                <a:latin typeface="Noto Sans JP"/>
              </a:rPr>
              <a:t>非課税（条件付き）※</a:t>
            </a:r>
          </a:p>
        </p:txBody>
      </p:sp>
      <p:sp>
        <p:nvSpPr>
          <p:cNvPr id="58" name="Rectangle 57"/>
          <p:cNvSpPr/>
          <p:nvPr/>
        </p:nvSpPr>
        <p:spPr>
          <a:xfrm>
            <a:off x="457200" y="6016752"/>
            <a:ext cx="2514600" cy="3017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8640" y="6062472"/>
            <a:ext cx="2395727" cy="246887"/>
          </a:xfrm>
          <a:prstGeom prst="rect">
            <a:avLst/>
          </a:prstGeom>
          <a:noFill/>
        </p:spPr>
        <p:txBody>
          <a:bodyPr wrap="square">
            <a:spAutoFit/>
          </a:bodyPr>
          <a:lstStyle/>
          <a:p>
            <a:pPr algn="l"/>
            <a:r>
              <a:rPr sz="1100" b="0" i="0">
                <a:solidFill>
                  <a:srgbClr val="111111"/>
                </a:solidFill>
                <a:latin typeface="Noto Sans JP"/>
              </a:rPr>
              <a:t>出口戦略</a:t>
            </a:r>
          </a:p>
        </p:txBody>
      </p:sp>
      <p:sp>
        <p:nvSpPr>
          <p:cNvPr id="60" name="Rectangle 59"/>
          <p:cNvSpPr/>
          <p:nvPr/>
        </p:nvSpPr>
        <p:spPr>
          <a:xfrm>
            <a:off x="3108960" y="6016752"/>
            <a:ext cx="3337560" cy="3017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200400" y="6062472"/>
            <a:ext cx="3218688" cy="246887"/>
          </a:xfrm>
          <a:prstGeom prst="rect">
            <a:avLst/>
          </a:prstGeom>
          <a:noFill/>
        </p:spPr>
        <p:txBody>
          <a:bodyPr wrap="square">
            <a:spAutoFit/>
          </a:bodyPr>
          <a:lstStyle/>
          <a:p>
            <a:pPr algn="ctr"/>
            <a:r>
              <a:rPr sz="1100" b="0" i="0">
                <a:solidFill>
                  <a:srgbClr val="111111"/>
                </a:solidFill>
                <a:latin typeface="Noto Sans JP"/>
              </a:rPr>
              <a:t>解体コスト発生</a:t>
            </a:r>
          </a:p>
        </p:txBody>
      </p:sp>
      <p:sp>
        <p:nvSpPr>
          <p:cNvPr id="62" name="Rectangle 61"/>
          <p:cNvSpPr/>
          <p:nvPr/>
        </p:nvSpPr>
        <p:spPr>
          <a:xfrm>
            <a:off x="6583680" y="6016752"/>
            <a:ext cx="3337560" cy="301751"/>
          </a:xfrm>
          <a:prstGeom prst="rect">
            <a:avLst/>
          </a:prstGeom>
          <a:solidFill>
            <a:srgbClr val="E8F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675120" y="6062472"/>
            <a:ext cx="3218688" cy="246887"/>
          </a:xfrm>
          <a:prstGeom prst="rect">
            <a:avLst/>
          </a:prstGeom>
          <a:noFill/>
        </p:spPr>
        <p:txBody>
          <a:bodyPr wrap="square">
            <a:spAutoFit/>
          </a:bodyPr>
          <a:lstStyle/>
          <a:p>
            <a:pPr algn="ctr"/>
            <a:r>
              <a:rPr sz="1200" b="1" i="0">
                <a:solidFill>
                  <a:srgbClr val="111111"/>
                </a:solidFill>
                <a:latin typeface="Noto Sans JP"/>
              </a:rPr>
              <a:t>中古売却が可能</a:t>
            </a:r>
          </a:p>
        </p:txBody>
      </p:sp>
      <p:sp>
        <p:nvSpPr>
          <p:cNvPr id="64" name="TextBox 63"/>
          <p:cNvSpPr txBox="1"/>
          <p:nvPr/>
        </p:nvSpPr>
        <p:spPr>
          <a:xfrm>
            <a:off x="457200" y="6583680"/>
            <a:ext cx="7315200" cy="228600"/>
          </a:xfrm>
          <a:prstGeom prst="rect">
            <a:avLst/>
          </a:prstGeom>
          <a:noFill/>
        </p:spPr>
        <p:txBody>
          <a:bodyPr wrap="square">
            <a:spAutoFit/>
          </a:bodyPr>
          <a:lstStyle/>
          <a:p>
            <a:pPr algn="l"/>
            <a:r>
              <a:rPr sz="900" b="0" i="0">
                <a:solidFill>
                  <a:srgbClr val="BBBBBB"/>
                </a:solidFill>
                <a:latin typeface="Noto Sans JP"/>
              </a:rPr>
              <a:t>※一定条件下において。詳細はご相談ください。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Noto Sans JP"/>
              </a:rPr>
              <a:t>多様な活用シーン</a:t>
            </a:r>
          </a:p>
        </p:txBody>
      </p:sp>
      <p:cxnSp>
        <p:nvCxnSpPr>
          <p:cNvPr id="4" name="Connector 3"/>
          <p:cNvCxnSpPr/>
          <p:nvPr/>
        </p:nvCxnSpPr>
        <p:spPr>
          <a:xfrm>
            <a:off x="228600" y="1051560"/>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320040" y="1463040"/>
            <a:ext cx="54864" cy="10058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517904"/>
            <a:ext cx="5303520" cy="384048"/>
          </a:xfrm>
          <a:prstGeom prst="rect">
            <a:avLst/>
          </a:prstGeom>
          <a:noFill/>
        </p:spPr>
        <p:txBody>
          <a:bodyPr wrap="square">
            <a:spAutoFit/>
          </a:bodyPr>
          <a:lstStyle/>
          <a:p>
            <a:pPr algn="l"/>
            <a:r>
              <a:rPr sz="1400" b="1" i="0">
                <a:solidFill>
                  <a:srgbClr val="111111"/>
                </a:solidFill>
                <a:latin typeface="Noto Sans JP"/>
              </a:rPr>
              <a:t>宿泊施設・グランピング</a:t>
            </a:r>
          </a:p>
        </p:txBody>
      </p:sp>
      <p:sp>
        <p:nvSpPr>
          <p:cNvPr id="7" name="TextBox 6"/>
          <p:cNvSpPr txBox="1"/>
          <p:nvPr/>
        </p:nvSpPr>
        <p:spPr>
          <a:xfrm>
            <a:off x="502920" y="1965960"/>
            <a:ext cx="5303520" cy="502920"/>
          </a:xfrm>
          <a:prstGeom prst="rect">
            <a:avLst/>
          </a:prstGeom>
          <a:noFill/>
        </p:spPr>
        <p:txBody>
          <a:bodyPr wrap="square">
            <a:spAutoFit/>
          </a:bodyPr>
          <a:lstStyle/>
          <a:p>
            <a:pPr algn="l"/>
            <a:r>
              <a:rPr sz="1200" b="0" i="0">
                <a:solidFill>
                  <a:srgbClr val="444444"/>
                </a:solidFill>
                <a:latin typeface="Noto Sans JP"/>
              </a:rPr>
              <a:t>高いデザイン性で宿泊単価を向上。複数台導入によるヴィレッジ展開にも最適。</a:t>
            </a:r>
          </a:p>
        </p:txBody>
      </p:sp>
      <p:sp>
        <p:nvSpPr>
          <p:cNvPr id="8" name="Rectangle 7"/>
          <p:cNvSpPr/>
          <p:nvPr/>
        </p:nvSpPr>
        <p:spPr>
          <a:xfrm>
            <a:off x="320040" y="2761488"/>
            <a:ext cx="54864" cy="10058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816352"/>
            <a:ext cx="5303520" cy="384048"/>
          </a:xfrm>
          <a:prstGeom prst="rect">
            <a:avLst/>
          </a:prstGeom>
          <a:noFill/>
        </p:spPr>
        <p:txBody>
          <a:bodyPr wrap="square">
            <a:spAutoFit/>
          </a:bodyPr>
          <a:lstStyle/>
          <a:p>
            <a:pPr algn="l"/>
            <a:r>
              <a:rPr sz="1400" b="1" i="0">
                <a:solidFill>
                  <a:srgbClr val="111111"/>
                </a:solidFill>
                <a:latin typeface="Noto Sans JP"/>
              </a:rPr>
              <a:t>店舗・カフェ</a:t>
            </a:r>
          </a:p>
        </p:txBody>
      </p:sp>
      <p:sp>
        <p:nvSpPr>
          <p:cNvPr id="10" name="TextBox 9"/>
          <p:cNvSpPr txBox="1"/>
          <p:nvPr/>
        </p:nvSpPr>
        <p:spPr>
          <a:xfrm>
            <a:off x="502920" y="3264408"/>
            <a:ext cx="5303520" cy="502920"/>
          </a:xfrm>
          <a:prstGeom prst="rect">
            <a:avLst/>
          </a:prstGeom>
          <a:noFill/>
        </p:spPr>
        <p:txBody>
          <a:bodyPr wrap="square">
            <a:spAutoFit/>
          </a:bodyPr>
          <a:lstStyle/>
          <a:p>
            <a:pPr algn="l"/>
            <a:r>
              <a:rPr sz="1200" b="0" i="0">
                <a:solidFill>
                  <a:srgbClr val="444444"/>
                </a:solidFill>
                <a:latin typeface="Noto Sans JP"/>
              </a:rPr>
              <a:t>洗練された外観で集客力を強化。スモールスタートでの新規事業に。</a:t>
            </a:r>
          </a:p>
        </p:txBody>
      </p:sp>
      <p:sp>
        <p:nvSpPr>
          <p:cNvPr id="11" name="Rectangle 10"/>
          <p:cNvSpPr/>
          <p:nvPr/>
        </p:nvSpPr>
        <p:spPr>
          <a:xfrm>
            <a:off x="320040" y="4059935"/>
            <a:ext cx="54864" cy="10058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114799"/>
            <a:ext cx="5303520" cy="384048"/>
          </a:xfrm>
          <a:prstGeom prst="rect">
            <a:avLst/>
          </a:prstGeom>
          <a:noFill/>
        </p:spPr>
        <p:txBody>
          <a:bodyPr wrap="square">
            <a:spAutoFit/>
          </a:bodyPr>
          <a:lstStyle/>
          <a:p>
            <a:pPr algn="l"/>
            <a:r>
              <a:rPr sz="1400" b="1" i="0">
                <a:solidFill>
                  <a:srgbClr val="111111"/>
                </a:solidFill>
                <a:latin typeface="Noto Sans JP"/>
              </a:rPr>
              <a:t>オフィス・サテライト</a:t>
            </a:r>
          </a:p>
        </p:txBody>
      </p:sp>
      <p:sp>
        <p:nvSpPr>
          <p:cNvPr id="13" name="TextBox 12"/>
          <p:cNvSpPr txBox="1"/>
          <p:nvPr/>
        </p:nvSpPr>
        <p:spPr>
          <a:xfrm>
            <a:off x="502920" y="4562855"/>
            <a:ext cx="5303520" cy="502920"/>
          </a:xfrm>
          <a:prstGeom prst="rect">
            <a:avLst/>
          </a:prstGeom>
          <a:noFill/>
        </p:spPr>
        <p:txBody>
          <a:bodyPr wrap="square">
            <a:spAutoFit/>
          </a:bodyPr>
          <a:lstStyle/>
          <a:p>
            <a:pPr algn="l"/>
            <a:r>
              <a:rPr sz="1200" b="0" i="0">
                <a:solidFill>
                  <a:srgbClr val="444444"/>
                </a:solidFill>
                <a:latin typeface="Noto Sans JP"/>
              </a:rPr>
              <a:t>節税対策や、自然の中でのサテライトオフィス構築に。</a:t>
            </a:r>
          </a:p>
        </p:txBody>
      </p:sp>
      <p:sp>
        <p:nvSpPr>
          <p:cNvPr id="14" name="Rectangle 13"/>
          <p:cNvSpPr/>
          <p:nvPr/>
        </p:nvSpPr>
        <p:spPr>
          <a:xfrm>
            <a:off x="320040" y="5358383"/>
            <a:ext cx="54864" cy="10058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5413247"/>
            <a:ext cx="5303520" cy="384048"/>
          </a:xfrm>
          <a:prstGeom prst="rect">
            <a:avLst/>
          </a:prstGeom>
          <a:noFill/>
        </p:spPr>
        <p:txBody>
          <a:bodyPr wrap="square">
            <a:spAutoFit/>
          </a:bodyPr>
          <a:lstStyle/>
          <a:p>
            <a:pPr algn="l"/>
            <a:r>
              <a:rPr sz="1400" b="1" i="0">
                <a:solidFill>
                  <a:srgbClr val="111111"/>
                </a:solidFill>
                <a:latin typeface="Noto Sans JP"/>
              </a:rPr>
              <a:t>住まい・セカンドハウス</a:t>
            </a:r>
          </a:p>
        </p:txBody>
      </p:sp>
      <p:sp>
        <p:nvSpPr>
          <p:cNvPr id="16" name="TextBox 15"/>
          <p:cNvSpPr txBox="1"/>
          <p:nvPr/>
        </p:nvSpPr>
        <p:spPr>
          <a:xfrm>
            <a:off x="502920" y="5861303"/>
            <a:ext cx="5303520" cy="502920"/>
          </a:xfrm>
          <a:prstGeom prst="rect">
            <a:avLst/>
          </a:prstGeom>
          <a:noFill/>
        </p:spPr>
        <p:txBody>
          <a:bodyPr wrap="square">
            <a:spAutoFit/>
          </a:bodyPr>
          <a:lstStyle/>
          <a:p>
            <a:pPr algn="l"/>
            <a:r>
              <a:rPr sz="1200" b="0" i="0">
                <a:solidFill>
                  <a:srgbClr val="444444"/>
                </a:solidFill>
                <a:latin typeface="Noto Sans JP"/>
              </a:rPr>
              <a:t>趣味の空間や、二拠点居住のベースキャンプとして。</a:t>
            </a:r>
          </a:p>
        </p:txBody>
      </p:sp>
      <p:cxnSp>
        <p:nvCxnSpPr>
          <p:cNvPr id="17" name="Connector 16"/>
          <p:cNvCxnSpPr/>
          <p:nvPr/>
        </p:nvCxnSpPr>
        <p:spPr>
          <a:xfrm>
            <a:off x="6035040" y="1444752"/>
            <a:ext cx="0" cy="5276088"/>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217920" y="1444752"/>
            <a:ext cx="2834640" cy="256032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542032"/>
            <a:ext cx="2834640" cy="365760"/>
          </a:xfrm>
          <a:prstGeom prst="rect">
            <a:avLst/>
          </a:prstGeom>
          <a:noFill/>
        </p:spPr>
        <p:txBody>
          <a:bodyPr wrap="square">
            <a:spAutoFit/>
          </a:bodyPr>
          <a:lstStyle/>
          <a:p>
            <a:pPr algn="ctr"/>
            <a:r>
              <a:rPr sz="1000" b="0" i="0">
                <a:solidFill>
                  <a:srgbClr val="888888"/>
                </a:solidFill>
                <a:latin typeface="Noto Sans JP"/>
              </a:rPr>
              <a:t>[ 宿泊・グランピング写真 ]</a:t>
            </a:r>
          </a:p>
        </p:txBody>
      </p:sp>
      <p:sp>
        <p:nvSpPr>
          <p:cNvPr id="20" name="Rectangle 19"/>
          <p:cNvSpPr/>
          <p:nvPr/>
        </p:nvSpPr>
        <p:spPr>
          <a:xfrm>
            <a:off x="9235440" y="1444752"/>
            <a:ext cx="2834640" cy="256032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0" y="2542032"/>
            <a:ext cx="2834640" cy="365760"/>
          </a:xfrm>
          <a:prstGeom prst="rect">
            <a:avLst/>
          </a:prstGeom>
          <a:noFill/>
        </p:spPr>
        <p:txBody>
          <a:bodyPr wrap="square">
            <a:spAutoFit/>
          </a:bodyPr>
          <a:lstStyle/>
          <a:p>
            <a:pPr algn="ctr"/>
            <a:r>
              <a:rPr sz="1000" b="0" i="0">
                <a:solidFill>
                  <a:srgbClr val="888888"/>
                </a:solidFill>
                <a:latin typeface="Noto Sans JP"/>
              </a:rPr>
              <a:t>[ 店舗・カフェ写真 ]</a:t>
            </a:r>
          </a:p>
        </p:txBody>
      </p:sp>
      <p:sp>
        <p:nvSpPr>
          <p:cNvPr id="22" name="Rectangle 21"/>
          <p:cNvSpPr/>
          <p:nvPr/>
        </p:nvSpPr>
        <p:spPr>
          <a:xfrm>
            <a:off x="6217920" y="4133087"/>
            <a:ext cx="2834640" cy="256032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5230368"/>
            <a:ext cx="2834640" cy="365760"/>
          </a:xfrm>
          <a:prstGeom prst="rect">
            <a:avLst/>
          </a:prstGeom>
          <a:noFill/>
        </p:spPr>
        <p:txBody>
          <a:bodyPr wrap="square">
            <a:spAutoFit/>
          </a:bodyPr>
          <a:lstStyle/>
          <a:p>
            <a:pPr algn="ctr"/>
            <a:r>
              <a:rPr sz="1000" b="0" i="0">
                <a:solidFill>
                  <a:srgbClr val="888888"/>
                </a:solidFill>
                <a:latin typeface="Noto Sans JP"/>
              </a:rPr>
              <a:t>[ オフィス・サテライト写真 ]</a:t>
            </a:r>
          </a:p>
        </p:txBody>
      </p:sp>
      <p:sp>
        <p:nvSpPr>
          <p:cNvPr id="24" name="Rectangle 23"/>
          <p:cNvSpPr/>
          <p:nvPr/>
        </p:nvSpPr>
        <p:spPr>
          <a:xfrm>
            <a:off x="9235440" y="4133087"/>
            <a:ext cx="2834640" cy="256032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0" y="5230368"/>
            <a:ext cx="2834640" cy="365760"/>
          </a:xfrm>
          <a:prstGeom prst="rect">
            <a:avLst/>
          </a:prstGeom>
          <a:noFill/>
        </p:spPr>
        <p:txBody>
          <a:bodyPr wrap="square">
            <a:spAutoFit/>
          </a:bodyPr>
          <a:lstStyle/>
          <a:p>
            <a:pPr algn="ctr"/>
            <a:r>
              <a:rPr sz="1000" b="0" i="0">
                <a:solidFill>
                  <a:srgbClr val="888888"/>
                </a:solidFill>
                <a:latin typeface="Noto Sans JP"/>
              </a:rPr>
              <a:t>[ 住まい・セカンドハウス写真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Noto Sans JP"/>
              </a:rPr>
              <a:t>YADOKARIの強み</a:t>
            </a:r>
          </a:p>
        </p:txBody>
      </p:sp>
      <p:cxnSp>
        <p:nvCxnSpPr>
          <p:cNvPr id="4" name="Connector 3"/>
          <p:cNvCxnSpPr/>
          <p:nvPr/>
        </p:nvCxnSpPr>
        <p:spPr>
          <a:xfrm>
            <a:off x="228600" y="1051560"/>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11480" y="1417320"/>
            <a:ext cx="3749039" cy="173736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2103120"/>
            <a:ext cx="3749039" cy="365760"/>
          </a:xfrm>
          <a:prstGeom prst="rect">
            <a:avLst/>
          </a:prstGeom>
          <a:noFill/>
        </p:spPr>
        <p:txBody>
          <a:bodyPr wrap="square">
            <a:spAutoFit/>
          </a:bodyPr>
          <a:lstStyle/>
          <a:p>
            <a:pPr algn="ctr"/>
            <a:r>
              <a:rPr sz="1000" b="0" i="0">
                <a:solidFill>
                  <a:srgbClr val="888888"/>
                </a:solidFill>
                <a:latin typeface="Noto Sans JP"/>
              </a:rPr>
              <a:t>[ デザイン写真 ]</a:t>
            </a:r>
          </a:p>
        </p:txBody>
      </p:sp>
      <p:sp>
        <p:nvSpPr>
          <p:cNvPr id="7" name="Rectangle 6"/>
          <p:cNvSpPr/>
          <p:nvPr/>
        </p:nvSpPr>
        <p:spPr>
          <a:xfrm>
            <a:off x="411480" y="3154680"/>
            <a:ext cx="3749039" cy="54864"/>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3291840"/>
            <a:ext cx="640080" cy="640080"/>
          </a:xfrm>
          <a:prstGeom prst="rect">
            <a:avLst/>
          </a:prstGeom>
          <a:noFill/>
        </p:spPr>
        <p:txBody>
          <a:bodyPr wrap="square">
            <a:spAutoFit/>
          </a:bodyPr>
          <a:lstStyle/>
          <a:p>
            <a:pPr algn="l"/>
            <a:r>
              <a:rPr sz="3800" b="1" i="0">
                <a:solidFill>
                  <a:srgbClr val="DDDDDD"/>
                </a:solidFill>
                <a:latin typeface="Inter"/>
              </a:rPr>
              <a:t>01</a:t>
            </a:r>
          </a:p>
        </p:txBody>
      </p:sp>
      <p:sp>
        <p:nvSpPr>
          <p:cNvPr id="9" name="TextBox 8"/>
          <p:cNvSpPr txBox="1"/>
          <p:nvPr/>
        </p:nvSpPr>
        <p:spPr>
          <a:xfrm>
            <a:off x="521208" y="4005072"/>
            <a:ext cx="3520440" cy="868680"/>
          </a:xfrm>
          <a:prstGeom prst="rect">
            <a:avLst/>
          </a:prstGeom>
          <a:noFill/>
        </p:spPr>
        <p:txBody>
          <a:bodyPr wrap="square">
            <a:spAutoFit/>
          </a:bodyPr>
          <a:lstStyle/>
          <a:p>
            <a:pPr algn="l"/>
            <a:r>
              <a:rPr sz="2000" b="1" i="0">
                <a:solidFill>
                  <a:srgbClr val="111111"/>
                </a:solidFill>
                <a:latin typeface="Noto Sans JP"/>
              </a:rPr>
              <a:t>洗練された
デザイン</a:t>
            </a:r>
          </a:p>
        </p:txBody>
      </p:sp>
      <p:sp>
        <p:nvSpPr>
          <p:cNvPr id="10" name="TextBox 9"/>
          <p:cNvSpPr txBox="1"/>
          <p:nvPr/>
        </p:nvSpPr>
        <p:spPr>
          <a:xfrm>
            <a:off x="521208" y="4983480"/>
            <a:ext cx="3520440" cy="1417320"/>
          </a:xfrm>
          <a:prstGeom prst="rect">
            <a:avLst/>
          </a:prstGeom>
          <a:noFill/>
        </p:spPr>
        <p:txBody>
          <a:bodyPr wrap="square">
            <a:spAutoFit/>
          </a:bodyPr>
          <a:lstStyle/>
          <a:p>
            <a:pPr algn="l"/>
            <a:r>
              <a:rPr sz="1300" b="0" i="0">
                <a:solidFill>
                  <a:srgbClr val="444444"/>
                </a:solidFill>
                <a:latin typeface="Noto Sans JP"/>
              </a:rPr>
              <a:t>空間の豊かさを追求したデザイン性。
用途に合わせたセミオーダー提案。</a:t>
            </a:r>
          </a:p>
        </p:txBody>
      </p:sp>
      <p:cxnSp>
        <p:nvCxnSpPr>
          <p:cNvPr id="11" name="Connector 10"/>
          <p:cNvCxnSpPr/>
          <p:nvPr/>
        </p:nvCxnSpPr>
        <p:spPr>
          <a:xfrm>
            <a:off x="4279392" y="1417320"/>
            <a:ext cx="0" cy="507492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4389120" y="1417320"/>
            <a:ext cx="3749039" cy="173736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2103120"/>
            <a:ext cx="3749039" cy="365760"/>
          </a:xfrm>
          <a:prstGeom prst="rect">
            <a:avLst/>
          </a:prstGeom>
          <a:noFill/>
        </p:spPr>
        <p:txBody>
          <a:bodyPr wrap="square">
            <a:spAutoFit/>
          </a:bodyPr>
          <a:lstStyle/>
          <a:p>
            <a:pPr algn="ctr"/>
            <a:r>
              <a:rPr sz="1000" b="0" i="0">
                <a:solidFill>
                  <a:srgbClr val="888888"/>
                </a:solidFill>
                <a:latin typeface="Noto Sans JP"/>
              </a:rPr>
              <a:t>[ コスト・数値イメージ ]</a:t>
            </a:r>
          </a:p>
        </p:txBody>
      </p:sp>
      <p:sp>
        <p:nvSpPr>
          <p:cNvPr id="14" name="Rectangle 13"/>
          <p:cNvSpPr/>
          <p:nvPr/>
        </p:nvSpPr>
        <p:spPr>
          <a:xfrm>
            <a:off x="4389120" y="3154680"/>
            <a:ext cx="3749039" cy="54864"/>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3291840"/>
            <a:ext cx="640080" cy="640080"/>
          </a:xfrm>
          <a:prstGeom prst="rect">
            <a:avLst/>
          </a:prstGeom>
          <a:noFill/>
        </p:spPr>
        <p:txBody>
          <a:bodyPr wrap="square">
            <a:spAutoFit/>
          </a:bodyPr>
          <a:lstStyle/>
          <a:p>
            <a:pPr algn="l"/>
            <a:r>
              <a:rPr sz="3800" b="1" i="0">
                <a:solidFill>
                  <a:srgbClr val="DDDDDD"/>
                </a:solidFill>
                <a:latin typeface="Inter"/>
              </a:rPr>
              <a:t>02</a:t>
            </a:r>
          </a:p>
        </p:txBody>
      </p:sp>
      <p:sp>
        <p:nvSpPr>
          <p:cNvPr id="16" name="TextBox 15"/>
          <p:cNvSpPr txBox="1"/>
          <p:nvPr/>
        </p:nvSpPr>
        <p:spPr>
          <a:xfrm>
            <a:off x="4498848" y="4005072"/>
            <a:ext cx="3520440" cy="868680"/>
          </a:xfrm>
          <a:prstGeom prst="rect">
            <a:avLst/>
          </a:prstGeom>
          <a:noFill/>
        </p:spPr>
        <p:txBody>
          <a:bodyPr wrap="square">
            <a:spAutoFit/>
          </a:bodyPr>
          <a:lstStyle/>
          <a:p>
            <a:pPr algn="l"/>
            <a:r>
              <a:rPr sz="2000" b="1" i="0">
                <a:solidFill>
                  <a:srgbClr val="111111"/>
                </a:solidFill>
                <a:latin typeface="Noto Sans JP"/>
              </a:rPr>
              <a:t>圧倒的な
コストパフォーマンス</a:t>
            </a:r>
          </a:p>
        </p:txBody>
      </p:sp>
      <p:sp>
        <p:nvSpPr>
          <p:cNvPr id="17" name="TextBox 16"/>
          <p:cNvSpPr txBox="1"/>
          <p:nvPr/>
        </p:nvSpPr>
        <p:spPr>
          <a:xfrm>
            <a:off x="4498848" y="4983480"/>
            <a:ext cx="3520440" cy="1417320"/>
          </a:xfrm>
          <a:prstGeom prst="rect">
            <a:avLst/>
          </a:prstGeom>
          <a:noFill/>
        </p:spPr>
        <p:txBody>
          <a:bodyPr wrap="square">
            <a:spAutoFit/>
          </a:bodyPr>
          <a:lstStyle/>
          <a:p>
            <a:pPr algn="l"/>
            <a:r>
              <a:rPr sz="1300" b="0" i="0">
                <a:solidFill>
                  <a:srgbClr val="444444"/>
                </a:solidFill>
                <a:latin typeface="Noto Sans JP"/>
              </a:rPr>
              <a:t>無駄を省いた設計と標準化で
初期投資を最小化し、高ROIを実現。</a:t>
            </a:r>
          </a:p>
        </p:txBody>
      </p:sp>
      <p:cxnSp>
        <p:nvCxnSpPr>
          <p:cNvPr id="18" name="Connector 17"/>
          <p:cNvCxnSpPr/>
          <p:nvPr/>
        </p:nvCxnSpPr>
        <p:spPr>
          <a:xfrm>
            <a:off x="8257031" y="1417320"/>
            <a:ext cx="0" cy="507492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8366759" y="1417320"/>
            <a:ext cx="3749039" cy="173736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59" y="2103120"/>
            <a:ext cx="3749039" cy="365760"/>
          </a:xfrm>
          <a:prstGeom prst="rect">
            <a:avLst/>
          </a:prstGeom>
          <a:noFill/>
        </p:spPr>
        <p:txBody>
          <a:bodyPr wrap="square">
            <a:spAutoFit/>
          </a:bodyPr>
          <a:lstStyle/>
          <a:p>
            <a:pPr algn="ctr"/>
            <a:r>
              <a:rPr sz="1000" b="0" i="0">
                <a:solidFill>
                  <a:srgbClr val="888888"/>
                </a:solidFill>
                <a:latin typeface="Noto Sans JP"/>
              </a:rPr>
              <a:t>[ サービス全体図 ]</a:t>
            </a:r>
          </a:p>
        </p:txBody>
      </p:sp>
      <p:sp>
        <p:nvSpPr>
          <p:cNvPr id="21" name="Rectangle 20"/>
          <p:cNvSpPr/>
          <p:nvPr/>
        </p:nvSpPr>
        <p:spPr>
          <a:xfrm>
            <a:off x="8366759" y="3154680"/>
            <a:ext cx="3749039" cy="54864"/>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76487" y="3291840"/>
            <a:ext cx="640080" cy="640080"/>
          </a:xfrm>
          <a:prstGeom prst="rect">
            <a:avLst/>
          </a:prstGeom>
          <a:noFill/>
        </p:spPr>
        <p:txBody>
          <a:bodyPr wrap="square">
            <a:spAutoFit/>
          </a:bodyPr>
          <a:lstStyle/>
          <a:p>
            <a:pPr algn="l"/>
            <a:r>
              <a:rPr sz="3800" b="1" i="0">
                <a:solidFill>
                  <a:srgbClr val="DDDDDD"/>
                </a:solidFill>
                <a:latin typeface="Inter"/>
              </a:rPr>
              <a:t>03</a:t>
            </a:r>
          </a:p>
        </p:txBody>
      </p:sp>
      <p:sp>
        <p:nvSpPr>
          <p:cNvPr id="23" name="TextBox 22"/>
          <p:cNvSpPr txBox="1"/>
          <p:nvPr/>
        </p:nvSpPr>
        <p:spPr>
          <a:xfrm>
            <a:off x="8476487" y="4005072"/>
            <a:ext cx="3520440" cy="868680"/>
          </a:xfrm>
          <a:prstGeom prst="rect">
            <a:avLst/>
          </a:prstGeom>
          <a:noFill/>
        </p:spPr>
        <p:txBody>
          <a:bodyPr wrap="square">
            <a:spAutoFit/>
          </a:bodyPr>
          <a:lstStyle/>
          <a:p>
            <a:pPr algn="l"/>
            <a:r>
              <a:rPr sz="2000" b="1" i="0">
                <a:solidFill>
                  <a:srgbClr val="111111"/>
                </a:solidFill>
                <a:latin typeface="Noto Sans JP"/>
              </a:rPr>
              <a:t>一気通貫の
エコシステム</a:t>
            </a:r>
          </a:p>
        </p:txBody>
      </p:sp>
      <p:sp>
        <p:nvSpPr>
          <p:cNvPr id="24" name="TextBox 23"/>
          <p:cNvSpPr txBox="1"/>
          <p:nvPr/>
        </p:nvSpPr>
        <p:spPr>
          <a:xfrm>
            <a:off x="8476487" y="4983480"/>
            <a:ext cx="3520440" cy="1417320"/>
          </a:xfrm>
          <a:prstGeom prst="rect">
            <a:avLst/>
          </a:prstGeom>
          <a:noFill/>
        </p:spPr>
        <p:txBody>
          <a:bodyPr wrap="square">
            <a:spAutoFit/>
          </a:bodyPr>
          <a:lstStyle/>
          <a:p>
            <a:pPr algn="l"/>
            <a:r>
              <a:rPr sz="1300" b="0" i="0">
                <a:solidFill>
                  <a:srgbClr val="444444"/>
                </a:solidFill>
                <a:latin typeface="Noto Sans JP"/>
              </a:rPr>
              <a:t>企画・設計から納品、中古売買
プラットフォームまで完全サポート。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Noto Sans JP"/>
              </a:rPr>
              <a:t>導入事例</a:t>
            </a:r>
          </a:p>
        </p:txBody>
      </p:sp>
      <p:sp>
        <p:nvSpPr>
          <p:cNvPr id="4" name="TextBox 3"/>
          <p:cNvSpPr txBox="1"/>
          <p:nvPr/>
        </p:nvSpPr>
        <p:spPr>
          <a:xfrm>
            <a:off x="228600" y="868680"/>
            <a:ext cx="8229600" cy="347472"/>
          </a:xfrm>
          <a:prstGeom prst="rect">
            <a:avLst/>
          </a:prstGeom>
          <a:noFill/>
        </p:spPr>
        <p:txBody>
          <a:bodyPr wrap="square">
            <a:spAutoFit/>
          </a:bodyPr>
          <a:lstStyle/>
          <a:p>
            <a:pPr algn="l"/>
            <a:r>
              <a:rPr sz="1300" b="0" i="0">
                <a:solidFill>
                  <a:srgbClr val="888888"/>
                </a:solidFill>
                <a:latin typeface="Noto Sans JP"/>
              </a:rPr>
              <a:t>実際の活用シーンと成果</a:t>
            </a:r>
          </a:p>
        </p:txBody>
      </p:sp>
      <p:cxnSp>
        <p:nvCxnSpPr>
          <p:cNvPr id="5" name="Connector 4"/>
          <p:cNvCxnSpPr/>
          <p:nvPr/>
        </p:nvCxnSpPr>
        <p:spPr>
          <a:xfrm>
            <a:off x="228600" y="1298448"/>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11480" y="1444752"/>
            <a:ext cx="5577840" cy="54864"/>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600200"/>
            <a:ext cx="5486400" cy="384048"/>
          </a:xfrm>
          <a:prstGeom prst="rect">
            <a:avLst/>
          </a:prstGeom>
          <a:noFill/>
        </p:spPr>
        <p:txBody>
          <a:bodyPr wrap="square">
            <a:spAutoFit/>
          </a:bodyPr>
          <a:lstStyle/>
          <a:p>
            <a:pPr algn="l"/>
            <a:r>
              <a:rPr sz="1300" b="1" i="0">
                <a:solidFill>
                  <a:srgbClr val="111111"/>
                </a:solidFill>
                <a:latin typeface="Noto Sans JP"/>
              </a:rPr>
              <a:t>事例①　グランピング施設（地方リゾート）</a:t>
            </a:r>
          </a:p>
        </p:txBody>
      </p:sp>
      <p:sp>
        <p:nvSpPr>
          <p:cNvPr id="8" name="TextBox 7"/>
          <p:cNvSpPr txBox="1"/>
          <p:nvPr/>
        </p:nvSpPr>
        <p:spPr>
          <a:xfrm>
            <a:off x="411480" y="2011680"/>
            <a:ext cx="5486400" cy="320040"/>
          </a:xfrm>
          <a:prstGeom prst="rect">
            <a:avLst/>
          </a:prstGeom>
          <a:noFill/>
        </p:spPr>
        <p:txBody>
          <a:bodyPr wrap="square">
            <a:spAutoFit/>
          </a:bodyPr>
          <a:lstStyle/>
          <a:p>
            <a:pPr algn="l"/>
            <a:r>
              <a:rPr sz="1100" b="0" i="0">
                <a:solidFill>
                  <a:srgbClr val="888888"/>
                </a:solidFill>
                <a:latin typeface="Noto Sans JP"/>
              </a:rPr>
              <a:t>ROADIE × 5台</a:t>
            </a:r>
          </a:p>
        </p:txBody>
      </p:sp>
      <p:sp>
        <p:nvSpPr>
          <p:cNvPr id="9" name="TextBox 8"/>
          <p:cNvSpPr txBox="1"/>
          <p:nvPr/>
        </p:nvSpPr>
        <p:spPr>
          <a:xfrm>
            <a:off x="411480" y="2395728"/>
            <a:ext cx="5486400" cy="320040"/>
          </a:xfrm>
          <a:prstGeom prst="rect">
            <a:avLst/>
          </a:prstGeom>
          <a:noFill/>
        </p:spPr>
        <p:txBody>
          <a:bodyPr wrap="square">
            <a:spAutoFit/>
          </a:bodyPr>
          <a:lstStyle/>
          <a:p>
            <a:pPr algn="l"/>
            <a:r>
              <a:rPr sz="1200" b="1" i="0">
                <a:solidFill>
                  <a:srgbClr val="444444"/>
                </a:solidFill>
                <a:latin typeface="Noto Sans JP"/>
              </a:rPr>
              <a:t>課題：短期間で宿泊棟を増やしたかった</a:t>
            </a:r>
          </a:p>
        </p:txBody>
      </p:sp>
      <p:sp>
        <p:nvSpPr>
          <p:cNvPr id="10" name="Rectangle 9"/>
          <p:cNvSpPr/>
          <p:nvPr/>
        </p:nvSpPr>
        <p:spPr>
          <a:xfrm>
            <a:off x="411480" y="2788920"/>
            <a:ext cx="1737360" cy="117043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2862072"/>
            <a:ext cx="1737360" cy="495300"/>
          </a:xfrm>
          <a:prstGeom prst="rect">
            <a:avLst/>
          </a:prstGeom>
          <a:noFill/>
        </p:spPr>
        <p:txBody>
          <a:bodyPr wrap="square">
            <a:spAutoFit/>
          </a:bodyPr>
          <a:lstStyle/>
          <a:p>
            <a:pPr algn="ctr"/>
            <a:r>
              <a:rPr sz="3000" b="1" i="0">
                <a:solidFill>
                  <a:srgbClr val="111111"/>
                </a:solidFill>
                <a:latin typeface="Inter"/>
              </a:rPr>
              <a:t>4ヶ月</a:t>
            </a:r>
          </a:p>
        </p:txBody>
      </p:sp>
      <p:sp>
        <p:nvSpPr>
          <p:cNvPr id="12" name="TextBox 11"/>
          <p:cNvSpPr txBox="1"/>
          <p:nvPr/>
        </p:nvSpPr>
        <p:spPr>
          <a:xfrm>
            <a:off x="411480" y="3375660"/>
            <a:ext cx="1737360" cy="256032"/>
          </a:xfrm>
          <a:prstGeom prst="rect">
            <a:avLst/>
          </a:prstGeom>
          <a:noFill/>
        </p:spPr>
        <p:txBody>
          <a:bodyPr wrap="square">
            <a:spAutoFit/>
          </a:bodyPr>
          <a:lstStyle/>
          <a:p>
            <a:pPr algn="ctr"/>
            <a:r>
              <a:rPr sz="1000" b="0" i="0">
                <a:solidFill>
                  <a:srgbClr val="444444"/>
                </a:solidFill>
                <a:latin typeface="Noto Sans JP"/>
              </a:rPr>
              <a:t>工 期</a:t>
            </a:r>
          </a:p>
        </p:txBody>
      </p:sp>
      <p:sp>
        <p:nvSpPr>
          <p:cNvPr id="13" name="TextBox 12"/>
          <p:cNvSpPr txBox="1"/>
          <p:nvPr/>
        </p:nvSpPr>
        <p:spPr>
          <a:xfrm>
            <a:off x="411480" y="3631692"/>
            <a:ext cx="1737360" cy="228600"/>
          </a:xfrm>
          <a:prstGeom prst="rect">
            <a:avLst/>
          </a:prstGeom>
          <a:noFill/>
        </p:spPr>
        <p:txBody>
          <a:bodyPr wrap="square">
            <a:spAutoFit/>
          </a:bodyPr>
          <a:lstStyle/>
          <a:p>
            <a:pPr algn="ctr"/>
            <a:r>
              <a:rPr sz="900" b="0" i="0">
                <a:solidFill>
                  <a:srgbClr val="BBBBBB"/>
                </a:solidFill>
                <a:latin typeface="Noto Sans JP"/>
              </a:rPr>
              <a:t>従来比 1/3</a:t>
            </a:r>
          </a:p>
        </p:txBody>
      </p:sp>
      <p:sp>
        <p:nvSpPr>
          <p:cNvPr id="14" name="Rectangle 13"/>
          <p:cNvSpPr/>
          <p:nvPr/>
        </p:nvSpPr>
        <p:spPr>
          <a:xfrm>
            <a:off x="2221992" y="2788920"/>
            <a:ext cx="1737360" cy="117043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21992" y="2862072"/>
            <a:ext cx="1737360" cy="495300"/>
          </a:xfrm>
          <a:prstGeom prst="rect">
            <a:avLst/>
          </a:prstGeom>
          <a:noFill/>
        </p:spPr>
        <p:txBody>
          <a:bodyPr wrap="square">
            <a:spAutoFit/>
          </a:bodyPr>
          <a:lstStyle/>
          <a:p>
            <a:pPr algn="ctr"/>
            <a:r>
              <a:rPr sz="3000" b="1" i="0">
                <a:solidFill>
                  <a:srgbClr val="111111"/>
                </a:solidFill>
                <a:latin typeface="Inter"/>
              </a:rPr>
              <a:t>80%</a:t>
            </a:r>
          </a:p>
        </p:txBody>
      </p:sp>
      <p:sp>
        <p:nvSpPr>
          <p:cNvPr id="16" name="TextBox 15"/>
          <p:cNvSpPr txBox="1"/>
          <p:nvPr/>
        </p:nvSpPr>
        <p:spPr>
          <a:xfrm>
            <a:off x="2221992" y="3375660"/>
            <a:ext cx="1737360" cy="256032"/>
          </a:xfrm>
          <a:prstGeom prst="rect">
            <a:avLst/>
          </a:prstGeom>
          <a:noFill/>
        </p:spPr>
        <p:txBody>
          <a:bodyPr wrap="square">
            <a:spAutoFit/>
          </a:bodyPr>
          <a:lstStyle/>
          <a:p>
            <a:pPr algn="ctr"/>
            <a:r>
              <a:rPr sz="1000" b="0" i="0">
                <a:solidFill>
                  <a:srgbClr val="444444"/>
                </a:solidFill>
                <a:latin typeface="Noto Sans JP"/>
              </a:rPr>
              <a:t>稼働率</a:t>
            </a:r>
          </a:p>
        </p:txBody>
      </p:sp>
      <p:sp>
        <p:nvSpPr>
          <p:cNvPr id="17" name="TextBox 16"/>
          <p:cNvSpPr txBox="1"/>
          <p:nvPr/>
        </p:nvSpPr>
        <p:spPr>
          <a:xfrm>
            <a:off x="2221992" y="3631692"/>
            <a:ext cx="1737360" cy="228600"/>
          </a:xfrm>
          <a:prstGeom prst="rect">
            <a:avLst/>
          </a:prstGeom>
          <a:noFill/>
        </p:spPr>
        <p:txBody>
          <a:bodyPr wrap="square">
            <a:spAutoFit/>
          </a:bodyPr>
          <a:lstStyle/>
          <a:p>
            <a:pPr algn="ctr"/>
            <a:r>
              <a:rPr sz="900" b="0" i="0">
                <a:solidFill>
                  <a:srgbClr val="BBBBBB"/>
                </a:solidFill>
                <a:latin typeface="Noto Sans JP"/>
              </a:rPr>
              <a:t>導入後6ヶ月</a:t>
            </a:r>
          </a:p>
        </p:txBody>
      </p:sp>
      <p:sp>
        <p:nvSpPr>
          <p:cNvPr id="18" name="Rectangle 17"/>
          <p:cNvSpPr/>
          <p:nvPr/>
        </p:nvSpPr>
        <p:spPr>
          <a:xfrm>
            <a:off x="4032504" y="2788920"/>
            <a:ext cx="1737360" cy="117043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32504" y="2862072"/>
            <a:ext cx="1737360" cy="495300"/>
          </a:xfrm>
          <a:prstGeom prst="rect">
            <a:avLst/>
          </a:prstGeom>
          <a:noFill/>
        </p:spPr>
        <p:txBody>
          <a:bodyPr wrap="square">
            <a:spAutoFit/>
          </a:bodyPr>
          <a:lstStyle/>
          <a:p>
            <a:pPr algn="ctr"/>
            <a:r>
              <a:rPr sz="3000" b="1" i="0">
                <a:solidFill>
                  <a:srgbClr val="111111"/>
                </a:solidFill>
                <a:latin typeface="Inter"/>
              </a:rPr>
              <a:t>×1.5</a:t>
            </a:r>
          </a:p>
        </p:txBody>
      </p:sp>
      <p:sp>
        <p:nvSpPr>
          <p:cNvPr id="20" name="TextBox 19"/>
          <p:cNvSpPr txBox="1"/>
          <p:nvPr/>
        </p:nvSpPr>
        <p:spPr>
          <a:xfrm>
            <a:off x="4032504" y="3375660"/>
            <a:ext cx="1737360" cy="256032"/>
          </a:xfrm>
          <a:prstGeom prst="rect">
            <a:avLst/>
          </a:prstGeom>
          <a:noFill/>
        </p:spPr>
        <p:txBody>
          <a:bodyPr wrap="square">
            <a:spAutoFit/>
          </a:bodyPr>
          <a:lstStyle/>
          <a:p>
            <a:pPr algn="ctr"/>
            <a:r>
              <a:rPr sz="1000" b="0" i="0">
                <a:solidFill>
                  <a:srgbClr val="444444"/>
                </a:solidFill>
                <a:latin typeface="Noto Sans JP"/>
              </a:rPr>
              <a:t>宿泊単価</a:t>
            </a:r>
          </a:p>
        </p:txBody>
      </p:sp>
      <p:sp>
        <p:nvSpPr>
          <p:cNvPr id="21" name="TextBox 20"/>
          <p:cNvSpPr txBox="1"/>
          <p:nvPr/>
        </p:nvSpPr>
        <p:spPr>
          <a:xfrm>
            <a:off x="4032504" y="3631692"/>
            <a:ext cx="1737360" cy="228600"/>
          </a:xfrm>
          <a:prstGeom prst="rect">
            <a:avLst/>
          </a:prstGeom>
          <a:noFill/>
        </p:spPr>
        <p:txBody>
          <a:bodyPr wrap="square">
            <a:spAutoFit/>
          </a:bodyPr>
          <a:lstStyle/>
          <a:p>
            <a:pPr algn="ctr"/>
            <a:r>
              <a:rPr sz="900" b="0" i="0">
                <a:solidFill>
                  <a:srgbClr val="BBBBBB"/>
                </a:solidFill>
                <a:latin typeface="Noto Sans JP"/>
              </a:rPr>
              <a:t>従来比</a:t>
            </a:r>
          </a:p>
        </p:txBody>
      </p:sp>
      <p:cxnSp>
        <p:nvCxnSpPr>
          <p:cNvPr id="22" name="Connector 21"/>
          <p:cNvCxnSpPr/>
          <p:nvPr/>
        </p:nvCxnSpPr>
        <p:spPr>
          <a:xfrm>
            <a:off x="411480" y="4069080"/>
            <a:ext cx="539496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411480" y="4160520"/>
            <a:ext cx="5394960" cy="123444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206240"/>
            <a:ext cx="457200" cy="457200"/>
          </a:xfrm>
          <a:prstGeom prst="rect">
            <a:avLst/>
          </a:prstGeom>
          <a:noFill/>
        </p:spPr>
        <p:txBody>
          <a:bodyPr wrap="square">
            <a:spAutoFit/>
          </a:bodyPr>
          <a:lstStyle/>
          <a:p>
            <a:pPr algn="l"/>
            <a:r>
              <a:rPr sz="2200" b="1" i="0">
                <a:solidFill>
                  <a:srgbClr val="BBBBBB"/>
                </a:solidFill>
                <a:latin typeface="Noto Sans JP"/>
              </a:rPr>
              <a:t>❝</a:t>
            </a:r>
          </a:p>
        </p:txBody>
      </p:sp>
      <p:sp>
        <p:nvSpPr>
          <p:cNvPr id="25" name="TextBox 24"/>
          <p:cNvSpPr txBox="1"/>
          <p:nvPr/>
        </p:nvSpPr>
        <p:spPr>
          <a:xfrm>
            <a:off x="548640" y="4572000"/>
            <a:ext cx="5120640" cy="777240"/>
          </a:xfrm>
          <a:prstGeom prst="rect">
            <a:avLst/>
          </a:prstGeom>
          <a:noFill/>
        </p:spPr>
        <p:txBody>
          <a:bodyPr wrap="square">
            <a:spAutoFit/>
          </a:bodyPr>
          <a:lstStyle/>
          <a:p>
            <a:pPr algn="l"/>
            <a:r>
              <a:rPr sz="1100" b="0" i="1">
                <a:solidFill>
                  <a:srgbClr val="444444"/>
                </a:solidFill>
                <a:latin typeface="Noto Sans JP"/>
              </a:rPr>
              <a:t>「建築物では実現できなかったスピードとデザイン性を両立できました。」
── ○○施設 オーナー様</a:t>
            </a:r>
          </a:p>
        </p:txBody>
      </p:sp>
      <p:sp>
        <p:nvSpPr>
          <p:cNvPr id="26" name="Rectangle 25"/>
          <p:cNvSpPr/>
          <p:nvPr/>
        </p:nvSpPr>
        <p:spPr>
          <a:xfrm>
            <a:off x="6309360" y="1444752"/>
            <a:ext cx="5577840" cy="54864"/>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0" y="1600200"/>
            <a:ext cx="5486400" cy="384048"/>
          </a:xfrm>
          <a:prstGeom prst="rect">
            <a:avLst/>
          </a:prstGeom>
          <a:noFill/>
        </p:spPr>
        <p:txBody>
          <a:bodyPr wrap="square">
            <a:spAutoFit/>
          </a:bodyPr>
          <a:lstStyle/>
          <a:p>
            <a:pPr algn="l"/>
            <a:r>
              <a:rPr sz="1300" b="1" i="0">
                <a:solidFill>
                  <a:srgbClr val="111111"/>
                </a:solidFill>
                <a:latin typeface="Noto Sans JP"/>
              </a:rPr>
              <a:t>事例②　サテライトオフィス（首都圏近郊）</a:t>
            </a:r>
          </a:p>
        </p:txBody>
      </p:sp>
      <p:sp>
        <p:nvSpPr>
          <p:cNvPr id="28" name="TextBox 27"/>
          <p:cNvSpPr txBox="1"/>
          <p:nvPr/>
        </p:nvSpPr>
        <p:spPr>
          <a:xfrm>
            <a:off x="6309360" y="2011680"/>
            <a:ext cx="5486400" cy="320040"/>
          </a:xfrm>
          <a:prstGeom prst="rect">
            <a:avLst/>
          </a:prstGeom>
          <a:noFill/>
        </p:spPr>
        <p:txBody>
          <a:bodyPr wrap="square">
            <a:spAutoFit/>
          </a:bodyPr>
          <a:lstStyle/>
          <a:p>
            <a:pPr algn="l"/>
            <a:r>
              <a:rPr sz="1100" b="0" i="0">
                <a:solidFill>
                  <a:srgbClr val="888888"/>
                </a:solidFill>
                <a:latin typeface="Noto Sans JP"/>
              </a:rPr>
              <a:t>Tinys INSPIRATION 9m × 2台</a:t>
            </a:r>
          </a:p>
        </p:txBody>
      </p:sp>
      <p:sp>
        <p:nvSpPr>
          <p:cNvPr id="29" name="TextBox 28"/>
          <p:cNvSpPr txBox="1"/>
          <p:nvPr/>
        </p:nvSpPr>
        <p:spPr>
          <a:xfrm>
            <a:off x="6309360" y="2395728"/>
            <a:ext cx="5486400" cy="320040"/>
          </a:xfrm>
          <a:prstGeom prst="rect">
            <a:avLst/>
          </a:prstGeom>
          <a:noFill/>
        </p:spPr>
        <p:txBody>
          <a:bodyPr wrap="square">
            <a:spAutoFit/>
          </a:bodyPr>
          <a:lstStyle/>
          <a:p>
            <a:pPr algn="l"/>
            <a:r>
              <a:rPr sz="1200" b="1" i="0">
                <a:solidFill>
                  <a:srgbClr val="444444"/>
                </a:solidFill>
                <a:latin typeface="Noto Sans JP"/>
              </a:rPr>
              <a:t>課題：テレワーク対応の執務スペースが必要</a:t>
            </a:r>
          </a:p>
        </p:txBody>
      </p:sp>
      <p:sp>
        <p:nvSpPr>
          <p:cNvPr id="30" name="Rectangle 29"/>
          <p:cNvSpPr/>
          <p:nvPr/>
        </p:nvSpPr>
        <p:spPr>
          <a:xfrm>
            <a:off x="6309360" y="2788920"/>
            <a:ext cx="1737360" cy="117043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2862072"/>
            <a:ext cx="1737360" cy="495300"/>
          </a:xfrm>
          <a:prstGeom prst="rect">
            <a:avLst/>
          </a:prstGeom>
          <a:noFill/>
        </p:spPr>
        <p:txBody>
          <a:bodyPr wrap="square">
            <a:spAutoFit/>
          </a:bodyPr>
          <a:lstStyle/>
          <a:p>
            <a:pPr algn="ctr"/>
            <a:r>
              <a:rPr sz="3000" b="1" i="0">
                <a:solidFill>
                  <a:srgbClr val="111111"/>
                </a:solidFill>
                <a:latin typeface="Inter"/>
              </a:rPr>
              <a:t>2ヶ月</a:t>
            </a:r>
          </a:p>
        </p:txBody>
      </p:sp>
      <p:sp>
        <p:nvSpPr>
          <p:cNvPr id="32" name="TextBox 31"/>
          <p:cNvSpPr txBox="1"/>
          <p:nvPr/>
        </p:nvSpPr>
        <p:spPr>
          <a:xfrm>
            <a:off x="6309360" y="3375660"/>
            <a:ext cx="1737360" cy="256032"/>
          </a:xfrm>
          <a:prstGeom prst="rect">
            <a:avLst/>
          </a:prstGeom>
          <a:noFill/>
        </p:spPr>
        <p:txBody>
          <a:bodyPr wrap="square">
            <a:spAutoFit/>
          </a:bodyPr>
          <a:lstStyle/>
          <a:p>
            <a:pPr algn="ctr"/>
            <a:r>
              <a:rPr sz="1000" b="0" i="0">
                <a:solidFill>
                  <a:srgbClr val="444444"/>
                </a:solidFill>
                <a:latin typeface="Noto Sans JP"/>
              </a:rPr>
              <a:t>設置完了</a:t>
            </a:r>
          </a:p>
        </p:txBody>
      </p:sp>
      <p:sp>
        <p:nvSpPr>
          <p:cNvPr id="33" name="TextBox 32"/>
          <p:cNvSpPr txBox="1"/>
          <p:nvPr/>
        </p:nvSpPr>
        <p:spPr>
          <a:xfrm>
            <a:off x="6309360" y="3631692"/>
            <a:ext cx="1737360" cy="228600"/>
          </a:xfrm>
          <a:prstGeom prst="rect">
            <a:avLst/>
          </a:prstGeom>
          <a:noFill/>
        </p:spPr>
        <p:txBody>
          <a:bodyPr wrap="square">
            <a:spAutoFit/>
          </a:bodyPr>
          <a:lstStyle/>
          <a:p>
            <a:pPr algn="ctr"/>
            <a:r>
              <a:rPr sz="900" b="0" i="0">
                <a:solidFill>
                  <a:srgbClr val="BBBBBB"/>
                </a:solidFill>
                <a:latin typeface="Noto Sans JP"/>
              </a:rPr>
              <a:t>工期</a:t>
            </a:r>
          </a:p>
        </p:txBody>
      </p:sp>
      <p:sp>
        <p:nvSpPr>
          <p:cNvPr id="34" name="Rectangle 33"/>
          <p:cNvSpPr/>
          <p:nvPr/>
        </p:nvSpPr>
        <p:spPr>
          <a:xfrm>
            <a:off x="8119872" y="2788920"/>
            <a:ext cx="1737360" cy="117043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19872" y="2862072"/>
            <a:ext cx="1737360" cy="495300"/>
          </a:xfrm>
          <a:prstGeom prst="rect">
            <a:avLst/>
          </a:prstGeom>
          <a:noFill/>
        </p:spPr>
        <p:txBody>
          <a:bodyPr wrap="square">
            <a:spAutoFit/>
          </a:bodyPr>
          <a:lstStyle/>
          <a:p>
            <a:pPr algn="ctr"/>
            <a:r>
              <a:rPr sz="3000" b="1" i="0">
                <a:solidFill>
                  <a:srgbClr val="111111"/>
                </a:solidFill>
                <a:latin typeface="Inter"/>
              </a:rPr>
              <a:t>あり</a:t>
            </a:r>
          </a:p>
        </p:txBody>
      </p:sp>
      <p:sp>
        <p:nvSpPr>
          <p:cNvPr id="36" name="TextBox 35"/>
          <p:cNvSpPr txBox="1"/>
          <p:nvPr/>
        </p:nvSpPr>
        <p:spPr>
          <a:xfrm>
            <a:off x="8119872" y="3375660"/>
            <a:ext cx="1737360" cy="256032"/>
          </a:xfrm>
          <a:prstGeom prst="rect">
            <a:avLst/>
          </a:prstGeom>
          <a:noFill/>
        </p:spPr>
        <p:txBody>
          <a:bodyPr wrap="square">
            <a:spAutoFit/>
          </a:bodyPr>
          <a:lstStyle/>
          <a:p>
            <a:pPr algn="ctr"/>
            <a:r>
              <a:rPr sz="1000" b="0" i="0">
                <a:solidFill>
                  <a:srgbClr val="444444"/>
                </a:solidFill>
                <a:latin typeface="Noto Sans JP"/>
              </a:rPr>
              <a:t>節税効果</a:t>
            </a:r>
          </a:p>
        </p:txBody>
      </p:sp>
      <p:sp>
        <p:nvSpPr>
          <p:cNvPr id="37" name="TextBox 36"/>
          <p:cNvSpPr txBox="1"/>
          <p:nvPr/>
        </p:nvSpPr>
        <p:spPr>
          <a:xfrm>
            <a:off x="8119872" y="3631692"/>
            <a:ext cx="1737360" cy="228600"/>
          </a:xfrm>
          <a:prstGeom prst="rect">
            <a:avLst/>
          </a:prstGeom>
          <a:noFill/>
        </p:spPr>
        <p:txBody>
          <a:bodyPr wrap="square">
            <a:spAutoFit/>
          </a:bodyPr>
          <a:lstStyle/>
          <a:p>
            <a:pPr algn="ctr"/>
            <a:r>
              <a:rPr sz="900" b="0" i="0">
                <a:solidFill>
                  <a:srgbClr val="BBBBBB"/>
                </a:solidFill>
                <a:latin typeface="Noto Sans JP"/>
              </a:rPr>
              <a:t>固定資産税</a:t>
            </a:r>
          </a:p>
        </p:txBody>
      </p:sp>
      <p:sp>
        <p:nvSpPr>
          <p:cNvPr id="38" name="Rectangle 37"/>
          <p:cNvSpPr/>
          <p:nvPr/>
        </p:nvSpPr>
        <p:spPr>
          <a:xfrm>
            <a:off x="9930384" y="2788920"/>
            <a:ext cx="1737360" cy="117043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30384" y="2862072"/>
            <a:ext cx="1737360" cy="495300"/>
          </a:xfrm>
          <a:prstGeom prst="rect">
            <a:avLst/>
          </a:prstGeom>
          <a:noFill/>
        </p:spPr>
        <p:txBody>
          <a:bodyPr wrap="square">
            <a:spAutoFit/>
          </a:bodyPr>
          <a:lstStyle/>
          <a:p>
            <a:pPr algn="ctr"/>
            <a:r>
              <a:rPr sz="3000" b="1" i="0">
                <a:solidFill>
                  <a:srgbClr val="111111"/>
                </a:solidFill>
                <a:latin typeface="Inter"/>
              </a:rPr>
              <a:t>↑UP</a:t>
            </a:r>
          </a:p>
        </p:txBody>
      </p:sp>
      <p:sp>
        <p:nvSpPr>
          <p:cNvPr id="40" name="TextBox 39"/>
          <p:cNvSpPr txBox="1"/>
          <p:nvPr/>
        </p:nvSpPr>
        <p:spPr>
          <a:xfrm>
            <a:off x="9930384" y="3375660"/>
            <a:ext cx="1737360" cy="256032"/>
          </a:xfrm>
          <a:prstGeom prst="rect">
            <a:avLst/>
          </a:prstGeom>
          <a:noFill/>
        </p:spPr>
        <p:txBody>
          <a:bodyPr wrap="square">
            <a:spAutoFit/>
          </a:bodyPr>
          <a:lstStyle/>
          <a:p>
            <a:pPr algn="ctr"/>
            <a:r>
              <a:rPr sz="1000" b="0" i="0">
                <a:solidFill>
                  <a:srgbClr val="444444"/>
                </a:solidFill>
                <a:latin typeface="Noto Sans JP"/>
              </a:rPr>
              <a:t>社員満足</a:t>
            </a:r>
          </a:p>
        </p:txBody>
      </p:sp>
      <p:sp>
        <p:nvSpPr>
          <p:cNvPr id="41" name="TextBox 40"/>
          <p:cNvSpPr txBox="1"/>
          <p:nvPr/>
        </p:nvSpPr>
        <p:spPr>
          <a:xfrm>
            <a:off x="9930384" y="3631692"/>
            <a:ext cx="1737360" cy="228600"/>
          </a:xfrm>
          <a:prstGeom prst="rect">
            <a:avLst/>
          </a:prstGeom>
          <a:noFill/>
        </p:spPr>
        <p:txBody>
          <a:bodyPr wrap="square">
            <a:spAutoFit/>
          </a:bodyPr>
          <a:lstStyle/>
          <a:p>
            <a:pPr algn="ctr"/>
            <a:r>
              <a:rPr sz="900" b="0" i="0">
                <a:solidFill>
                  <a:srgbClr val="BBBBBB"/>
                </a:solidFill>
                <a:latin typeface="Noto Sans JP"/>
              </a:rPr>
              <a:t>採用PRにも活用</a:t>
            </a:r>
          </a:p>
        </p:txBody>
      </p:sp>
      <p:cxnSp>
        <p:nvCxnSpPr>
          <p:cNvPr id="42" name="Connector 41"/>
          <p:cNvCxnSpPr/>
          <p:nvPr/>
        </p:nvCxnSpPr>
        <p:spPr>
          <a:xfrm>
            <a:off x="6309360" y="4069080"/>
            <a:ext cx="539496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6309360" y="4160520"/>
            <a:ext cx="5394960" cy="123444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46520" y="4206240"/>
            <a:ext cx="457200" cy="457200"/>
          </a:xfrm>
          <a:prstGeom prst="rect">
            <a:avLst/>
          </a:prstGeom>
          <a:noFill/>
        </p:spPr>
        <p:txBody>
          <a:bodyPr wrap="square">
            <a:spAutoFit/>
          </a:bodyPr>
          <a:lstStyle/>
          <a:p>
            <a:pPr algn="l"/>
            <a:r>
              <a:rPr sz="2200" b="1" i="0">
                <a:solidFill>
                  <a:srgbClr val="BBBBBB"/>
                </a:solidFill>
                <a:latin typeface="Noto Sans JP"/>
              </a:rPr>
              <a:t>❝</a:t>
            </a:r>
          </a:p>
        </p:txBody>
      </p:sp>
      <p:sp>
        <p:nvSpPr>
          <p:cNvPr id="45" name="TextBox 44"/>
          <p:cNvSpPr txBox="1"/>
          <p:nvPr/>
        </p:nvSpPr>
        <p:spPr>
          <a:xfrm>
            <a:off x="6446520" y="4572000"/>
            <a:ext cx="5120640" cy="777240"/>
          </a:xfrm>
          <a:prstGeom prst="rect">
            <a:avLst/>
          </a:prstGeom>
          <a:noFill/>
        </p:spPr>
        <p:txBody>
          <a:bodyPr wrap="square">
            <a:spAutoFit/>
          </a:bodyPr>
          <a:lstStyle/>
          <a:p>
            <a:pPr algn="l"/>
            <a:r>
              <a:rPr sz="1100" b="0" i="1">
                <a:solidFill>
                  <a:srgbClr val="444444"/>
                </a:solidFill>
                <a:latin typeface="Noto Sans JP"/>
              </a:rPr>
              <a:t>「こんなに早く、コストを抑えて快適な空間が手に入るとは思いませんでした。」
── ○○株式会社</a:t>
            </a:r>
          </a:p>
        </p:txBody>
      </p:sp>
      <p:sp>
        <p:nvSpPr>
          <p:cNvPr id="46" name="TextBox 45"/>
          <p:cNvSpPr txBox="1"/>
          <p:nvPr/>
        </p:nvSpPr>
        <p:spPr>
          <a:xfrm>
            <a:off x="411480" y="6583680"/>
            <a:ext cx="11338560" cy="228600"/>
          </a:xfrm>
          <a:prstGeom prst="rect">
            <a:avLst/>
          </a:prstGeom>
          <a:noFill/>
        </p:spPr>
        <p:txBody>
          <a:bodyPr wrap="square">
            <a:spAutoFit/>
          </a:bodyPr>
          <a:lstStyle/>
          <a:p>
            <a:pPr algn="l"/>
            <a:r>
              <a:rPr sz="900" b="0" i="0">
                <a:solidFill>
                  <a:srgbClr val="BBBBBB"/>
                </a:solidFill>
                <a:latin typeface="Noto Sans JP"/>
              </a:rPr>
              <a:t>※事例写真・詳細データは別途ご用意できます。実績数値はすべてモデルケースです。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Noto Sans JP"/>
              </a:rPr>
              <a:t>プロダクトラインナップ</a:t>
            </a:r>
          </a:p>
        </p:txBody>
      </p:sp>
      <p:cxnSp>
        <p:nvCxnSpPr>
          <p:cNvPr id="4" name="Connector 3"/>
          <p:cNvCxnSpPr/>
          <p:nvPr/>
        </p:nvCxnSpPr>
        <p:spPr>
          <a:xfrm>
            <a:off x="228600" y="1051560"/>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11480" y="1417320"/>
            <a:ext cx="3749039" cy="242316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2446020"/>
            <a:ext cx="3749039" cy="365760"/>
          </a:xfrm>
          <a:prstGeom prst="rect">
            <a:avLst/>
          </a:prstGeom>
          <a:noFill/>
        </p:spPr>
        <p:txBody>
          <a:bodyPr wrap="square">
            <a:spAutoFit/>
          </a:bodyPr>
          <a:lstStyle/>
          <a:p>
            <a:pPr algn="ctr"/>
            <a:r>
              <a:rPr sz="1000" b="0" i="0">
                <a:solidFill>
                  <a:srgbClr val="888888"/>
                </a:solidFill>
                <a:latin typeface="Noto Sans JP"/>
              </a:rPr>
              <a:t>[ 写真エリア ]</a:t>
            </a:r>
          </a:p>
        </p:txBody>
      </p:sp>
      <p:sp>
        <p:nvSpPr>
          <p:cNvPr id="7" name="Rectangle 6"/>
          <p:cNvSpPr/>
          <p:nvPr/>
        </p:nvSpPr>
        <p:spPr>
          <a:xfrm>
            <a:off x="411480" y="3840480"/>
            <a:ext cx="3749039" cy="54864"/>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3950208"/>
            <a:ext cx="3657600" cy="475488"/>
          </a:xfrm>
          <a:prstGeom prst="rect">
            <a:avLst/>
          </a:prstGeom>
          <a:noFill/>
        </p:spPr>
        <p:txBody>
          <a:bodyPr wrap="square">
            <a:spAutoFit/>
          </a:bodyPr>
          <a:lstStyle/>
          <a:p>
            <a:pPr algn="l"/>
            <a:r>
              <a:rPr sz="1800" b="1" i="0">
                <a:solidFill>
                  <a:srgbClr val="111111"/>
                </a:solidFill>
                <a:latin typeface="Noto Sans JP"/>
              </a:rPr>
              <a:t>Tinys INSPIRATION</a:t>
            </a:r>
          </a:p>
        </p:txBody>
      </p:sp>
      <p:sp>
        <p:nvSpPr>
          <p:cNvPr id="9" name="TextBox 8"/>
          <p:cNvSpPr txBox="1"/>
          <p:nvPr/>
        </p:nvSpPr>
        <p:spPr>
          <a:xfrm>
            <a:off x="411480" y="4425696"/>
            <a:ext cx="3657600" cy="320040"/>
          </a:xfrm>
          <a:prstGeom prst="rect">
            <a:avLst/>
          </a:prstGeom>
          <a:noFill/>
        </p:spPr>
        <p:txBody>
          <a:bodyPr wrap="square">
            <a:spAutoFit/>
          </a:bodyPr>
          <a:lstStyle/>
          <a:p>
            <a:pPr algn="l"/>
            <a:r>
              <a:rPr sz="1200" b="0" i="0">
                <a:solidFill>
                  <a:srgbClr val="888888"/>
                </a:solidFill>
                <a:latin typeface="Noto Sans JP"/>
              </a:rPr>
              <a:t>定番ベーシックモデル</a:t>
            </a:r>
          </a:p>
        </p:txBody>
      </p:sp>
      <p:sp>
        <p:nvSpPr>
          <p:cNvPr id="10" name="TextBox 9"/>
          <p:cNvSpPr txBox="1"/>
          <p:nvPr/>
        </p:nvSpPr>
        <p:spPr>
          <a:xfrm>
            <a:off x="411480" y="4791456"/>
            <a:ext cx="3657600" cy="777240"/>
          </a:xfrm>
          <a:prstGeom prst="rect">
            <a:avLst/>
          </a:prstGeom>
          <a:noFill/>
        </p:spPr>
        <p:txBody>
          <a:bodyPr wrap="square">
            <a:spAutoFit/>
          </a:bodyPr>
          <a:lstStyle/>
          <a:p>
            <a:pPr algn="l"/>
            <a:r>
              <a:rPr sz="1200" b="0" i="0">
                <a:solidFill>
                  <a:srgbClr val="444444"/>
                </a:solidFill>
                <a:latin typeface="Noto Sans JP"/>
              </a:rPr>
              <a:t>低価格・高品質。
サイズバリエーションが豊富。</a:t>
            </a:r>
          </a:p>
        </p:txBody>
      </p:sp>
      <p:sp>
        <p:nvSpPr>
          <p:cNvPr id="11" name="TextBox 10"/>
          <p:cNvSpPr txBox="1"/>
          <p:nvPr/>
        </p:nvSpPr>
        <p:spPr>
          <a:xfrm>
            <a:off x="411480" y="5715000"/>
            <a:ext cx="411480" cy="566928"/>
          </a:xfrm>
          <a:prstGeom prst="rect">
            <a:avLst/>
          </a:prstGeom>
          <a:noFill/>
        </p:spPr>
        <p:txBody>
          <a:bodyPr wrap="square">
            <a:spAutoFit/>
          </a:bodyPr>
          <a:lstStyle/>
          <a:p>
            <a:pPr algn="l"/>
            <a:r>
              <a:rPr sz="1400" b="1" i="0">
                <a:solidFill>
                  <a:srgbClr val="888888"/>
                </a:solidFill>
                <a:latin typeface="Noto Sans JP"/>
              </a:rPr>
              <a:t>¥</a:t>
            </a:r>
          </a:p>
        </p:txBody>
      </p:sp>
      <p:sp>
        <p:nvSpPr>
          <p:cNvPr id="12" name="TextBox 11"/>
          <p:cNvSpPr txBox="1"/>
          <p:nvPr/>
        </p:nvSpPr>
        <p:spPr>
          <a:xfrm>
            <a:off x="777240" y="5559552"/>
            <a:ext cx="3246120" cy="658368"/>
          </a:xfrm>
          <a:prstGeom prst="rect">
            <a:avLst/>
          </a:prstGeom>
          <a:noFill/>
        </p:spPr>
        <p:txBody>
          <a:bodyPr wrap="square">
            <a:spAutoFit/>
          </a:bodyPr>
          <a:lstStyle/>
          <a:p>
            <a:pPr algn="l"/>
            <a:r>
              <a:rPr sz="2800" b="1" i="0">
                <a:solidFill>
                  <a:srgbClr val="111111"/>
                </a:solidFill>
                <a:latin typeface="Inter"/>
              </a:rPr>
              <a:t>7,490,000</a:t>
            </a:r>
          </a:p>
        </p:txBody>
      </p:sp>
      <p:sp>
        <p:nvSpPr>
          <p:cNvPr id="13" name="TextBox 12"/>
          <p:cNvSpPr txBox="1"/>
          <p:nvPr/>
        </p:nvSpPr>
        <p:spPr>
          <a:xfrm>
            <a:off x="777240" y="6217920"/>
            <a:ext cx="3246120" cy="274320"/>
          </a:xfrm>
          <a:prstGeom prst="rect">
            <a:avLst/>
          </a:prstGeom>
          <a:noFill/>
        </p:spPr>
        <p:txBody>
          <a:bodyPr wrap="square">
            <a:spAutoFit/>
          </a:bodyPr>
          <a:lstStyle/>
          <a:p>
            <a:pPr algn="l"/>
            <a:r>
              <a:rPr sz="1100" b="0" i="0">
                <a:solidFill>
                  <a:srgbClr val="888888"/>
                </a:solidFill>
                <a:latin typeface="Noto Sans JP"/>
              </a:rPr>
              <a:t>円〜（税抜）</a:t>
            </a:r>
          </a:p>
        </p:txBody>
      </p:sp>
      <p:cxnSp>
        <p:nvCxnSpPr>
          <p:cNvPr id="14" name="Connector 13"/>
          <p:cNvCxnSpPr/>
          <p:nvPr/>
        </p:nvCxnSpPr>
        <p:spPr>
          <a:xfrm>
            <a:off x="4279392" y="1417320"/>
            <a:ext cx="0" cy="516636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389120" y="1417320"/>
            <a:ext cx="3749039" cy="242316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0" y="2446020"/>
            <a:ext cx="3749039" cy="365760"/>
          </a:xfrm>
          <a:prstGeom prst="rect">
            <a:avLst/>
          </a:prstGeom>
          <a:noFill/>
        </p:spPr>
        <p:txBody>
          <a:bodyPr wrap="square">
            <a:spAutoFit/>
          </a:bodyPr>
          <a:lstStyle/>
          <a:p>
            <a:pPr algn="ctr"/>
            <a:r>
              <a:rPr sz="1000" b="0" i="0">
                <a:solidFill>
                  <a:srgbClr val="888888"/>
                </a:solidFill>
                <a:latin typeface="Noto Sans JP"/>
              </a:rPr>
              <a:t>[ 写真エリア ]</a:t>
            </a:r>
          </a:p>
        </p:txBody>
      </p:sp>
      <p:sp>
        <p:nvSpPr>
          <p:cNvPr id="17" name="Rectangle 16"/>
          <p:cNvSpPr/>
          <p:nvPr/>
        </p:nvSpPr>
        <p:spPr>
          <a:xfrm>
            <a:off x="4389120" y="3840480"/>
            <a:ext cx="3749039" cy="54864"/>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0" y="3950208"/>
            <a:ext cx="3657600" cy="475488"/>
          </a:xfrm>
          <a:prstGeom prst="rect">
            <a:avLst/>
          </a:prstGeom>
          <a:noFill/>
        </p:spPr>
        <p:txBody>
          <a:bodyPr wrap="square">
            <a:spAutoFit/>
          </a:bodyPr>
          <a:lstStyle/>
          <a:p>
            <a:pPr algn="l"/>
            <a:r>
              <a:rPr sz="1800" b="1" i="0">
                <a:solidFill>
                  <a:srgbClr val="111111"/>
                </a:solidFill>
                <a:latin typeface="Noto Sans JP"/>
              </a:rPr>
              <a:t>ROADIE</a:t>
            </a:r>
          </a:p>
        </p:txBody>
      </p:sp>
      <p:sp>
        <p:nvSpPr>
          <p:cNvPr id="19" name="TextBox 18"/>
          <p:cNvSpPr txBox="1"/>
          <p:nvPr/>
        </p:nvSpPr>
        <p:spPr>
          <a:xfrm>
            <a:off x="4389120" y="4425696"/>
            <a:ext cx="3657600" cy="320040"/>
          </a:xfrm>
          <a:prstGeom prst="rect">
            <a:avLst/>
          </a:prstGeom>
          <a:noFill/>
        </p:spPr>
        <p:txBody>
          <a:bodyPr wrap="square">
            <a:spAutoFit/>
          </a:bodyPr>
          <a:lstStyle/>
          <a:p>
            <a:pPr algn="l"/>
            <a:r>
              <a:rPr sz="1200" b="0" i="0">
                <a:solidFill>
                  <a:srgbClr val="888888"/>
                </a:solidFill>
                <a:latin typeface="Noto Sans JP"/>
              </a:rPr>
              <a:t>自然と繋がるモデル</a:t>
            </a:r>
          </a:p>
        </p:txBody>
      </p:sp>
      <p:sp>
        <p:nvSpPr>
          <p:cNvPr id="20" name="TextBox 19"/>
          <p:cNvSpPr txBox="1"/>
          <p:nvPr/>
        </p:nvSpPr>
        <p:spPr>
          <a:xfrm>
            <a:off x="4389120" y="4791456"/>
            <a:ext cx="3657600" cy="777240"/>
          </a:xfrm>
          <a:prstGeom prst="rect">
            <a:avLst/>
          </a:prstGeom>
          <a:noFill/>
        </p:spPr>
        <p:txBody>
          <a:bodyPr wrap="square">
            <a:spAutoFit/>
          </a:bodyPr>
          <a:lstStyle/>
          <a:p>
            <a:pPr algn="l"/>
            <a:r>
              <a:rPr sz="1200" b="0" i="0">
                <a:solidFill>
                  <a:srgbClr val="444444"/>
                </a:solidFill>
                <a:latin typeface="Noto Sans JP"/>
              </a:rPr>
              <a:t>周囲の自然とシームレスに繋がる
開放的デザイン。</a:t>
            </a:r>
          </a:p>
        </p:txBody>
      </p:sp>
      <p:sp>
        <p:nvSpPr>
          <p:cNvPr id="21" name="TextBox 20"/>
          <p:cNvSpPr txBox="1"/>
          <p:nvPr/>
        </p:nvSpPr>
        <p:spPr>
          <a:xfrm>
            <a:off x="4389120" y="5715000"/>
            <a:ext cx="411480" cy="566928"/>
          </a:xfrm>
          <a:prstGeom prst="rect">
            <a:avLst/>
          </a:prstGeom>
          <a:noFill/>
        </p:spPr>
        <p:txBody>
          <a:bodyPr wrap="square">
            <a:spAutoFit/>
          </a:bodyPr>
          <a:lstStyle/>
          <a:p>
            <a:pPr algn="l"/>
            <a:r>
              <a:rPr sz="1400" b="1" i="0">
                <a:solidFill>
                  <a:srgbClr val="888888"/>
                </a:solidFill>
                <a:latin typeface="Noto Sans JP"/>
              </a:rPr>
              <a:t>¥</a:t>
            </a:r>
          </a:p>
        </p:txBody>
      </p:sp>
      <p:sp>
        <p:nvSpPr>
          <p:cNvPr id="22" name="TextBox 21"/>
          <p:cNvSpPr txBox="1"/>
          <p:nvPr/>
        </p:nvSpPr>
        <p:spPr>
          <a:xfrm>
            <a:off x="4754880" y="5559552"/>
            <a:ext cx="3246120" cy="658368"/>
          </a:xfrm>
          <a:prstGeom prst="rect">
            <a:avLst/>
          </a:prstGeom>
          <a:noFill/>
        </p:spPr>
        <p:txBody>
          <a:bodyPr wrap="square">
            <a:spAutoFit/>
          </a:bodyPr>
          <a:lstStyle/>
          <a:p>
            <a:pPr algn="l"/>
            <a:r>
              <a:rPr sz="2800" b="1" i="0">
                <a:solidFill>
                  <a:srgbClr val="111111"/>
                </a:solidFill>
                <a:latin typeface="Inter"/>
              </a:rPr>
              <a:t>10,250,000</a:t>
            </a:r>
          </a:p>
        </p:txBody>
      </p:sp>
      <p:sp>
        <p:nvSpPr>
          <p:cNvPr id="23" name="TextBox 22"/>
          <p:cNvSpPr txBox="1"/>
          <p:nvPr/>
        </p:nvSpPr>
        <p:spPr>
          <a:xfrm>
            <a:off x="4754880" y="6217920"/>
            <a:ext cx="3246120" cy="274320"/>
          </a:xfrm>
          <a:prstGeom prst="rect">
            <a:avLst/>
          </a:prstGeom>
          <a:noFill/>
        </p:spPr>
        <p:txBody>
          <a:bodyPr wrap="square">
            <a:spAutoFit/>
          </a:bodyPr>
          <a:lstStyle/>
          <a:p>
            <a:pPr algn="l"/>
            <a:r>
              <a:rPr sz="1100" b="0" i="0">
                <a:solidFill>
                  <a:srgbClr val="888888"/>
                </a:solidFill>
                <a:latin typeface="Noto Sans JP"/>
              </a:rPr>
              <a:t>円〜（税抜）</a:t>
            </a:r>
          </a:p>
        </p:txBody>
      </p:sp>
      <p:cxnSp>
        <p:nvCxnSpPr>
          <p:cNvPr id="24" name="Connector 23"/>
          <p:cNvCxnSpPr/>
          <p:nvPr/>
        </p:nvCxnSpPr>
        <p:spPr>
          <a:xfrm>
            <a:off x="8257031" y="1417320"/>
            <a:ext cx="0" cy="516636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8366759" y="1417320"/>
            <a:ext cx="3749039" cy="242316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66759" y="2446020"/>
            <a:ext cx="3749039" cy="365760"/>
          </a:xfrm>
          <a:prstGeom prst="rect">
            <a:avLst/>
          </a:prstGeom>
          <a:noFill/>
        </p:spPr>
        <p:txBody>
          <a:bodyPr wrap="square">
            <a:spAutoFit/>
          </a:bodyPr>
          <a:lstStyle/>
          <a:p>
            <a:pPr algn="ctr"/>
            <a:r>
              <a:rPr sz="1000" b="0" i="0">
                <a:solidFill>
                  <a:srgbClr val="888888"/>
                </a:solidFill>
                <a:latin typeface="Noto Sans JP"/>
              </a:rPr>
              <a:t>[ 写真エリア ]</a:t>
            </a:r>
          </a:p>
        </p:txBody>
      </p:sp>
      <p:sp>
        <p:nvSpPr>
          <p:cNvPr id="27" name="Rectangle 26"/>
          <p:cNvSpPr/>
          <p:nvPr/>
        </p:nvSpPr>
        <p:spPr>
          <a:xfrm>
            <a:off x="8366759" y="3840480"/>
            <a:ext cx="3749039" cy="54864"/>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66759" y="3950208"/>
            <a:ext cx="3657600" cy="475488"/>
          </a:xfrm>
          <a:prstGeom prst="rect">
            <a:avLst/>
          </a:prstGeom>
          <a:noFill/>
        </p:spPr>
        <p:txBody>
          <a:bodyPr wrap="square">
            <a:spAutoFit/>
          </a:bodyPr>
          <a:lstStyle/>
          <a:p>
            <a:pPr algn="l"/>
            <a:r>
              <a:rPr sz="1800" b="1" i="0">
                <a:solidFill>
                  <a:srgbClr val="111111"/>
                </a:solidFill>
                <a:latin typeface="Noto Sans JP"/>
              </a:rPr>
              <a:t>MIGRA</a:t>
            </a:r>
          </a:p>
        </p:txBody>
      </p:sp>
      <p:sp>
        <p:nvSpPr>
          <p:cNvPr id="29" name="TextBox 28"/>
          <p:cNvSpPr txBox="1"/>
          <p:nvPr/>
        </p:nvSpPr>
        <p:spPr>
          <a:xfrm>
            <a:off x="8366759" y="4425696"/>
            <a:ext cx="3657600" cy="320040"/>
          </a:xfrm>
          <a:prstGeom prst="rect">
            <a:avLst/>
          </a:prstGeom>
          <a:noFill/>
        </p:spPr>
        <p:txBody>
          <a:bodyPr wrap="square">
            <a:spAutoFit/>
          </a:bodyPr>
          <a:lstStyle/>
          <a:p>
            <a:pPr algn="l"/>
            <a:r>
              <a:rPr sz="1200" b="0" i="0">
                <a:solidFill>
                  <a:srgbClr val="888888"/>
                </a:solidFill>
                <a:latin typeface="Noto Sans JP"/>
              </a:rPr>
              <a:t>上質な木造シリーズ</a:t>
            </a:r>
          </a:p>
        </p:txBody>
      </p:sp>
      <p:sp>
        <p:nvSpPr>
          <p:cNvPr id="30" name="TextBox 29"/>
          <p:cNvSpPr txBox="1"/>
          <p:nvPr/>
        </p:nvSpPr>
        <p:spPr>
          <a:xfrm>
            <a:off x="8366759" y="4791456"/>
            <a:ext cx="3657600" cy="777240"/>
          </a:xfrm>
          <a:prstGeom prst="rect">
            <a:avLst/>
          </a:prstGeom>
          <a:noFill/>
        </p:spPr>
        <p:txBody>
          <a:bodyPr wrap="square">
            <a:spAutoFit/>
          </a:bodyPr>
          <a:lstStyle/>
          <a:p>
            <a:pPr algn="l"/>
            <a:r>
              <a:rPr sz="1200" b="0" i="0">
                <a:solidFill>
                  <a:srgbClr val="444444"/>
                </a:solidFill>
                <a:latin typeface="Noto Sans JP"/>
              </a:rPr>
              <a:t>木の温かみと開放的リビング。
プレミアム体験を提供。</a:t>
            </a:r>
          </a:p>
        </p:txBody>
      </p:sp>
      <p:sp>
        <p:nvSpPr>
          <p:cNvPr id="31" name="TextBox 30"/>
          <p:cNvSpPr txBox="1"/>
          <p:nvPr/>
        </p:nvSpPr>
        <p:spPr>
          <a:xfrm>
            <a:off x="8366759" y="5715000"/>
            <a:ext cx="411480" cy="566928"/>
          </a:xfrm>
          <a:prstGeom prst="rect">
            <a:avLst/>
          </a:prstGeom>
          <a:noFill/>
        </p:spPr>
        <p:txBody>
          <a:bodyPr wrap="square">
            <a:spAutoFit/>
          </a:bodyPr>
          <a:lstStyle/>
          <a:p>
            <a:pPr algn="l"/>
            <a:r>
              <a:rPr sz="1400" b="1" i="0">
                <a:solidFill>
                  <a:srgbClr val="888888"/>
                </a:solidFill>
                <a:latin typeface="Noto Sans JP"/>
              </a:rPr>
              <a:t>¥</a:t>
            </a:r>
          </a:p>
        </p:txBody>
      </p:sp>
      <p:sp>
        <p:nvSpPr>
          <p:cNvPr id="32" name="TextBox 31"/>
          <p:cNvSpPr txBox="1"/>
          <p:nvPr/>
        </p:nvSpPr>
        <p:spPr>
          <a:xfrm>
            <a:off x="8732519" y="5559552"/>
            <a:ext cx="3246120" cy="658368"/>
          </a:xfrm>
          <a:prstGeom prst="rect">
            <a:avLst/>
          </a:prstGeom>
          <a:noFill/>
        </p:spPr>
        <p:txBody>
          <a:bodyPr wrap="square">
            <a:spAutoFit/>
          </a:bodyPr>
          <a:lstStyle/>
          <a:p>
            <a:pPr algn="l"/>
            <a:r>
              <a:rPr sz="2800" b="1" i="0">
                <a:solidFill>
                  <a:srgbClr val="111111"/>
                </a:solidFill>
                <a:latin typeface="Inter"/>
              </a:rPr>
              <a:t>9,950,000</a:t>
            </a:r>
          </a:p>
        </p:txBody>
      </p:sp>
      <p:sp>
        <p:nvSpPr>
          <p:cNvPr id="33" name="TextBox 32"/>
          <p:cNvSpPr txBox="1"/>
          <p:nvPr/>
        </p:nvSpPr>
        <p:spPr>
          <a:xfrm>
            <a:off x="8732519" y="6217920"/>
            <a:ext cx="3246120" cy="274320"/>
          </a:xfrm>
          <a:prstGeom prst="rect">
            <a:avLst/>
          </a:prstGeom>
          <a:noFill/>
        </p:spPr>
        <p:txBody>
          <a:bodyPr wrap="square">
            <a:spAutoFit/>
          </a:bodyPr>
          <a:lstStyle/>
          <a:p>
            <a:pPr algn="l"/>
            <a:r>
              <a:rPr sz="1100" b="0" i="0">
                <a:solidFill>
                  <a:srgbClr val="888888"/>
                </a:solidFill>
                <a:latin typeface="Noto Sans JP"/>
              </a:rPr>
              <a:t>円〜（税抜）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303520" cy="438912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011679"/>
            <a:ext cx="5303520" cy="365760"/>
          </a:xfrm>
          <a:prstGeom prst="rect">
            <a:avLst/>
          </a:prstGeom>
          <a:noFill/>
        </p:spPr>
        <p:txBody>
          <a:bodyPr wrap="square">
            <a:spAutoFit/>
          </a:bodyPr>
          <a:lstStyle/>
          <a:p>
            <a:pPr algn="ctr"/>
            <a:r>
              <a:rPr sz="1000" b="0" i="0">
                <a:solidFill>
                  <a:srgbClr val="888888"/>
                </a:solidFill>
                <a:latin typeface="Noto Sans JP"/>
              </a:rPr>
              <a:t>[ Tinys INSPIRATION メイン外観 ]</a:t>
            </a:r>
          </a:p>
        </p:txBody>
      </p:sp>
      <p:sp>
        <p:nvSpPr>
          <p:cNvPr id="4" name="Rectangle 3"/>
          <p:cNvSpPr/>
          <p:nvPr/>
        </p:nvSpPr>
        <p:spPr>
          <a:xfrm>
            <a:off x="0" y="4434840"/>
            <a:ext cx="2606040" cy="242316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5463540"/>
            <a:ext cx="2606040" cy="365760"/>
          </a:xfrm>
          <a:prstGeom prst="rect">
            <a:avLst/>
          </a:prstGeom>
          <a:noFill/>
        </p:spPr>
        <p:txBody>
          <a:bodyPr wrap="square">
            <a:spAutoFit/>
          </a:bodyPr>
          <a:lstStyle/>
          <a:p>
            <a:pPr algn="ctr"/>
            <a:r>
              <a:rPr sz="1000" b="0" i="0">
                <a:solidFill>
                  <a:srgbClr val="888888"/>
                </a:solidFill>
                <a:latin typeface="Noto Sans JP"/>
              </a:rPr>
              <a:t>[ 内観写真① ]</a:t>
            </a:r>
          </a:p>
        </p:txBody>
      </p:sp>
      <p:sp>
        <p:nvSpPr>
          <p:cNvPr id="6" name="Rectangle 5"/>
          <p:cNvSpPr/>
          <p:nvPr/>
        </p:nvSpPr>
        <p:spPr>
          <a:xfrm>
            <a:off x="2697480" y="4434840"/>
            <a:ext cx="2606040" cy="242316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97480" y="5463540"/>
            <a:ext cx="2606040" cy="365760"/>
          </a:xfrm>
          <a:prstGeom prst="rect">
            <a:avLst/>
          </a:prstGeom>
          <a:noFill/>
        </p:spPr>
        <p:txBody>
          <a:bodyPr wrap="square">
            <a:spAutoFit/>
          </a:bodyPr>
          <a:lstStyle/>
          <a:p>
            <a:pPr algn="ctr"/>
            <a:r>
              <a:rPr sz="1000" b="0" i="0">
                <a:solidFill>
                  <a:srgbClr val="888888"/>
                </a:solidFill>
                <a:latin typeface="Noto Sans JP"/>
              </a:rPr>
              <a:t>[ 内観写真② ]</a:t>
            </a:r>
          </a:p>
        </p:txBody>
      </p:sp>
      <p:sp>
        <p:nvSpPr>
          <p:cNvPr id="8" name="Rectangle 7"/>
          <p:cNvSpPr/>
          <p:nvPr/>
        </p:nvSpPr>
        <p:spPr>
          <a:xfrm>
            <a:off x="5303520" y="0"/>
            <a:ext cx="688543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03520" y="0"/>
            <a:ext cx="54864"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0" y="411480"/>
            <a:ext cx="6400800" cy="777240"/>
          </a:xfrm>
          <a:prstGeom prst="rect">
            <a:avLst/>
          </a:prstGeom>
          <a:noFill/>
        </p:spPr>
        <p:txBody>
          <a:bodyPr wrap="square">
            <a:spAutoFit/>
          </a:bodyPr>
          <a:lstStyle/>
          <a:p>
            <a:pPr algn="l"/>
            <a:r>
              <a:rPr sz="2800" b="1" i="0">
                <a:solidFill>
                  <a:srgbClr val="111111"/>
                </a:solidFill>
                <a:latin typeface="Noto Sans JP"/>
              </a:rPr>
              <a:t>Tinys INSPIRATION</a:t>
            </a:r>
          </a:p>
        </p:txBody>
      </p:sp>
      <p:sp>
        <p:nvSpPr>
          <p:cNvPr id="11" name="TextBox 10"/>
          <p:cNvSpPr txBox="1"/>
          <p:nvPr/>
        </p:nvSpPr>
        <p:spPr>
          <a:xfrm>
            <a:off x="5577840" y="1234440"/>
            <a:ext cx="6400800" cy="347472"/>
          </a:xfrm>
          <a:prstGeom prst="rect">
            <a:avLst/>
          </a:prstGeom>
          <a:noFill/>
        </p:spPr>
        <p:txBody>
          <a:bodyPr wrap="square">
            <a:spAutoFit/>
          </a:bodyPr>
          <a:lstStyle/>
          <a:p>
            <a:pPr algn="l"/>
            <a:r>
              <a:rPr sz="1400" b="0" i="0">
                <a:solidFill>
                  <a:srgbClr val="888888"/>
                </a:solidFill>
                <a:latin typeface="Noto Sans JP"/>
              </a:rPr>
              <a:t>定番ベーシックモデル</a:t>
            </a:r>
          </a:p>
        </p:txBody>
      </p:sp>
      <p:cxnSp>
        <p:nvCxnSpPr>
          <p:cNvPr id="12" name="Connector 11"/>
          <p:cNvCxnSpPr/>
          <p:nvPr/>
        </p:nvCxnSpPr>
        <p:spPr>
          <a:xfrm>
            <a:off x="5577840" y="1691640"/>
            <a:ext cx="64008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577840" y="1828800"/>
            <a:ext cx="6400800" cy="685800"/>
          </a:xfrm>
          <a:prstGeom prst="rect">
            <a:avLst/>
          </a:prstGeom>
          <a:noFill/>
        </p:spPr>
        <p:txBody>
          <a:bodyPr wrap="square">
            <a:spAutoFit/>
          </a:bodyPr>
          <a:lstStyle/>
          <a:p>
            <a:pPr algn="l"/>
            <a:r>
              <a:rPr sz="1300" b="0" i="0">
                <a:solidFill>
                  <a:srgbClr val="444444"/>
                </a:solidFill>
                <a:latin typeface="Noto Sans JP"/>
              </a:rPr>
              <a:t>低価格・高品質。用途に合わせたサイズバリエーションと
寒冷地仕様を展開。</a:t>
            </a:r>
          </a:p>
        </p:txBody>
      </p:sp>
      <p:cxnSp>
        <p:nvCxnSpPr>
          <p:cNvPr id="14" name="Connector 13"/>
          <p:cNvCxnSpPr/>
          <p:nvPr/>
        </p:nvCxnSpPr>
        <p:spPr>
          <a:xfrm>
            <a:off x="5577840" y="2633472"/>
            <a:ext cx="64008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577840" y="2761488"/>
            <a:ext cx="6400800" cy="320040"/>
          </a:xfrm>
          <a:prstGeom prst="rect">
            <a:avLst/>
          </a:prstGeom>
          <a:noFill/>
        </p:spPr>
        <p:txBody>
          <a:bodyPr wrap="square">
            <a:spAutoFit/>
          </a:bodyPr>
          <a:lstStyle/>
          <a:p>
            <a:pPr algn="l"/>
            <a:r>
              <a:rPr sz="1200" b="1" i="0">
                <a:solidFill>
                  <a:srgbClr val="888888"/>
                </a:solidFill>
                <a:latin typeface="Noto Sans JP"/>
              </a:rPr>
              <a:t>税抜価格</a:t>
            </a:r>
          </a:p>
        </p:txBody>
      </p:sp>
      <p:sp>
        <p:nvSpPr>
          <p:cNvPr id="16" name="Rectangle 15"/>
          <p:cNvSpPr/>
          <p:nvPr/>
        </p:nvSpPr>
        <p:spPr>
          <a:xfrm>
            <a:off x="5577840" y="3154680"/>
            <a:ext cx="6355080" cy="658368"/>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87568" y="3227832"/>
            <a:ext cx="1920240" cy="292608"/>
          </a:xfrm>
          <a:prstGeom prst="rect">
            <a:avLst/>
          </a:prstGeom>
          <a:noFill/>
        </p:spPr>
        <p:txBody>
          <a:bodyPr wrap="square">
            <a:spAutoFit/>
          </a:bodyPr>
          <a:lstStyle/>
          <a:p>
            <a:pPr algn="l"/>
            <a:r>
              <a:rPr sz="1200" b="1" i="0">
                <a:solidFill>
                  <a:srgbClr val="111111"/>
                </a:solidFill>
                <a:latin typeface="Noto Sans JP"/>
              </a:rPr>
              <a:t>6m モデル</a:t>
            </a:r>
          </a:p>
        </p:txBody>
      </p:sp>
      <p:sp>
        <p:nvSpPr>
          <p:cNvPr id="18" name="TextBox 17"/>
          <p:cNvSpPr txBox="1"/>
          <p:nvPr/>
        </p:nvSpPr>
        <p:spPr>
          <a:xfrm>
            <a:off x="5687568" y="3520440"/>
            <a:ext cx="2286000" cy="228600"/>
          </a:xfrm>
          <a:prstGeom prst="rect">
            <a:avLst/>
          </a:prstGeom>
          <a:noFill/>
        </p:spPr>
        <p:txBody>
          <a:bodyPr wrap="square">
            <a:spAutoFit/>
          </a:bodyPr>
          <a:lstStyle/>
          <a:p>
            <a:pPr algn="l"/>
            <a:r>
              <a:rPr sz="1000" b="0" i="0">
                <a:solidFill>
                  <a:srgbClr val="888888"/>
                </a:solidFill>
                <a:latin typeface="Noto Sans JP"/>
              </a:rPr>
              <a:t>全長6000 × 全幅2380mm</a:t>
            </a:r>
          </a:p>
        </p:txBody>
      </p:sp>
      <p:sp>
        <p:nvSpPr>
          <p:cNvPr id="19" name="TextBox 18"/>
          <p:cNvSpPr txBox="1"/>
          <p:nvPr/>
        </p:nvSpPr>
        <p:spPr>
          <a:xfrm>
            <a:off x="7909560" y="3291840"/>
            <a:ext cx="3886200" cy="347472"/>
          </a:xfrm>
          <a:prstGeom prst="rect">
            <a:avLst/>
          </a:prstGeom>
          <a:noFill/>
        </p:spPr>
        <p:txBody>
          <a:bodyPr wrap="square">
            <a:spAutoFit/>
          </a:bodyPr>
          <a:lstStyle/>
          <a:p>
            <a:pPr algn="r"/>
            <a:r>
              <a:rPr sz="1700" b="1" i="0">
                <a:solidFill>
                  <a:srgbClr val="111111"/>
                </a:solidFill>
                <a:latin typeface="Inter"/>
              </a:rPr>
              <a:t>¥7,490,000〜</a:t>
            </a:r>
          </a:p>
        </p:txBody>
      </p:sp>
      <p:sp>
        <p:nvSpPr>
          <p:cNvPr id="20" name="Rectangle 19"/>
          <p:cNvSpPr/>
          <p:nvPr/>
        </p:nvSpPr>
        <p:spPr>
          <a:xfrm>
            <a:off x="5577840" y="3867912"/>
            <a:ext cx="6355080" cy="658368"/>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87568" y="3941064"/>
            <a:ext cx="1920240" cy="292608"/>
          </a:xfrm>
          <a:prstGeom prst="rect">
            <a:avLst/>
          </a:prstGeom>
          <a:noFill/>
        </p:spPr>
        <p:txBody>
          <a:bodyPr wrap="square">
            <a:spAutoFit/>
          </a:bodyPr>
          <a:lstStyle/>
          <a:p>
            <a:pPr algn="l"/>
            <a:r>
              <a:rPr sz="1200" b="1" i="0">
                <a:solidFill>
                  <a:srgbClr val="111111"/>
                </a:solidFill>
                <a:latin typeface="Noto Sans JP"/>
              </a:rPr>
              <a:t>7.2m モデル</a:t>
            </a:r>
          </a:p>
        </p:txBody>
      </p:sp>
      <p:sp>
        <p:nvSpPr>
          <p:cNvPr id="22" name="TextBox 21"/>
          <p:cNvSpPr txBox="1"/>
          <p:nvPr/>
        </p:nvSpPr>
        <p:spPr>
          <a:xfrm>
            <a:off x="5687568" y="4233672"/>
            <a:ext cx="2286000" cy="228600"/>
          </a:xfrm>
          <a:prstGeom prst="rect">
            <a:avLst/>
          </a:prstGeom>
          <a:noFill/>
        </p:spPr>
        <p:txBody>
          <a:bodyPr wrap="square">
            <a:spAutoFit/>
          </a:bodyPr>
          <a:lstStyle/>
          <a:p>
            <a:pPr algn="l"/>
            <a:r>
              <a:rPr sz="1000" b="0" i="0">
                <a:solidFill>
                  <a:srgbClr val="888888"/>
                </a:solidFill>
                <a:latin typeface="Noto Sans JP"/>
              </a:rPr>
              <a:t>全長7200 × 全幅2380mm</a:t>
            </a:r>
          </a:p>
        </p:txBody>
      </p:sp>
      <p:sp>
        <p:nvSpPr>
          <p:cNvPr id="23" name="TextBox 22"/>
          <p:cNvSpPr txBox="1"/>
          <p:nvPr/>
        </p:nvSpPr>
        <p:spPr>
          <a:xfrm>
            <a:off x="7909560" y="4005072"/>
            <a:ext cx="3886200" cy="347472"/>
          </a:xfrm>
          <a:prstGeom prst="rect">
            <a:avLst/>
          </a:prstGeom>
          <a:noFill/>
        </p:spPr>
        <p:txBody>
          <a:bodyPr wrap="square">
            <a:spAutoFit/>
          </a:bodyPr>
          <a:lstStyle/>
          <a:p>
            <a:pPr algn="r"/>
            <a:r>
              <a:rPr sz="1700" b="1" i="0">
                <a:solidFill>
                  <a:srgbClr val="111111"/>
                </a:solidFill>
                <a:latin typeface="Inter"/>
              </a:rPr>
              <a:t>¥7,990,000〜</a:t>
            </a:r>
          </a:p>
        </p:txBody>
      </p:sp>
      <p:sp>
        <p:nvSpPr>
          <p:cNvPr id="24" name="Rectangle 23"/>
          <p:cNvSpPr/>
          <p:nvPr/>
        </p:nvSpPr>
        <p:spPr>
          <a:xfrm>
            <a:off x="5577840" y="4581144"/>
            <a:ext cx="6355080" cy="658368"/>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87568" y="4654296"/>
            <a:ext cx="1920240" cy="292608"/>
          </a:xfrm>
          <a:prstGeom prst="rect">
            <a:avLst/>
          </a:prstGeom>
          <a:noFill/>
        </p:spPr>
        <p:txBody>
          <a:bodyPr wrap="square">
            <a:spAutoFit/>
          </a:bodyPr>
          <a:lstStyle/>
          <a:p>
            <a:pPr algn="l"/>
            <a:r>
              <a:rPr sz="1200" b="1" i="0">
                <a:solidFill>
                  <a:srgbClr val="111111"/>
                </a:solidFill>
                <a:latin typeface="Noto Sans JP"/>
              </a:rPr>
              <a:t>9m モデル</a:t>
            </a:r>
          </a:p>
        </p:txBody>
      </p:sp>
      <p:sp>
        <p:nvSpPr>
          <p:cNvPr id="26" name="TextBox 25"/>
          <p:cNvSpPr txBox="1"/>
          <p:nvPr/>
        </p:nvSpPr>
        <p:spPr>
          <a:xfrm>
            <a:off x="5687568" y="4946904"/>
            <a:ext cx="2286000" cy="228600"/>
          </a:xfrm>
          <a:prstGeom prst="rect">
            <a:avLst/>
          </a:prstGeom>
          <a:noFill/>
        </p:spPr>
        <p:txBody>
          <a:bodyPr wrap="square">
            <a:spAutoFit/>
          </a:bodyPr>
          <a:lstStyle/>
          <a:p>
            <a:pPr algn="l"/>
            <a:r>
              <a:rPr sz="1000" b="0" i="0">
                <a:solidFill>
                  <a:srgbClr val="888888"/>
                </a:solidFill>
                <a:latin typeface="Noto Sans JP"/>
              </a:rPr>
              <a:t>全長9000 × 全幅2380mm</a:t>
            </a:r>
          </a:p>
        </p:txBody>
      </p:sp>
      <p:sp>
        <p:nvSpPr>
          <p:cNvPr id="27" name="TextBox 26"/>
          <p:cNvSpPr txBox="1"/>
          <p:nvPr/>
        </p:nvSpPr>
        <p:spPr>
          <a:xfrm>
            <a:off x="7909560" y="4718304"/>
            <a:ext cx="3886200" cy="347472"/>
          </a:xfrm>
          <a:prstGeom prst="rect">
            <a:avLst/>
          </a:prstGeom>
          <a:noFill/>
        </p:spPr>
        <p:txBody>
          <a:bodyPr wrap="square">
            <a:spAutoFit/>
          </a:bodyPr>
          <a:lstStyle/>
          <a:p>
            <a:pPr algn="r"/>
            <a:r>
              <a:rPr sz="1700" b="1" i="0">
                <a:solidFill>
                  <a:srgbClr val="111111"/>
                </a:solidFill>
                <a:latin typeface="Inter"/>
              </a:rPr>
              <a:t>¥8,780,000〜</a:t>
            </a:r>
          </a:p>
        </p:txBody>
      </p:sp>
      <p:sp>
        <p:nvSpPr>
          <p:cNvPr id="28" name="Rectangle 27"/>
          <p:cNvSpPr/>
          <p:nvPr/>
        </p:nvSpPr>
        <p:spPr>
          <a:xfrm>
            <a:off x="5577840" y="5294376"/>
            <a:ext cx="6355080" cy="658368"/>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87568" y="5367528"/>
            <a:ext cx="1920240" cy="292608"/>
          </a:xfrm>
          <a:prstGeom prst="rect">
            <a:avLst/>
          </a:prstGeom>
          <a:noFill/>
        </p:spPr>
        <p:txBody>
          <a:bodyPr wrap="square">
            <a:spAutoFit/>
          </a:bodyPr>
          <a:lstStyle/>
          <a:p>
            <a:pPr algn="l"/>
            <a:r>
              <a:rPr sz="1200" b="1" i="0">
                <a:solidFill>
                  <a:srgbClr val="111111"/>
                </a:solidFill>
                <a:latin typeface="Noto Sans JP"/>
              </a:rPr>
              <a:t>寒冷地モデル</a:t>
            </a:r>
          </a:p>
        </p:txBody>
      </p:sp>
      <p:sp>
        <p:nvSpPr>
          <p:cNvPr id="30" name="TextBox 29"/>
          <p:cNvSpPr txBox="1"/>
          <p:nvPr/>
        </p:nvSpPr>
        <p:spPr>
          <a:xfrm>
            <a:off x="5687568" y="5660136"/>
            <a:ext cx="2286000" cy="228600"/>
          </a:xfrm>
          <a:prstGeom prst="rect">
            <a:avLst/>
          </a:prstGeom>
          <a:noFill/>
        </p:spPr>
        <p:txBody>
          <a:bodyPr wrap="square">
            <a:spAutoFit/>
          </a:bodyPr>
          <a:lstStyle/>
          <a:p>
            <a:pPr algn="l"/>
            <a:r>
              <a:rPr sz="1000" b="0" i="0">
                <a:solidFill>
                  <a:srgbClr val="888888"/>
                </a:solidFill>
                <a:latin typeface="Noto Sans JP"/>
              </a:rPr>
              <a:t>高断熱仕様・片流れ屋根</a:t>
            </a:r>
          </a:p>
        </p:txBody>
      </p:sp>
      <p:sp>
        <p:nvSpPr>
          <p:cNvPr id="31" name="TextBox 30"/>
          <p:cNvSpPr txBox="1"/>
          <p:nvPr/>
        </p:nvSpPr>
        <p:spPr>
          <a:xfrm>
            <a:off x="7909560" y="5431536"/>
            <a:ext cx="3886200" cy="347472"/>
          </a:xfrm>
          <a:prstGeom prst="rect">
            <a:avLst/>
          </a:prstGeom>
          <a:noFill/>
        </p:spPr>
        <p:txBody>
          <a:bodyPr wrap="square">
            <a:spAutoFit/>
          </a:bodyPr>
          <a:lstStyle/>
          <a:p>
            <a:pPr algn="r"/>
            <a:r>
              <a:rPr sz="1700" b="1" i="0">
                <a:solidFill>
                  <a:srgbClr val="111111"/>
                </a:solidFill>
                <a:latin typeface="Inter"/>
              </a:rPr>
              <a:t>¥8,000,000〜</a:t>
            </a:r>
          </a:p>
        </p:txBody>
      </p:sp>
      <p:cxnSp>
        <p:nvCxnSpPr>
          <p:cNvPr id="32" name="Connector 31"/>
          <p:cNvCxnSpPr/>
          <p:nvPr/>
        </p:nvCxnSpPr>
        <p:spPr>
          <a:xfrm>
            <a:off x="5577840" y="6080760"/>
            <a:ext cx="64008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577840" y="6190488"/>
            <a:ext cx="6400800" cy="347472"/>
          </a:xfrm>
          <a:prstGeom prst="rect">
            <a:avLst/>
          </a:prstGeom>
          <a:noFill/>
        </p:spPr>
        <p:txBody>
          <a:bodyPr wrap="square">
            <a:spAutoFit/>
          </a:bodyPr>
          <a:lstStyle/>
          <a:p>
            <a:pPr algn="l"/>
            <a:r>
              <a:rPr sz="1100" b="0" i="0">
                <a:solidFill>
                  <a:srgbClr val="888888"/>
                </a:solidFill>
                <a:latin typeface="Noto Sans JP"/>
              </a:rPr>
              <a:t>用途：グランピング宿泊棟 ／ サテライトオフィス ／ 店舗・受付 ／ セカンドハウス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Noto Sans JP"/>
              </a:rPr>
              <a:t>ROADIE &amp; ROADIE mini</a:t>
            </a:r>
          </a:p>
        </p:txBody>
      </p:sp>
      <p:sp>
        <p:nvSpPr>
          <p:cNvPr id="4" name="TextBox 3"/>
          <p:cNvSpPr txBox="1"/>
          <p:nvPr/>
        </p:nvSpPr>
        <p:spPr>
          <a:xfrm>
            <a:off x="228600" y="868680"/>
            <a:ext cx="8229600" cy="347472"/>
          </a:xfrm>
          <a:prstGeom prst="rect">
            <a:avLst/>
          </a:prstGeom>
          <a:noFill/>
        </p:spPr>
        <p:txBody>
          <a:bodyPr wrap="square">
            <a:spAutoFit/>
          </a:bodyPr>
          <a:lstStyle/>
          <a:p>
            <a:pPr algn="l"/>
            <a:r>
              <a:rPr sz="1300" b="0" i="0">
                <a:solidFill>
                  <a:srgbClr val="888888"/>
                </a:solidFill>
                <a:latin typeface="Noto Sans JP"/>
              </a:rPr>
              <a:t>自然と繋がるモデル</a:t>
            </a:r>
          </a:p>
        </p:txBody>
      </p:sp>
      <p:cxnSp>
        <p:nvCxnSpPr>
          <p:cNvPr id="5" name="Connector 4"/>
          <p:cNvCxnSpPr/>
          <p:nvPr/>
        </p:nvCxnSpPr>
        <p:spPr>
          <a:xfrm>
            <a:off x="228600" y="1298448"/>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11480" y="1463040"/>
            <a:ext cx="5486400" cy="233172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2446020"/>
            <a:ext cx="5486400" cy="365760"/>
          </a:xfrm>
          <a:prstGeom prst="rect">
            <a:avLst/>
          </a:prstGeom>
          <a:noFill/>
        </p:spPr>
        <p:txBody>
          <a:bodyPr wrap="square">
            <a:spAutoFit/>
          </a:bodyPr>
          <a:lstStyle/>
          <a:p>
            <a:pPr algn="ctr"/>
            <a:r>
              <a:rPr sz="1000" b="0" i="0">
                <a:solidFill>
                  <a:srgbClr val="888888"/>
                </a:solidFill>
                <a:latin typeface="Noto Sans JP"/>
              </a:rPr>
              <a:t>[ ROADIE 外観写真 ]</a:t>
            </a:r>
          </a:p>
        </p:txBody>
      </p:sp>
      <p:sp>
        <p:nvSpPr>
          <p:cNvPr id="8" name="TextBox 7"/>
          <p:cNvSpPr txBox="1"/>
          <p:nvPr/>
        </p:nvSpPr>
        <p:spPr>
          <a:xfrm>
            <a:off x="6400800" y="1508760"/>
            <a:ext cx="5303520" cy="640080"/>
          </a:xfrm>
          <a:prstGeom prst="rect">
            <a:avLst/>
          </a:prstGeom>
          <a:noFill/>
        </p:spPr>
        <p:txBody>
          <a:bodyPr wrap="square">
            <a:spAutoFit/>
          </a:bodyPr>
          <a:lstStyle/>
          <a:p>
            <a:pPr algn="l"/>
            <a:r>
              <a:rPr sz="3000" b="1" i="0">
                <a:solidFill>
                  <a:srgbClr val="111111"/>
                </a:solidFill>
                <a:latin typeface="Noto Sans JP"/>
              </a:rPr>
              <a:t>ROADIE</a:t>
            </a:r>
          </a:p>
        </p:txBody>
      </p:sp>
      <p:sp>
        <p:nvSpPr>
          <p:cNvPr id="9" name="TextBox 8"/>
          <p:cNvSpPr txBox="1"/>
          <p:nvPr/>
        </p:nvSpPr>
        <p:spPr>
          <a:xfrm>
            <a:off x="6400800" y="2194560"/>
            <a:ext cx="5303520" cy="658368"/>
          </a:xfrm>
          <a:prstGeom prst="rect">
            <a:avLst/>
          </a:prstGeom>
          <a:noFill/>
        </p:spPr>
        <p:txBody>
          <a:bodyPr wrap="square">
            <a:spAutoFit/>
          </a:bodyPr>
          <a:lstStyle/>
          <a:p>
            <a:pPr algn="l"/>
            <a:r>
              <a:rPr sz="1300" b="0" i="0">
                <a:solidFill>
                  <a:srgbClr val="444444"/>
                </a:solidFill>
                <a:latin typeface="Noto Sans JP"/>
              </a:rPr>
              <a:t>自然と一体化するシームレスデザイン。
キャンプ場・リゾート施設に最適。</a:t>
            </a:r>
          </a:p>
        </p:txBody>
      </p:sp>
      <p:sp>
        <p:nvSpPr>
          <p:cNvPr id="10" name="TextBox 9"/>
          <p:cNvSpPr txBox="1"/>
          <p:nvPr/>
        </p:nvSpPr>
        <p:spPr>
          <a:xfrm>
            <a:off x="6400800" y="2907792"/>
            <a:ext cx="5029200" cy="594360"/>
          </a:xfrm>
          <a:prstGeom prst="rect">
            <a:avLst/>
          </a:prstGeom>
          <a:noFill/>
        </p:spPr>
        <p:txBody>
          <a:bodyPr wrap="square">
            <a:spAutoFit/>
          </a:bodyPr>
          <a:lstStyle/>
          <a:p>
            <a:pPr algn="l"/>
            <a:r>
              <a:rPr sz="2600" b="1" i="0">
                <a:solidFill>
                  <a:srgbClr val="111111"/>
                </a:solidFill>
                <a:latin typeface="Inter"/>
              </a:rPr>
              <a:t>¥10,250,000〜</a:t>
            </a:r>
          </a:p>
        </p:txBody>
      </p:sp>
      <p:sp>
        <p:nvSpPr>
          <p:cNvPr id="11" name="TextBox 10"/>
          <p:cNvSpPr txBox="1"/>
          <p:nvPr/>
        </p:nvSpPr>
        <p:spPr>
          <a:xfrm>
            <a:off x="6400800" y="3520440"/>
            <a:ext cx="5029200" cy="347472"/>
          </a:xfrm>
          <a:prstGeom prst="rect">
            <a:avLst/>
          </a:prstGeom>
          <a:noFill/>
        </p:spPr>
        <p:txBody>
          <a:bodyPr wrap="square">
            <a:spAutoFit/>
          </a:bodyPr>
          <a:lstStyle/>
          <a:p>
            <a:pPr algn="l"/>
            <a:r>
              <a:rPr sz="1300" b="0" i="0">
                <a:solidFill>
                  <a:srgbClr val="888888"/>
                </a:solidFill>
                <a:latin typeface="Noto Sans JP"/>
              </a:rPr>
              <a:t>寒冷地モデル　¥10,350,000〜</a:t>
            </a:r>
          </a:p>
        </p:txBody>
      </p:sp>
      <p:cxnSp>
        <p:nvCxnSpPr>
          <p:cNvPr id="12" name="Connector 11"/>
          <p:cNvCxnSpPr/>
          <p:nvPr/>
        </p:nvCxnSpPr>
        <p:spPr>
          <a:xfrm>
            <a:off x="411480" y="4005072"/>
            <a:ext cx="1133856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11480" y="4187952"/>
            <a:ext cx="2743200" cy="237744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5193792"/>
            <a:ext cx="2743200" cy="365760"/>
          </a:xfrm>
          <a:prstGeom prst="rect">
            <a:avLst/>
          </a:prstGeom>
          <a:noFill/>
        </p:spPr>
        <p:txBody>
          <a:bodyPr wrap="square">
            <a:spAutoFit/>
          </a:bodyPr>
          <a:lstStyle/>
          <a:p>
            <a:pPr algn="ctr"/>
            <a:r>
              <a:rPr sz="1000" b="0" i="0">
                <a:solidFill>
                  <a:srgbClr val="888888"/>
                </a:solidFill>
                <a:latin typeface="Noto Sans JP"/>
              </a:rPr>
              <a:t>[ ROADIE mini 外観・平面図
3.2m×2m / 6.51㎡ ]</a:t>
            </a:r>
          </a:p>
        </p:txBody>
      </p:sp>
      <p:sp>
        <p:nvSpPr>
          <p:cNvPr id="15" name="TextBox 14"/>
          <p:cNvSpPr txBox="1"/>
          <p:nvPr/>
        </p:nvSpPr>
        <p:spPr>
          <a:xfrm>
            <a:off x="3429000" y="4224528"/>
            <a:ext cx="5029200" cy="594360"/>
          </a:xfrm>
          <a:prstGeom prst="rect">
            <a:avLst/>
          </a:prstGeom>
          <a:noFill/>
        </p:spPr>
        <p:txBody>
          <a:bodyPr wrap="square">
            <a:spAutoFit/>
          </a:bodyPr>
          <a:lstStyle/>
          <a:p>
            <a:pPr algn="l"/>
            <a:r>
              <a:rPr sz="2400" b="1" i="0">
                <a:solidFill>
                  <a:srgbClr val="111111"/>
                </a:solidFill>
                <a:latin typeface="Noto Sans JP"/>
              </a:rPr>
              <a:t>ROADIE mini</a:t>
            </a:r>
          </a:p>
        </p:txBody>
      </p:sp>
      <p:sp>
        <p:nvSpPr>
          <p:cNvPr id="16" name="TextBox 15"/>
          <p:cNvSpPr txBox="1"/>
          <p:nvPr/>
        </p:nvSpPr>
        <p:spPr>
          <a:xfrm>
            <a:off x="3429000" y="4846320"/>
            <a:ext cx="5029200" cy="658368"/>
          </a:xfrm>
          <a:prstGeom prst="rect">
            <a:avLst/>
          </a:prstGeom>
          <a:noFill/>
        </p:spPr>
        <p:txBody>
          <a:bodyPr wrap="square">
            <a:spAutoFit/>
          </a:bodyPr>
          <a:lstStyle/>
          <a:p>
            <a:pPr algn="l"/>
            <a:r>
              <a:rPr sz="1300" b="0" i="0">
                <a:solidFill>
                  <a:srgbClr val="444444"/>
                </a:solidFill>
                <a:latin typeface="Noto Sans JP"/>
              </a:rPr>
              <a:t>牽引免許不要の小型トレーラー（面積6.51㎡）。
多目的にアレンジ可能な広々フラットタイプ。</a:t>
            </a:r>
          </a:p>
        </p:txBody>
      </p:sp>
      <p:sp>
        <p:nvSpPr>
          <p:cNvPr id="17" name="TextBox 16"/>
          <p:cNvSpPr txBox="1"/>
          <p:nvPr/>
        </p:nvSpPr>
        <p:spPr>
          <a:xfrm>
            <a:off x="3429000" y="5559552"/>
            <a:ext cx="5029200" cy="566928"/>
          </a:xfrm>
          <a:prstGeom prst="rect">
            <a:avLst/>
          </a:prstGeom>
          <a:noFill/>
        </p:spPr>
        <p:txBody>
          <a:bodyPr wrap="square">
            <a:spAutoFit/>
          </a:bodyPr>
          <a:lstStyle/>
          <a:p>
            <a:pPr algn="l"/>
            <a:r>
              <a:rPr sz="2600" b="1" i="0">
                <a:solidFill>
                  <a:srgbClr val="111111"/>
                </a:solidFill>
                <a:latin typeface="Inter"/>
              </a:rPr>
              <a:t>¥3,700,000〜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943600" cy="438912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011679"/>
            <a:ext cx="5943600" cy="365760"/>
          </a:xfrm>
          <a:prstGeom prst="rect">
            <a:avLst/>
          </a:prstGeom>
          <a:noFill/>
        </p:spPr>
        <p:txBody>
          <a:bodyPr wrap="square">
            <a:spAutoFit/>
          </a:bodyPr>
          <a:lstStyle/>
          <a:p>
            <a:pPr algn="ctr"/>
            <a:r>
              <a:rPr sz="1000" b="0" i="0">
                <a:solidFill>
                  <a:srgbClr val="888888"/>
                </a:solidFill>
                <a:latin typeface="Noto Sans JP"/>
              </a:rPr>
              <a:t>[ MIGRA 外観写真 — 木の温かみ ]</a:t>
            </a:r>
          </a:p>
        </p:txBody>
      </p:sp>
      <p:sp>
        <p:nvSpPr>
          <p:cNvPr id="4" name="Rectangle 3"/>
          <p:cNvSpPr/>
          <p:nvPr/>
        </p:nvSpPr>
        <p:spPr>
          <a:xfrm>
            <a:off x="0" y="4434840"/>
            <a:ext cx="2926080" cy="242316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5463540"/>
            <a:ext cx="2926080" cy="365760"/>
          </a:xfrm>
          <a:prstGeom prst="rect">
            <a:avLst/>
          </a:prstGeom>
          <a:noFill/>
        </p:spPr>
        <p:txBody>
          <a:bodyPr wrap="square">
            <a:spAutoFit/>
          </a:bodyPr>
          <a:lstStyle/>
          <a:p>
            <a:pPr algn="ctr"/>
            <a:r>
              <a:rPr sz="1000" b="0" i="0">
                <a:solidFill>
                  <a:srgbClr val="888888"/>
                </a:solidFill>
                <a:latin typeface="Noto Sans JP"/>
              </a:rPr>
              <a:t>[ MIGRA 内装・木材写真 ]</a:t>
            </a:r>
          </a:p>
        </p:txBody>
      </p:sp>
      <p:sp>
        <p:nvSpPr>
          <p:cNvPr id="6" name="Rectangle 5"/>
          <p:cNvSpPr/>
          <p:nvPr/>
        </p:nvSpPr>
        <p:spPr>
          <a:xfrm>
            <a:off x="2971800" y="4434840"/>
            <a:ext cx="2971800" cy="242316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71800" y="5463540"/>
            <a:ext cx="2971800" cy="365760"/>
          </a:xfrm>
          <a:prstGeom prst="rect">
            <a:avLst/>
          </a:prstGeom>
          <a:noFill/>
        </p:spPr>
        <p:txBody>
          <a:bodyPr wrap="square">
            <a:spAutoFit/>
          </a:bodyPr>
          <a:lstStyle/>
          <a:p>
            <a:pPr algn="ctr"/>
            <a:r>
              <a:rPr sz="1000" b="0" i="0">
                <a:solidFill>
                  <a:srgbClr val="888888"/>
                </a:solidFill>
                <a:latin typeface="Noto Sans JP"/>
              </a:rPr>
              <a:t>[ MIGRA 内装・リビング写真 ]</a:t>
            </a:r>
          </a:p>
        </p:txBody>
      </p:sp>
      <p:sp>
        <p:nvSpPr>
          <p:cNvPr id="8" name="Rectangle 7"/>
          <p:cNvSpPr/>
          <p:nvPr/>
        </p:nvSpPr>
        <p:spPr>
          <a:xfrm>
            <a:off x="5943600" y="0"/>
            <a:ext cx="62453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0" y="0"/>
            <a:ext cx="54864"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411480"/>
            <a:ext cx="5760720" cy="841248"/>
          </a:xfrm>
          <a:prstGeom prst="rect">
            <a:avLst/>
          </a:prstGeom>
          <a:noFill/>
        </p:spPr>
        <p:txBody>
          <a:bodyPr wrap="square">
            <a:spAutoFit/>
          </a:bodyPr>
          <a:lstStyle/>
          <a:p>
            <a:pPr algn="l"/>
            <a:r>
              <a:rPr sz="4400" b="1" i="0">
                <a:solidFill>
                  <a:srgbClr val="111111"/>
                </a:solidFill>
                <a:latin typeface="Noto Sans JP"/>
              </a:rPr>
              <a:t>MIGRA</a:t>
            </a:r>
          </a:p>
        </p:txBody>
      </p:sp>
      <p:sp>
        <p:nvSpPr>
          <p:cNvPr id="11" name="TextBox 10"/>
          <p:cNvSpPr txBox="1"/>
          <p:nvPr/>
        </p:nvSpPr>
        <p:spPr>
          <a:xfrm>
            <a:off x="6217920" y="1298448"/>
            <a:ext cx="5760720" cy="411480"/>
          </a:xfrm>
          <a:prstGeom prst="rect">
            <a:avLst/>
          </a:prstGeom>
          <a:noFill/>
        </p:spPr>
        <p:txBody>
          <a:bodyPr wrap="square">
            <a:spAutoFit/>
          </a:bodyPr>
          <a:lstStyle/>
          <a:p>
            <a:pPr algn="l"/>
            <a:r>
              <a:rPr sz="1600" b="0" i="0">
                <a:solidFill>
                  <a:srgbClr val="888888"/>
                </a:solidFill>
                <a:latin typeface="Noto Sans JP"/>
              </a:rPr>
              <a:t>上質な木造シリーズ</a:t>
            </a:r>
          </a:p>
        </p:txBody>
      </p:sp>
      <p:sp>
        <p:nvSpPr>
          <p:cNvPr id="12" name="TextBox 11"/>
          <p:cNvSpPr txBox="1"/>
          <p:nvPr/>
        </p:nvSpPr>
        <p:spPr>
          <a:xfrm>
            <a:off x="6217920" y="1810512"/>
            <a:ext cx="5760720" cy="713232"/>
          </a:xfrm>
          <a:prstGeom prst="rect">
            <a:avLst/>
          </a:prstGeom>
          <a:noFill/>
        </p:spPr>
        <p:txBody>
          <a:bodyPr wrap="square">
            <a:spAutoFit/>
          </a:bodyPr>
          <a:lstStyle/>
          <a:p>
            <a:pPr algn="l"/>
            <a:r>
              <a:rPr sz="1300" b="0" i="0">
                <a:solidFill>
                  <a:srgbClr val="444444"/>
                </a:solidFill>
                <a:latin typeface="Noto Sans JP"/>
              </a:rPr>
              <a:t>木の温かみを持つ快適なリビング空間。
機能性と美しさを兼ね備えたハイエンドモデル。</a:t>
            </a:r>
          </a:p>
        </p:txBody>
      </p:sp>
      <p:cxnSp>
        <p:nvCxnSpPr>
          <p:cNvPr id="13" name="Connector 12"/>
          <p:cNvCxnSpPr/>
          <p:nvPr/>
        </p:nvCxnSpPr>
        <p:spPr>
          <a:xfrm>
            <a:off x="6217920" y="2651760"/>
            <a:ext cx="57607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217920" y="2788920"/>
            <a:ext cx="5760720" cy="320040"/>
          </a:xfrm>
          <a:prstGeom prst="rect">
            <a:avLst/>
          </a:prstGeom>
          <a:noFill/>
        </p:spPr>
        <p:txBody>
          <a:bodyPr wrap="square">
            <a:spAutoFit/>
          </a:bodyPr>
          <a:lstStyle/>
          <a:p>
            <a:pPr algn="l"/>
            <a:r>
              <a:rPr sz="1200" b="1" i="0">
                <a:solidFill>
                  <a:srgbClr val="888888"/>
                </a:solidFill>
                <a:latin typeface="Noto Sans JP"/>
              </a:rPr>
              <a:t>税抜価格</a:t>
            </a:r>
          </a:p>
        </p:txBody>
      </p:sp>
      <p:sp>
        <p:nvSpPr>
          <p:cNvPr id="15" name="Rectangle 14"/>
          <p:cNvSpPr/>
          <p:nvPr/>
        </p:nvSpPr>
        <p:spPr>
          <a:xfrm>
            <a:off x="6217920" y="3182112"/>
            <a:ext cx="5577840" cy="62179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7648" y="3310128"/>
            <a:ext cx="3200400" cy="347472"/>
          </a:xfrm>
          <a:prstGeom prst="rect">
            <a:avLst/>
          </a:prstGeom>
          <a:noFill/>
        </p:spPr>
        <p:txBody>
          <a:bodyPr wrap="square">
            <a:spAutoFit/>
          </a:bodyPr>
          <a:lstStyle/>
          <a:p>
            <a:pPr algn="l"/>
            <a:r>
              <a:rPr sz="1300" b="0" i="0">
                <a:solidFill>
                  <a:srgbClr val="444444"/>
                </a:solidFill>
                <a:latin typeface="Noto Sans JP"/>
              </a:rPr>
              <a:t>標準モデル</a:t>
            </a:r>
          </a:p>
        </p:txBody>
      </p:sp>
      <p:sp>
        <p:nvSpPr>
          <p:cNvPr id="17" name="TextBox 16"/>
          <p:cNvSpPr txBox="1"/>
          <p:nvPr/>
        </p:nvSpPr>
        <p:spPr>
          <a:xfrm>
            <a:off x="8686800" y="3255264"/>
            <a:ext cx="3108960" cy="457200"/>
          </a:xfrm>
          <a:prstGeom prst="rect">
            <a:avLst/>
          </a:prstGeom>
          <a:noFill/>
        </p:spPr>
        <p:txBody>
          <a:bodyPr wrap="square">
            <a:spAutoFit/>
          </a:bodyPr>
          <a:lstStyle/>
          <a:p>
            <a:pPr algn="r"/>
            <a:r>
              <a:rPr sz="2200" b="1" i="0">
                <a:solidFill>
                  <a:srgbClr val="111111"/>
                </a:solidFill>
                <a:latin typeface="Inter"/>
              </a:rPr>
              <a:t>¥9,950,000〜</a:t>
            </a:r>
          </a:p>
        </p:txBody>
      </p:sp>
      <p:sp>
        <p:nvSpPr>
          <p:cNvPr id="18" name="Rectangle 17"/>
          <p:cNvSpPr/>
          <p:nvPr/>
        </p:nvSpPr>
        <p:spPr>
          <a:xfrm>
            <a:off x="6217920" y="3867912"/>
            <a:ext cx="5577840" cy="62179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7648" y="3995928"/>
            <a:ext cx="3200400" cy="347472"/>
          </a:xfrm>
          <a:prstGeom prst="rect">
            <a:avLst/>
          </a:prstGeom>
          <a:noFill/>
        </p:spPr>
        <p:txBody>
          <a:bodyPr wrap="square">
            <a:spAutoFit/>
          </a:bodyPr>
          <a:lstStyle/>
          <a:p>
            <a:pPr algn="l"/>
            <a:r>
              <a:rPr sz="1300" b="0" i="0">
                <a:solidFill>
                  <a:srgbClr val="444444"/>
                </a:solidFill>
                <a:latin typeface="Noto Sans JP"/>
              </a:rPr>
              <a:t>寒冷地モデル（W断熱/TG）</a:t>
            </a:r>
          </a:p>
        </p:txBody>
      </p:sp>
      <p:sp>
        <p:nvSpPr>
          <p:cNvPr id="20" name="TextBox 19"/>
          <p:cNvSpPr txBox="1"/>
          <p:nvPr/>
        </p:nvSpPr>
        <p:spPr>
          <a:xfrm>
            <a:off x="8686800" y="3941064"/>
            <a:ext cx="3108960" cy="457200"/>
          </a:xfrm>
          <a:prstGeom prst="rect">
            <a:avLst/>
          </a:prstGeom>
          <a:noFill/>
        </p:spPr>
        <p:txBody>
          <a:bodyPr wrap="square">
            <a:spAutoFit/>
          </a:bodyPr>
          <a:lstStyle/>
          <a:p>
            <a:pPr algn="r"/>
            <a:r>
              <a:rPr sz="2200" b="1" i="0">
                <a:solidFill>
                  <a:srgbClr val="111111"/>
                </a:solidFill>
                <a:latin typeface="Inter"/>
              </a:rPr>
              <a:t>¥10,050,000〜</a:t>
            </a:r>
          </a:p>
        </p:txBody>
      </p:sp>
      <p:sp>
        <p:nvSpPr>
          <p:cNvPr id="21" name="Rectangle 20"/>
          <p:cNvSpPr/>
          <p:nvPr/>
        </p:nvSpPr>
        <p:spPr>
          <a:xfrm>
            <a:off x="6217920" y="4553712"/>
            <a:ext cx="5577840" cy="62179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4681728"/>
            <a:ext cx="3200400" cy="347472"/>
          </a:xfrm>
          <a:prstGeom prst="rect">
            <a:avLst/>
          </a:prstGeom>
          <a:noFill/>
        </p:spPr>
        <p:txBody>
          <a:bodyPr wrap="square">
            <a:spAutoFit/>
          </a:bodyPr>
          <a:lstStyle/>
          <a:p>
            <a:pPr algn="l"/>
            <a:r>
              <a:rPr sz="1300" b="0" i="0">
                <a:solidFill>
                  <a:srgbClr val="444444"/>
                </a:solidFill>
                <a:latin typeface="Noto Sans JP"/>
              </a:rPr>
              <a:t>太陽光搭載（オフグリッド）</a:t>
            </a:r>
          </a:p>
        </p:txBody>
      </p:sp>
      <p:sp>
        <p:nvSpPr>
          <p:cNvPr id="23" name="TextBox 22"/>
          <p:cNvSpPr txBox="1"/>
          <p:nvPr/>
        </p:nvSpPr>
        <p:spPr>
          <a:xfrm>
            <a:off x="8686800" y="4626864"/>
            <a:ext cx="3108960" cy="457200"/>
          </a:xfrm>
          <a:prstGeom prst="rect">
            <a:avLst/>
          </a:prstGeom>
          <a:noFill/>
        </p:spPr>
        <p:txBody>
          <a:bodyPr wrap="square">
            <a:spAutoFit/>
          </a:bodyPr>
          <a:lstStyle/>
          <a:p>
            <a:pPr algn="r"/>
            <a:r>
              <a:rPr sz="2200" b="1" i="0">
                <a:solidFill>
                  <a:srgbClr val="111111"/>
                </a:solidFill>
                <a:latin typeface="Inter"/>
              </a:rPr>
              <a:t>¥13,000,000〜</a:t>
            </a:r>
          </a:p>
        </p:txBody>
      </p:sp>
      <p:cxnSp>
        <p:nvCxnSpPr>
          <p:cNvPr id="24" name="Connector 23"/>
          <p:cNvCxnSpPr/>
          <p:nvPr/>
        </p:nvCxnSpPr>
        <p:spPr>
          <a:xfrm>
            <a:off x="6217920" y="5330952"/>
            <a:ext cx="57607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17920" y="5440680"/>
            <a:ext cx="5760720" cy="347472"/>
          </a:xfrm>
          <a:prstGeom prst="rect">
            <a:avLst/>
          </a:prstGeom>
          <a:noFill/>
        </p:spPr>
        <p:txBody>
          <a:bodyPr wrap="square">
            <a:spAutoFit/>
          </a:bodyPr>
          <a:lstStyle/>
          <a:p>
            <a:pPr algn="l"/>
            <a:r>
              <a:rPr sz="1100" b="0" i="0">
                <a:solidFill>
                  <a:srgbClr val="888888"/>
                </a:solidFill>
                <a:latin typeface="Noto Sans JP"/>
              </a:rPr>
              <a:t>用途：高級グランピング ／ プレミアムセカンドハウス ／ オフグリッド居住</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0" cy="685800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3246120"/>
            <a:ext cx="5029200" cy="365760"/>
          </a:xfrm>
          <a:prstGeom prst="rect">
            <a:avLst/>
          </a:prstGeom>
          <a:noFill/>
        </p:spPr>
        <p:txBody>
          <a:bodyPr wrap="square">
            <a:spAutoFit/>
          </a:bodyPr>
          <a:lstStyle/>
          <a:p>
            <a:pPr algn="ctr"/>
            <a:r>
              <a:rPr sz="1000" b="0" i="0">
                <a:solidFill>
                  <a:srgbClr val="888888"/>
                </a:solidFill>
                <a:latin typeface="Noto Sans JP"/>
              </a:rPr>
              <a:t>[ 構造図 / 断面図 / 施工写真 ]</a:t>
            </a:r>
          </a:p>
        </p:txBody>
      </p:sp>
      <p:sp>
        <p:nvSpPr>
          <p:cNvPr id="4" name="Rectangle 3"/>
          <p:cNvSpPr/>
          <p:nvPr/>
        </p:nvSpPr>
        <p:spPr>
          <a:xfrm>
            <a:off x="5029200" y="0"/>
            <a:ext cx="71597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0" y="0"/>
            <a:ext cx="54864"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0" y="411480"/>
            <a:ext cx="6583680" cy="658368"/>
          </a:xfrm>
          <a:prstGeom prst="rect">
            <a:avLst/>
          </a:prstGeom>
          <a:noFill/>
        </p:spPr>
        <p:txBody>
          <a:bodyPr wrap="square">
            <a:spAutoFit/>
          </a:bodyPr>
          <a:lstStyle/>
          <a:p>
            <a:pPr algn="l"/>
            <a:r>
              <a:rPr sz="2800" b="1" i="0">
                <a:solidFill>
                  <a:srgbClr val="111111"/>
                </a:solidFill>
                <a:latin typeface="Noto Sans JP"/>
              </a:rPr>
              <a:t>基本構造と性能</a:t>
            </a:r>
          </a:p>
        </p:txBody>
      </p:sp>
      <p:sp>
        <p:nvSpPr>
          <p:cNvPr id="7" name="TextBox 6"/>
          <p:cNvSpPr txBox="1"/>
          <p:nvPr/>
        </p:nvSpPr>
        <p:spPr>
          <a:xfrm>
            <a:off x="5303520" y="1115568"/>
            <a:ext cx="6583680" cy="347472"/>
          </a:xfrm>
          <a:prstGeom prst="rect">
            <a:avLst/>
          </a:prstGeom>
          <a:noFill/>
        </p:spPr>
        <p:txBody>
          <a:bodyPr wrap="square">
            <a:spAutoFit/>
          </a:bodyPr>
          <a:lstStyle/>
          <a:p>
            <a:pPr algn="l"/>
            <a:r>
              <a:rPr sz="1300" b="0" i="0">
                <a:solidFill>
                  <a:srgbClr val="888888"/>
                </a:solidFill>
                <a:latin typeface="Noto Sans JP"/>
              </a:rPr>
              <a:t>長く安心して使える、プロ仕様の構造。</a:t>
            </a:r>
          </a:p>
        </p:txBody>
      </p:sp>
      <p:cxnSp>
        <p:nvCxnSpPr>
          <p:cNvPr id="8" name="Connector 7"/>
          <p:cNvCxnSpPr/>
          <p:nvPr/>
        </p:nvCxnSpPr>
        <p:spPr>
          <a:xfrm>
            <a:off x="5303520" y="1591056"/>
            <a:ext cx="6675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303520" y="1737360"/>
            <a:ext cx="45720" cy="80467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68112" y="1773936"/>
            <a:ext cx="6400800" cy="347472"/>
          </a:xfrm>
          <a:prstGeom prst="rect">
            <a:avLst/>
          </a:prstGeom>
          <a:noFill/>
        </p:spPr>
        <p:txBody>
          <a:bodyPr wrap="square">
            <a:spAutoFit/>
          </a:bodyPr>
          <a:lstStyle/>
          <a:p>
            <a:pPr algn="l"/>
            <a:r>
              <a:rPr sz="1300" b="1" i="0">
                <a:solidFill>
                  <a:srgbClr val="111111"/>
                </a:solidFill>
                <a:latin typeface="Noto Sans JP"/>
              </a:rPr>
              <a:t>堅牢な軽量鉄骨造</a:t>
            </a:r>
          </a:p>
        </p:txBody>
      </p:sp>
      <p:sp>
        <p:nvSpPr>
          <p:cNvPr id="11" name="TextBox 10"/>
          <p:cNvSpPr txBox="1"/>
          <p:nvPr/>
        </p:nvSpPr>
        <p:spPr>
          <a:xfrm>
            <a:off x="5468112" y="2148840"/>
            <a:ext cx="6400800" cy="502920"/>
          </a:xfrm>
          <a:prstGeom prst="rect">
            <a:avLst/>
          </a:prstGeom>
          <a:noFill/>
        </p:spPr>
        <p:txBody>
          <a:bodyPr wrap="square">
            <a:spAutoFit/>
          </a:bodyPr>
          <a:lstStyle/>
          <a:p>
            <a:pPr algn="l"/>
            <a:r>
              <a:rPr sz="1100" b="0" i="0">
                <a:solidFill>
                  <a:srgbClr val="444444"/>
                </a:solidFill>
                <a:latin typeface="Noto Sans JP"/>
              </a:rPr>
              <a:t>移動・輸送の振動に耐える業務用設計。一般住宅と同等以上の強度。</a:t>
            </a:r>
          </a:p>
        </p:txBody>
      </p:sp>
      <p:sp>
        <p:nvSpPr>
          <p:cNvPr id="12" name="Rectangle 11"/>
          <p:cNvSpPr/>
          <p:nvPr/>
        </p:nvSpPr>
        <p:spPr>
          <a:xfrm>
            <a:off x="5303520" y="2816352"/>
            <a:ext cx="45720" cy="80467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68112" y="2852928"/>
            <a:ext cx="6400800" cy="347472"/>
          </a:xfrm>
          <a:prstGeom prst="rect">
            <a:avLst/>
          </a:prstGeom>
          <a:noFill/>
        </p:spPr>
        <p:txBody>
          <a:bodyPr wrap="square">
            <a:spAutoFit/>
          </a:bodyPr>
          <a:lstStyle/>
          <a:p>
            <a:pPr algn="l"/>
            <a:r>
              <a:rPr sz="1300" b="1" i="0">
                <a:solidFill>
                  <a:srgbClr val="111111"/>
                </a:solidFill>
                <a:latin typeface="Noto Sans JP"/>
              </a:rPr>
              <a:t>内装建材 F★★★★（フォースター）以上</a:t>
            </a:r>
          </a:p>
        </p:txBody>
      </p:sp>
      <p:sp>
        <p:nvSpPr>
          <p:cNvPr id="14" name="TextBox 13"/>
          <p:cNvSpPr txBox="1"/>
          <p:nvPr/>
        </p:nvSpPr>
        <p:spPr>
          <a:xfrm>
            <a:off x="5468112" y="3227832"/>
            <a:ext cx="6400800" cy="502920"/>
          </a:xfrm>
          <a:prstGeom prst="rect">
            <a:avLst/>
          </a:prstGeom>
          <a:noFill/>
        </p:spPr>
        <p:txBody>
          <a:bodyPr wrap="square">
            <a:spAutoFit/>
          </a:bodyPr>
          <a:lstStyle/>
          <a:p>
            <a:pPr algn="l"/>
            <a:r>
              <a:rPr sz="1100" b="0" i="0">
                <a:solidFill>
                  <a:srgbClr val="444444"/>
                </a:solidFill>
                <a:latin typeface="Noto Sans JP"/>
              </a:rPr>
              <a:t>シックハウスの原因物質を最大限抑制。小さなお子様にも安心の室内環境。</a:t>
            </a:r>
          </a:p>
        </p:txBody>
      </p:sp>
      <p:sp>
        <p:nvSpPr>
          <p:cNvPr id="15" name="Rectangle 14"/>
          <p:cNvSpPr/>
          <p:nvPr/>
        </p:nvSpPr>
        <p:spPr>
          <a:xfrm>
            <a:off x="5303520" y="3895344"/>
            <a:ext cx="45720" cy="80467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68112" y="3931920"/>
            <a:ext cx="6400800" cy="347472"/>
          </a:xfrm>
          <a:prstGeom prst="rect">
            <a:avLst/>
          </a:prstGeom>
          <a:noFill/>
        </p:spPr>
        <p:txBody>
          <a:bodyPr wrap="square">
            <a:spAutoFit/>
          </a:bodyPr>
          <a:lstStyle/>
          <a:p>
            <a:pPr algn="l"/>
            <a:r>
              <a:rPr sz="1300" b="1" i="0">
                <a:solidFill>
                  <a:srgbClr val="111111"/>
                </a:solidFill>
                <a:latin typeface="Noto Sans JP"/>
              </a:rPr>
              <a:t>高性能断熱材</a:t>
            </a:r>
          </a:p>
        </p:txBody>
      </p:sp>
      <p:sp>
        <p:nvSpPr>
          <p:cNvPr id="17" name="TextBox 16"/>
          <p:cNvSpPr txBox="1"/>
          <p:nvPr/>
        </p:nvSpPr>
        <p:spPr>
          <a:xfrm>
            <a:off x="5468112" y="4306824"/>
            <a:ext cx="6400800" cy="502920"/>
          </a:xfrm>
          <a:prstGeom prst="rect">
            <a:avLst/>
          </a:prstGeom>
          <a:noFill/>
        </p:spPr>
        <p:txBody>
          <a:bodyPr wrap="square">
            <a:spAutoFit/>
          </a:bodyPr>
          <a:lstStyle/>
          <a:p>
            <a:pPr algn="l"/>
            <a:r>
              <a:rPr sz="1100" b="0" i="0">
                <a:solidFill>
                  <a:srgbClr val="444444"/>
                </a:solidFill>
                <a:latin typeface="Noto Sans JP"/>
              </a:rPr>
              <a:t>床：ミラフォームMKS 40mm　天井：GW24K 100mm　壁：GW24K 50mm
夏の猛暑・冬の寒冷地でも快適な室内環境を実現。</a:t>
            </a:r>
          </a:p>
        </p:txBody>
      </p:sp>
      <p:sp>
        <p:nvSpPr>
          <p:cNvPr id="18" name="Rectangle 17"/>
          <p:cNvSpPr/>
          <p:nvPr/>
        </p:nvSpPr>
        <p:spPr>
          <a:xfrm>
            <a:off x="5303520" y="4974336"/>
            <a:ext cx="45720" cy="80467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68112" y="5010912"/>
            <a:ext cx="6400800" cy="347472"/>
          </a:xfrm>
          <a:prstGeom prst="rect">
            <a:avLst/>
          </a:prstGeom>
          <a:noFill/>
        </p:spPr>
        <p:txBody>
          <a:bodyPr wrap="square">
            <a:spAutoFit/>
          </a:bodyPr>
          <a:lstStyle/>
          <a:p>
            <a:pPr algn="l"/>
            <a:r>
              <a:rPr sz="1300" b="1" i="0">
                <a:solidFill>
                  <a:srgbClr val="111111"/>
                </a:solidFill>
                <a:latin typeface="Noto Sans JP"/>
              </a:rPr>
              <a:t>耐久外装</a:t>
            </a:r>
          </a:p>
        </p:txBody>
      </p:sp>
      <p:sp>
        <p:nvSpPr>
          <p:cNvPr id="20" name="TextBox 19"/>
          <p:cNvSpPr txBox="1"/>
          <p:nvPr/>
        </p:nvSpPr>
        <p:spPr>
          <a:xfrm>
            <a:off x="5468112" y="5385816"/>
            <a:ext cx="6400800" cy="502920"/>
          </a:xfrm>
          <a:prstGeom prst="rect">
            <a:avLst/>
          </a:prstGeom>
          <a:noFill/>
        </p:spPr>
        <p:txBody>
          <a:bodyPr wrap="square">
            <a:spAutoFit/>
          </a:bodyPr>
          <a:lstStyle/>
          <a:p>
            <a:pPr algn="l"/>
            <a:r>
              <a:rPr sz="1100" b="0" i="0">
                <a:solidFill>
                  <a:srgbClr val="444444"/>
                </a:solidFill>
                <a:latin typeface="Noto Sans JP"/>
              </a:rPr>
              <a:t>立平ロック25型 / 角波SK333採用。雨・風・紫外線に強くメンテコスト低減。</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Noto Sans JP"/>
              </a:rPr>
              <a:t>空間のカスタマイズ</a:t>
            </a:r>
          </a:p>
        </p:txBody>
      </p:sp>
      <p:cxnSp>
        <p:nvCxnSpPr>
          <p:cNvPr id="4" name="Connector 3"/>
          <p:cNvCxnSpPr/>
          <p:nvPr/>
        </p:nvCxnSpPr>
        <p:spPr>
          <a:xfrm>
            <a:off x="228600" y="1051560"/>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11480" y="1463040"/>
            <a:ext cx="5303520" cy="201168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2286000"/>
            <a:ext cx="5303520" cy="365760"/>
          </a:xfrm>
          <a:prstGeom prst="rect">
            <a:avLst/>
          </a:prstGeom>
          <a:noFill/>
        </p:spPr>
        <p:txBody>
          <a:bodyPr wrap="square">
            <a:spAutoFit/>
          </a:bodyPr>
          <a:lstStyle/>
          <a:p>
            <a:pPr algn="ctr"/>
            <a:r>
              <a:rPr sz="1000" b="0" i="0">
                <a:solidFill>
                  <a:srgbClr val="888888"/>
                </a:solidFill>
                <a:latin typeface="Noto Sans JP"/>
              </a:rPr>
              <a:t>[ カスタム内観写真①（キッチン・水回り） ]</a:t>
            </a:r>
          </a:p>
        </p:txBody>
      </p:sp>
      <p:sp>
        <p:nvSpPr>
          <p:cNvPr id="7" name="Rectangle 6"/>
          <p:cNvSpPr/>
          <p:nvPr/>
        </p:nvSpPr>
        <p:spPr>
          <a:xfrm>
            <a:off x="411480" y="3657600"/>
            <a:ext cx="5303520" cy="274320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4846320"/>
            <a:ext cx="5303520" cy="365760"/>
          </a:xfrm>
          <a:prstGeom prst="rect">
            <a:avLst/>
          </a:prstGeom>
          <a:noFill/>
        </p:spPr>
        <p:txBody>
          <a:bodyPr wrap="square">
            <a:spAutoFit/>
          </a:bodyPr>
          <a:lstStyle/>
          <a:p>
            <a:pPr algn="ctr"/>
            <a:r>
              <a:rPr sz="1000" b="0" i="0">
                <a:solidFill>
                  <a:srgbClr val="888888"/>
                </a:solidFill>
                <a:latin typeface="Noto Sans JP"/>
              </a:rPr>
              <a:t>[ カスタム内観写真②（シャワールーム等） ]</a:t>
            </a:r>
          </a:p>
        </p:txBody>
      </p:sp>
      <p:sp>
        <p:nvSpPr>
          <p:cNvPr id="9" name="Rectangle 8"/>
          <p:cNvSpPr/>
          <p:nvPr/>
        </p:nvSpPr>
        <p:spPr>
          <a:xfrm>
            <a:off x="5989320" y="1463040"/>
            <a:ext cx="6035040" cy="1298448"/>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536192"/>
            <a:ext cx="5760720" cy="347472"/>
          </a:xfrm>
          <a:prstGeom prst="rect">
            <a:avLst/>
          </a:prstGeom>
          <a:noFill/>
        </p:spPr>
        <p:txBody>
          <a:bodyPr wrap="square">
            <a:spAutoFit/>
          </a:bodyPr>
          <a:lstStyle/>
          <a:p>
            <a:pPr algn="l"/>
            <a:r>
              <a:rPr sz="1400" b="1" i="0">
                <a:solidFill>
                  <a:srgbClr val="111111"/>
                </a:solidFill>
                <a:latin typeface="Noto Sans JP"/>
              </a:rPr>
              <a:t>【 標準装備 】</a:t>
            </a:r>
          </a:p>
        </p:txBody>
      </p:sp>
      <p:cxnSp>
        <p:nvCxnSpPr>
          <p:cNvPr id="11" name="Connector 10"/>
          <p:cNvCxnSpPr/>
          <p:nvPr/>
        </p:nvCxnSpPr>
        <p:spPr>
          <a:xfrm>
            <a:off x="6126480" y="1938528"/>
            <a:ext cx="57607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126480" y="2011680"/>
            <a:ext cx="5669280" cy="457200"/>
          </a:xfrm>
          <a:prstGeom prst="rect">
            <a:avLst/>
          </a:prstGeom>
          <a:noFill/>
        </p:spPr>
        <p:txBody>
          <a:bodyPr wrap="square">
            <a:spAutoFit/>
          </a:bodyPr>
          <a:lstStyle/>
          <a:p>
            <a:pPr algn="l"/>
            <a:r>
              <a:rPr sz="1200" b="0" i="0">
                <a:solidFill>
                  <a:srgbClr val="444444"/>
                </a:solidFill>
                <a:latin typeface="Noto Sans JP"/>
              </a:rPr>
              <a:t>ダクトレール照明　ダウンライト　基本電気配線・スイッチ完備</a:t>
            </a:r>
          </a:p>
        </p:txBody>
      </p:sp>
      <p:sp>
        <p:nvSpPr>
          <p:cNvPr id="13" name="Rectangle 12"/>
          <p:cNvSpPr/>
          <p:nvPr/>
        </p:nvSpPr>
        <p:spPr>
          <a:xfrm>
            <a:off x="5989320" y="2633472"/>
            <a:ext cx="6035040" cy="3977639"/>
          </a:xfrm>
          <a:prstGeom prst="rect">
            <a:avLst/>
          </a:prstGeom>
          <a:solidFill>
            <a:srgbClr val="F6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0" y="2706624"/>
            <a:ext cx="5760720" cy="347472"/>
          </a:xfrm>
          <a:prstGeom prst="rect">
            <a:avLst/>
          </a:prstGeom>
          <a:noFill/>
        </p:spPr>
        <p:txBody>
          <a:bodyPr wrap="square">
            <a:spAutoFit/>
          </a:bodyPr>
          <a:lstStyle/>
          <a:p>
            <a:pPr algn="l"/>
            <a:r>
              <a:rPr sz="1400" b="1" i="0">
                <a:solidFill>
                  <a:srgbClr val="111111"/>
                </a:solidFill>
                <a:latin typeface="Noto Sans JP"/>
              </a:rPr>
              <a:t>【 カスタムオプション 】</a:t>
            </a:r>
          </a:p>
        </p:txBody>
      </p:sp>
      <p:cxnSp>
        <p:nvCxnSpPr>
          <p:cNvPr id="15" name="Connector 14"/>
          <p:cNvCxnSpPr/>
          <p:nvPr/>
        </p:nvCxnSpPr>
        <p:spPr>
          <a:xfrm>
            <a:off x="6126480" y="3127248"/>
            <a:ext cx="57607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126480" y="3246120"/>
            <a:ext cx="45720" cy="36576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1072" y="3282696"/>
            <a:ext cx="1325880" cy="292608"/>
          </a:xfrm>
          <a:prstGeom prst="rect">
            <a:avLst/>
          </a:prstGeom>
          <a:noFill/>
        </p:spPr>
        <p:txBody>
          <a:bodyPr wrap="square">
            <a:spAutoFit/>
          </a:bodyPr>
          <a:lstStyle/>
          <a:p>
            <a:pPr algn="l"/>
            <a:r>
              <a:rPr sz="1200" b="1" i="0">
                <a:solidFill>
                  <a:srgbClr val="111111"/>
                </a:solidFill>
                <a:latin typeface="Noto Sans JP"/>
              </a:rPr>
              <a:t>水回り</a:t>
            </a:r>
          </a:p>
        </p:txBody>
      </p:sp>
      <p:sp>
        <p:nvSpPr>
          <p:cNvPr id="18" name="TextBox 17"/>
          <p:cNvSpPr txBox="1"/>
          <p:nvPr/>
        </p:nvSpPr>
        <p:spPr>
          <a:xfrm>
            <a:off x="7680960" y="3282696"/>
            <a:ext cx="4206240" cy="292608"/>
          </a:xfrm>
          <a:prstGeom prst="rect">
            <a:avLst/>
          </a:prstGeom>
          <a:noFill/>
        </p:spPr>
        <p:txBody>
          <a:bodyPr wrap="square">
            <a:spAutoFit/>
          </a:bodyPr>
          <a:lstStyle/>
          <a:p>
            <a:pPr algn="l"/>
            <a:r>
              <a:rPr sz="1200" b="0" i="0">
                <a:solidFill>
                  <a:srgbClr val="444444"/>
                </a:solidFill>
                <a:latin typeface="Noto Sans JP"/>
              </a:rPr>
              <a:t>トイレ、シャワールーム、洗面台、キッチン等</a:t>
            </a:r>
          </a:p>
        </p:txBody>
      </p:sp>
      <p:sp>
        <p:nvSpPr>
          <p:cNvPr id="19" name="Rectangle 18"/>
          <p:cNvSpPr/>
          <p:nvPr/>
        </p:nvSpPr>
        <p:spPr>
          <a:xfrm>
            <a:off x="6126480" y="3749039"/>
            <a:ext cx="45720" cy="36576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1072" y="3785615"/>
            <a:ext cx="1325880" cy="292608"/>
          </a:xfrm>
          <a:prstGeom prst="rect">
            <a:avLst/>
          </a:prstGeom>
          <a:noFill/>
        </p:spPr>
        <p:txBody>
          <a:bodyPr wrap="square">
            <a:spAutoFit/>
          </a:bodyPr>
          <a:lstStyle/>
          <a:p>
            <a:pPr algn="l"/>
            <a:r>
              <a:rPr sz="1200" b="1" i="0">
                <a:solidFill>
                  <a:srgbClr val="111111"/>
                </a:solidFill>
                <a:latin typeface="Noto Sans JP"/>
              </a:rPr>
              <a:t>空調設備</a:t>
            </a:r>
          </a:p>
        </p:txBody>
      </p:sp>
      <p:sp>
        <p:nvSpPr>
          <p:cNvPr id="21" name="TextBox 20"/>
          <p:cNvSpPr txBox="1"/>
          <p:nvPr/>
        </p:nvSpPr>
        <p:spPr>
          <a:xfrm>
            <a:off x="7680960" y="3785615"/>
            <a:ext cx="4206240" cy="292608"/>
          </a:xfrm>
          <a:prstGeom prst="rect">
            <a:avLst/>
          </a:prstGeom>
          <a:noFill/>
        </p:spPr>
        <p:txBody>
          <a:bodyPr wrap="square">
            <a:spAutoFit/>
          </a:bodyPr>
          <a:lstStyle/>
          <a:p>
            <a:pPr algn="l"/>
            <a:r>
              <a:rPr sz="1200" b="0" i="0">
                <a:solidFill>
                  <a:srgbClr val="444444"/>
                </a:solidFill>
                <a:latin typeface="Noto Sans JP"/>
              </a:rPr>
              <a:t>エアコン設置（ブラケット含む）</a:t>
            </a:r>
          </a:p>
        </p:txBody>
      </p:sp>
      <p:sp>
        <p:nvSpPr>
          <p:cNvPr id="22" name="Rectangle 21"/>
          <p:cNvSpPr/>
          <p:nvPr/>
        </p:nvSpPr>
        <p:spPr>
          <a:xfrm>
            <a:off x="6126480" y="4251959"/>
            <a:ext cx="45720" cy="36576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91072" y="4288536"/>
            <a:ext cx="1325880" cy="292608"/>
          </a:xfrm>
          <a:prstGeom prst="rect">
            <a:avLst/>
          </a:prstGeom>
          <a:noFill/>
        </p:spPr>
        <p:txBody>
          <a:bodyPr wrap="square">
            <a:spAutoFit/>
          </a:bodyPr>
          <a:lstStyle/>
          <a:p>
            <a:pPr algn="l"/>
            <a:r>
              <a:rPr sz="1200" b="1" i="0">
                <a:solidFill>
                  <a:srgbClr val="111111"/>
                </a:solidFill>
                <a:latin typeface="Noto Sans JP"/>
              </a:rPr>
              <a:t>開口部</a:t>
            </a:r>
          </a:p>
        </p:txBody>
      </p:sp>
      <p:sp>
        <p:nvSpPr>
          <p:cNvPr id="24" name="TextBox 23"/>
          <p:cNvSpPr txBox="1"/>
          <p:nvPr/>
        </p:nvSpPr>
        <p:spPr>
          <a:xfrm>
            <a:off x="7680960" y="4288536"/>
            <a:ext cx="4206240" cy="292608"/>
          </a:xfrm>
          <a:prstGeom prst="rect">
            <a:avLst/>
          </a:prstGeom>
          <a:noFill/>
        </p:spPr>
        <p:txBody>
          <a:bodyPr wrap="square">
            <a:spAutoFit/>
          </a:bodyPr>
          <a:lstStyle/>
          <a:p>
            <a:pPr algn="l"/>
            <a:r>
              <a:rPr sz="1200" b="0" i="0">
                <a:solidFill>
                  <a:srgbClr val="444444"/>
                </a:solidFill>
                <a:latin typeface="Noto Sans JP"/>
              </a:rPr>
              <a:t>引き違いテラス窓、FIX窓、ドアの追加・位置変更</a:t>
            </a:r>
          </a:p>
        </p:txBody>
      </p:sp>
      <p:sp>
        <p:nvSpPr>
          <p:cNvPr id="25" name="Rectangle 24"/>
          <p:cNvSpPr/>
          <p:nvPr/>
        </p:nvSpPr>
        <p:spPr>
          <a:xfrm>
            <a:off x="6126480" y="4754879"/>
            <a:ext cx="45720" cy="36576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91072" y="4791455"/>
            <a:ext cx="1325880" cy="292608"/>
          </a:xfrm>
          <a:prstGeom prst="rect">
            <a:avLst/>
          </a:prstGeom>
          <a:noFill/>
        </p:spPr>
        <p:txBody>
          <a:bodyPr wrap="square">
            <a:spAutoFit/>
          </a:bodyPr>
          <a:lstStyle/>
          <a:p>
            <a:pPr algn="l"/>
            <a:r>
              <a:rPr sz="1200" b="1" i="0">
                <a:solidFill>
                  <a:srgbClr val="111111"/>
                </a:solidFill>
                <a:latin typeface="Noto Sans JP"/>
              </a:rPr>
              <a:t>内装仕上</a:t>
            </a:r>
          </a:p>
        </p:txBody>
      </p:sp>
      <p:sp>
        <p:nvSpPr>
          <p:cNvPr id="27" name="TextBox 26"/>
          <p:cNvSpPr txBox="1"/>
          <p:nvPr/>
        </p:nvSpPr>
        <p:spPr>
          <a:xfrm>
            <a:off x="7680960" y="4791455"/>
            <a:ext cx="4206240" cy="292608"/>
          </a:xfrm>
          <a:prstGeom prst="rect">
            <a:avLst/>
          </a:prstGeom>
          <a:noFill/>
        </p:spPr>
        <p:txBody>
          <a:bodyPr wrap="square">
            <a:spAutoFit/>
          </a:bodyPr>
          <a:lstStyle/>
          <a:p>
            <a:pPr algn="l"/>
            <a:r>
              <a:rPr sz="1200" b="0" i="0">
                <a:solidFill>
                  <a:srgbClr val="444444"/>
                </a:solidFill>
                <a:latin typeface="Noto Sans JP"/>
              </a:rPr>
              <a:t>フロアタイル、塩ビタイル、シナ合板など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Noto Sans JP"/>
              </a:rPr>
              <a:t>輸送料金について</a:t>
            </a:r>
          </a:p>
        </p:txBody>
      </p:sp>
      <p:cxnSp>
        <p:nvCxnSpPr>
          <p:cNvPr id="4" name="Connector 3"/>
          <p:cNvCxnSpPr/>
          <p:nvPr/>
        </p:nvCxnSpPr>
        <p:spPr>
          <a:xfrm>
            <a:off x="228600" y="1051560"/>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1417320"/>
            <a:ext cx="8229600" cy="347472"/>
          </a:xfrm>
          <a:prstGeom prst="rect">
            <a:avLst/>
          </a:prstGeom>
          <a:noFill/>
        </p:spPr>
        <p:txBody>
          <a:bodyPr wrap="square">
            <a:spAutoFit/>
          </a:bodyPr>
          <a:lstStyle/>
          <a:p>
            <a:pPr algn="l"/>
            <a:r>
              <a:rPr sz="1300" b="0" i="0">
                <a:solidFill>
                  <a:srgbClr val="111111"/>
                </a:solidFill>
                <a:latin typeface="Noto Sans JP"/>
              </a:rPr>
              <a:t>製造拠点から設置エリアまでの距離に応じた明瞭な輸送料金体系。</a:t>
            </a:r>
          </a:p>
        </p:txBody>
      </p:sp>
      <p:sp>
        <p:nvSpPr>
          <p:cNvPr id="6" name="TextBox 5"/>
          <p:cNvSpPr txBox="1"/>
          <p:nvPr/>
        </p:nvSpPr>
        <p:spPr>
          <a:xfrm>
            <a:off x="457200" y="1783080"/>
            <a:ext cx="5486400" cy="292608"/>
          </a:xfrm>
          <a:prstGeom prst="rect">
            <a:avLst/>
          </a:prstGeom>
          <a:noFill/>
        </p:spPr>
        <p:txBody>
          <a:bodyPr wrap="square">
            <a:spAutoFit/>
          </a:bodyPr>
          <a:lstStyle/>
          <a:p>
            <a:pPr algn="l"/>
            <a:r>
              <a:rPr sz="1100" b="0" i="0">
                <a:solidFill>
                  <a:srgbClr val="888888"/>
                </a:solidFill>
                <a:latin typeface="Noto Sans JP"/>
              </a:rPr>
              <a:t>（特殊条件・フェリー等は別途見積）</a:t>
            </a:r>
          </a:p>
        </p:txBody>
      </p:sp>
      <p:sp>
        <p:nvSpPr>
          <p:cNvPr id="7" name="Rectangle 6"/>
          <p:cNvSpPr/>
          <p:nvPr/>
        </p:nvSpPr>
        <p:spPr>
          <a:xfrm>
            <a:off x="457200" y="2240280"/>
            <a:ext cx="3520440" cy="6400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2286000"/>
            <a:ext cx="3337560" cy="347472"/>
          </a:xfrm>
          <a:prstGeom prst="rect">
            <a:avLst/>
          </a:prstGeom>
          <a:noFill/>
        </p:spPr>
        <p:txBody>
          <a:bodyPr wrap="square">
            <a:spAutoFit/>
          </a:bodyPr>
          <a:lstStyle/>
          <a:p>
            <a:pPr algn="l"/>
            <a:r>
              <a:rPr sz="1300" b="1" i="0">
                <a:solidFill>
                  <a:srgbClr val="FFFFFF"/>
                </a:solidFill>
                <a:latin typeface="Noto Sans JP"/>
              </a:rPr>
              <a:t>Tinys INSPIRATION</a:t>
            </a:r>
          </a:p>
        </p:txBody>
      </p:sp>
      <p:sp>
        <p:nvSpPr>
          <p:cNvPr id="9" name="TextBox 8"/>
          <p:cNvSpPr txBox="1"/>
          <p:nvPr/>
        </p:nvSpPr>
        <p:spPr>
          <a:xfrm>
            <a:off x="566928" y="2633472"/>
            <a:ext cx="3337560" cy="228600"/>
          </a:xfrm>
          <a:prstGeom prst="rect">
            <a:avLst/>
          </a:prstGeom>
          <a:noFill/>
        </p:spPr>
        <p:txBody>
          <a:bodyPr wrap="square">
            <a:spAutoFit/>
          </a:bodyPr>
          <a:lstStyle/>
          <a:p>
            <a:pPr algn="l"/>
            <a:r>
              <a:rPr sz="1000" b="0" i="0">
                <a:solidFill>
                  <a:srgbClr val="BBBBBB"/>
                </a:solidFill>
                <a:latin typeface="Noto Sans JP"/>
              </a:rPr>
              <a:t>製造地：名古屋</a:t>
            </a:r>
          </a:p>
        </p:txBody>
      </p:sp>
      <p:sp>
        <p:nvSpPr>
          <p:cNvPr id="10" name="Rectangle 9"/>
          <p:cNvSpPr/>
          <p:nvPr/>
        </p:nvSpPr>
        <p:spPr>
          <a:xfrm>
            <a:off x="457200" y="2971800"/>
            <a:ext cx="3520440" cy="75895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3191256"/>
            <a:ext cx="1828800" cy="320040"/>
          </a:xfrm>
          <a:prstGeom prst="rect">
            <a:avLst/>
          </a:prstGeom>
          <a:noFill/>
        </p:spPr>
        <p:txBody>
          <a:bodyPr wrap="square">
            <a:spAutoFit/>
          </a:bodyPr>
          <a:lstStyle/>
          <a:p>
            <a:pPr algn="l"/>
            <a:r>
              <a:rPr sz="1200" b="0" i="0">
                <a:solidFill>
                  <a:srgbClr val="444444"/>
                </a:solidFill>
                <a:latin typeface="Noto Sans JP"/>
              </a:rPr>
              <a:t>〜200km</a:t>
            </a:r>
          </a:p>
        </p:txBody>
      </p:sp>
      <p:sp>
        <p:nvSpPr>
          <p:cNvPr id="12" name="TextBox 11"/>
          <p:cNvSpPr txBox="1"/>
          <p:nvPr/>
        </p:nvSpPr>
        <p:spPr>
          <a:xfrm>
            <a:off x="2194560" y="3118104"/>
            <a:ext cx="1691640" cy="475488"/>
          </a:xfrm>
          <a:prstGeom prst="rect">
            <a:avLst/>
          </a:prstGeom>
          <a:noFill/>
        </p:spPr>
        <p:txBody>
          <a:bodyPr wrap="square">
            <a:spAutoFit/>
          </a:bodyPr>
          <a:lstStyle/>
          <a:p>
            <a:pPr algn="r"/>
            <a:r>
              <a:rPr sz="2200" b="1" i="0">
                <a:solidFill>
                  <a:srgbClr val="111111"/>
                </a:solidFill>
                <a:latin typeface="Inter"/>
              </a:rPr>
              <a:t>¥310,000</a:t>
            </a:r>
          </a:p>
        </p:txBody>
      </p:sp>
      <p:sp>
        <p:nvSpPr>
          <p:cNvPr id="13" name="Rectangle 12"/>
          <p:cNvSpPr/>
          <p:nvPr/>
        </p:nvSpPr>
        <p:spPr>
          <a:xfrm>
            <a:off x="457200" y="3794760"/>
            <a:ext cx="3520440" cy="7589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4014216"/>
            <a:ext cx="1828800" cy="320040"/>
          </a:xfrm>
          <a:prstGeom prst="rect">
            <a:avLst/>
          </a:prstGeom>
          <a:noFill/>
        </p:spPr>
        <p:txBody>
          <a:bodyPr wrap="square">
            <a:spAutoFit/>
          </a:bodyPr>
          <a:lstStyle/>
          <a:p>
            <a:pPr algn="l"/>
            <a:r>
              <a:rPr sz="1200" b="0" i="0">
                <a:solidFill>
                  <a:srgbClr val="444444"/>
                </a:solidFill>
                <a:latin typeface="Noto Sans JP"/>
              </a:rPr>
              <a:t>〜500km</a:t>
            </a:r>
          </a:p>
        </p:txBody>
      </p:sp>
      <p:sp>
        <p:nvSpPr>
          <p:cNvPr id="15" name="TextBox 14"/>
          <p:cNvSpPr txBox="1"/>
          <p:nvPr/>
        </p:nvSpPr>
        <p:spPr>
          <a:xfrm>
            <a:off x="2194560" y="3941064"/>
            <a:ext cx="1691640" cy="475488"/>
          </a:xfrm>
          <a:prstGeom prst="rect">
            <a:avLst/>
          </a:prstGeom>
          <a:noFill/>
        </p:spPr>
        <p:txBody>
          <a:bodyPr wrap="square">
            <a:spAutoFit/>
          </a:bodyPr>
          <a:lstStyle/>
          <a:p>
            <a:pPr algn="r"/>
            <a:r>
              <a:rPr sz="2200" b="1" i="0">
                <a:solidFill>
                  <a:srgbClr val="111111"/>
                </a:solidFill>
                <a:latin typeface="Inter"/>
              </a:rPr>
              <a:t>¥570,000</a:t>
            </a:r>
          </a:p>
        </p:txBody>
      </p:sp>
      <p:sp>
        <p:nvSpPr>
          <p:cNvPr id="16" name="Rectangle 15"/>
          <p:cNvSpPr/>
          <p:nvPr/>
        </p:nvSpPr>
        <p:spPr>
          <a:xfrm>
            <a:off x="457200" y="4617720"/>
            <a:ext cx="3520440" cy="75895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4837176"/>
            <a:ext cx="1828800" cy="320040"/>
          </a:xfrm>
          <a:prstGeom prst="rect">
            <a:avLst/>
          </a:prstGeom>
          <a:noFill/>
        </p:spPr>
        <p:txBody>
          <a:bodyPr wrap="square">
            <a:spAutoFit/>
          </a:bodyPr>
          <a:lstStyle/>
          <a:p>
            <a:pPr algn="l"/>
            <a:r>
              <a:rPr sz="1200" b="0" i="0">
                <a:solidFill>
                  <a:srgbClr val="444444"/>
                </a:solidFill>
                <a:latin typeface="Noto Sans JP"/>
              </a:rPr>
              <a:t>〜800km</a:t>
            </a:r>
          </a:p>
        </p:txBody>
      </p:sp>
      <p:sp>
        <p:nvSpPr>
          <p:cNvPr id="18" name="TextBox 17"/>
          <p:cNvSpPr txBox="1"/>
          <p:nvPr/>
        </p:nvSpPr>
        <p:spPr>
          <a:xfrm>
            <a:off x="2194560" y="4764024"/>
            <a:ext cx="1691640" cy="475488"/>
          </a:xfrm>
          <a:prstGeom prst="rect">
            <a:avLst/>
          </a:prstGeom>
          <a:noFill/>
        </p:spPr>
        <p:txBody>
          <a:bodyPr wrap="square">
            <a:spAutoFit/>
          </a:bodyPr>
          <a:lstStyle/>
          <a:p>
            <a:pPr algn="r"/>
            <a:r>
              <a:rPr sz="2200" b="1" i="0">
                <a:solidFill>
                  <a:srgbClr val="111111"/>
                </a:solidFill>
                <a:latin typeface="Inter"/>
              </a:rPr>
              <a:t>¥840,000</a:t>
            </a:r>
          </a:p>
        </p:txBody>
      </p:sp>
      <p:sp>
        <p:nvSpPr>
          <p:cNvPr id="19" name="Rectangle 18"/>
          <p:cNvSpPr/>
          <p:nvPr/>
        </p:nvSpPr>
        <p:spPr>
          <a:xfrm>
            <a:off x="4114800" y="2240280"/>
            <a:ext cx="3520440" cy="6400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24528" y="2286000"/>
            <a:ext cx="3337560" cy="347472"/>
          </a:xfrm>
          <a:prstGeom prst="rect">
            <a:avLst/>
          </a:prstGeom>
          <a:noFill/>
        </p:spPr>
        <p:txBody>
          <a:bodyPr wrap="square">
            <a:spAutoFit/>
          </a:bodyPr>
          <a:lstStyle/>
          <a:p>
            <a:pPr algn="l"/>
            <a:r>
              <a:rPr sz="1300" b="1" i="0">
                <a:solidFill>
                  <a:srgbClr val="FFFFFF"/>
                </a:solidFill>
                <a:latin typeface="Noto Sans JP"/>
              </a:rPr>
              <a:t>ROADIE シリーズ</a:t>
            </a:r>
          </a:p>
        </p:txBody>
      </p:sp>
      <p:sp>
        <p:nvSpPr>
          <p:cNvPr id="21" name="TextBox 20"/>
          <p:cNvSpPr txBox="1"/>
          <p:nvPr/>
        </p:nvSpPr>
        <p:spPr>
          <a:xfrm>
            <a:off x="4224528" y="2633472"/>
            <a:ext cx="3337560" cy="228600"/>
          </a:xfrm>
          <a:prstGeom prst="rect">
            <a:avLst/>
          </a:prstGeom>
          <a:noFill/>
        </p:spPr>
        <p:txBody>
          <a:bodyPr wrap="square">
            <a:spAutoFit/>
          </a:bodyPr>
          <a:lstStyle/>
          <a:p>
            <a:pPr algn="l"/>
            <a:r>
              <a:rPr sz="1000" b="0" i="0">
                <a:solidFill>
                  <a:srgbClr val="BBBBBB"/>
                </a:solidFill>
                <a:latin typeface="Noto Sans JP"/>
              </a:rPr>
              <a:t>製造地：千葉</a:t>
            </a:r>
          </a:p>
        </p:txBody>
      </p:sp>
      <p:sp>
        <p:nvSpPr>
          <p:cNvPr id="22" name="Rectangle 21"/>
          <p:cNvSpPr/>
          <p:nvPr/>
        </p:nvSpPr>
        <p:spPr>
          <a:xfrm>
            <a:off x="4114800" y="2971800"/>
            <a:ext cx="3520440" cy="75895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24528" y="3191256"/>
            <a:ext cx="1828800" cy="320040"/>
          </a:xfrm>
          <a:prstGeom prst="rect">
            <a:avLst/>
          </a:prstGeom>
          <a:noFill/>
        </p:spPr>
        <p:txBody>
          <a:bodyPr wrap="square">
            <a:spAutoFit/>
          </a:bodyPr>
          <a:lstStyle/>
          <a:p>
            <a:pPr algn="l"/>
            <a:r>
              <a:rPr sz="1200" b="0" i="0">
                <a:solidFill>
                  <a:srgbClr val="444444"/>
                </a:solidFill>
                <a:latin typeface="Noto Sans JP"/>
              </a:rPr>
              <a:t>〜200km</a:t>
            </a:r>
          </a:p>
        </p:txBody>
      </p:sp>
      <p:sp>
        <p:nvSpPr>
          <p:cNvPr id="24" name="TextBox 23"/>
          <p:cNvSpPr txBox="1"/>
          <p:nvPr/>
        </p:nvSpPr>
        <p:spPr>
          <a:xfrm>
            <a:off x="5852160" y="3118104"/>
            <a:ext cx="1691640" cy="475488"/>
          </a:xfrm>
          <a:prstGeom prst="rect">
            <a:avLst/>
          </a:prstGeom>
          <a:noFill/>
        </p:spPr>
        <p:txBody>
          <a:bodyPr wrap="square">
            <a:spAutoFit/>
          </a:bodyPr>
          <a:lstStyle/>
          <a:p>
            <a:pPr algn="r"/>
            <a:r>
              <a:rPr sz="2200" b="1" i="0">
                <a:solidFill>
                  <a:srgbClr val="111111"/>
                </a:solidFill>
                <a:latin typeface="Inter"/>
              </a:rPr>
              <a:t>¥310,000</a:t>
            </a:r>
          </a:p>
        </p:txBody>
      </p:sp>
      <p:sp>
        <p:nvSpPr>
          <p:cNvPr id="25" name="Rectangle 24"/>
          <p:cNvSpPr/>
          <p:nvPr/>
        </p:nvSpPr>
        <p:spPr>
          <a:xfrm>
            <a:off x="4114800" y="3794760"/>
            <a:ext cx="3520440" cy="7589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24528" y="4014216"/>
            <a:ext cx="1828800" cy="320040"/>
          </a:xfrm>
          <a:prstGeom prst="rect">
            <a:avLst/>
          </a:prstGeom>
          <a:noFill/>
        </p:spPr>
        <p:txBody>
          <a:bodyPr wrap="square">
            <a:spAutoFit/>
          </a:bodyPr>
          <a:lstStyle/>
          <a:p>
            <a:pPr algn="l"/>
            <a:r>
              <a:rPr sz="1200" b="0" i="0">
                <a:solidFill>
                  <a:srgbClr val="444444"/>
                </a:solidFill>
                <a:latin typeface="Noto Sans JP"/>
              </a:rPr>
              <a:t>〜500km</a:t>
            </a:r>
          </a:p>
        </p:txBody>
      </p:sp>
      <p:sp>
        <p:nvSpPr>
          <p:cNvPr id="27" name="TextBox 26"/>
          <p:cNvSpPr txBox="1"/>
          <p:nvPr/>
        </p:nvSpPr>
        <p:spPr>
          <a:xfrm>
            <a:off x="5852160" y="3941064"/>
            <a:ext cx="1691640" cy="475488"/>
          </a:xfrm>
          <a:prstGeom prst="rect">
            <a:avLst/>
          </a:prstGeom>
          <a:noFill/>
        </p:spPr>
        <p:txBody>
          <a:bodyPr wrap="square">
            <a:spAutoFit/>
          </a:bodyPr>
          <a:lstStyle/>
          <a:p>
            <a:pPr algn="r"/>
            <a:r>
              <a:rPr sz="2200" b="1" i="0">
                <a:solidFill>
                  <a:srgbClr val="111111"/>
                </a:solidFill>
                <a:latin typeface="Inter"/>
              </a:rPr>
              <a:t>¥570,000</a:t>
            </a:r>
          </a:p>
        </p:txBody>
      </p:sp>
      <p:sp>
        <p:nvSpPr>
          <p:cNvPr id="28" name="Rectangle 27"/>
          <p:cNvSpPr/>
          <p:nvPr/>
        </p:nvSpPr>
        <p:spPr>
          <a:xfrm>
            <a:off x="4114800" y="4617720"/>
            <a:ext cx="3520440" cy="75895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24528" y="4837176"/>
            <a:ext cx="1828800" cy="320040"/>
          </a:xfrm>
          <a:prstGeom prst="rect">
            <a:avLst/>
          </a:prstGeom>
          <a:noFill/>
        </p:spPr>
        <p:txBody>
          <a:bodyPr wrap="square">
            <a:spAutoFit/>
          </a:bodyPr>
          <a:lstStyle/>
          <a:p>
            <a:pPr algn="l"/>
            <a:r>
              <a:rPr sz="1200" b="0" i="0">
                <a:solidFill>
                  <a:srgbClr val="444444"/>
                </a:solidFill>
                <a:latin typeface="Noto Sans JP"/>
              </a:rPr>
              <a:t>〜800km</a:t>
            </a:r>
          </a:p>
        </p:txBody>
      </p:sp>
      <p:sp>
        <p:nvSpPr>
          <p:cNvPr id="30" name="TextBox 29"/>
          <p:cNvSpPr txBox="1"/>
          <p:nvPr/>
        </p:nvSpPr>
        <p:spPr>
          <a:xfrm>
            <a:off x="5852160" y="4764024"/>
            <a:ext cx="1691640" cy="475488"/>
          </a:xfrm>
          <a:prstGeom prst="rect">
            <a:avLst/>
          </a:prstGeom>
          <a:noFill/>
        </p:spPr>
        <p:txBody>
          <a:bodyPr wrap="square">
            <a:spAutoFit/>
          </a:bodyPr>
          <a:lstStyle/>
          <a:p>
            <a:pPr algn="r"/>
            <a:r>
              <a:rPr sz="2200" b="1" i="0">
                <a:solidFill>
                  <a:srgbClr val="111111"/>
                </a:solidFill>
                <a:latin typeface="Inter"/>
              </a:rPr>
              <a:t>¥840,000</a:t>
            </a:r>
          </a:p>
        </p:txBody>
      </p:sp>
      <p:sp>
        <p:nvSpPr>
          <p:cNvPr id="31" name="Rectangle 30"/>
          <p:cNvSpPr/>
          <p:nvPr/>
        </p:nvSpPr>
        <p:spPr>
          <a:xfrm>
            <a:off x="7772400" y="2240280"/>
            <a:ext cx="3520440" cy="6400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82127" y="2286000"/>
            <a:ext cx="3337560" cy="347472"/>
          </a:xfrm>
          <a:prstGeom prst="rect">
            <a:avLst/>
          </a:prstGeom>
          <a:noFill/>
        </p:spPr>
        <p:txBody>
          <a:bodyPr wrap="square">
            <a:spAutoFit/>
          </a:bodyPr>
          <a:lstStyle/>
          <a:p>
            <a:pPr algn="l"/>
            <a:r>
              <a:rPr sz="1300" b="1" i="0">
                <a:solidFill>
                  <a:srgbClr val="FFFFFF"/>
                </a:solidFill>
                <a:latin typeface="Noto Sans JP"/>
              </a:rPr>
              <a:t>MIGRA シリーズ</a:t>
            </a:r>
          </a:p>
        </p:txBody>
      </p:sp>
      <p:sp>
        <p:nvSpPr>
          <p:cNvPr id="33" name="TextBox 32"/>
          <p:cNvSpPr txBox="1"/>
          <p:nvPr/>
        </p:nvSpPr>
        <p:spPr>
          <a:xfrm>
            <a:off x="7882127" y="2633472"/>
            <a:ext cx="3337560" cy="228600"/>
          </a:xfrm>
          <a:prstGeom prst="rect">
            <a:avLst/>
          </a:prstGeom>
          <a:noFill/>
        </p:spPr>
        <p:txBody>
          <a:bodyPr wrap="square">
            <a:spAutoFit/>
          </a:bodyPr>
          <a:lstStyle/>
          <a:p>
            <a:pPr algn="l"/>
            <a:r>
              <a:rPr sz="1000" b="0" i="0">
                <a:solidFill>
                  <a:srgbClr val="BBBBBB"/>
                </a:solidFill>
                <a:latin typeface="Noto Sans JP"/>
              </a:rPr>
              <a:t>製造地：要確認</a:t>
            </a:r>
          </a:p>
        </p:txBody>
      </p:sp>
      <p:sp>
        <p:nvSpPr>
          <p:cNvPr id="34" name="Rectangle 33"/>
          <p:cNvSpPr/>
          <p:nvPr/>
        </p:nvSpPr>
        <p:spPr>
          <a:xfrm>
            <a:off x="7772400" y="2971800"/>
            <a:ext cx="3520440" cy="75895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82127" y="3191256"/>
            <a:ext cx="1828800" cy="320040"/>
          </a:xfrm>
          <a:prstGeom prst="rect">
            <a:avLst/>
          </a:prstGeom>
          <a:noFill/>
        </p:spPr>
        <p:txBody>
          <a:bodyPr wrap="square">
            <a:spAutoFit/>
          </a:bodyPr>
          <a:lstStyle/>
          <a:p>
            <a:pPr algn="l"/>
            <a:r>
              <a:rPr sz="1200" b="0" i="0">
                <a:solidFill>
                  <a:srgbClr val="444444"/>
                </a:solidFill>
                <a:latin typeface="Noto Sans JP"/>
              </a:rPr>
              <a:t>〜200km</a:t>
            </a:r>
          </a:p>
        </p:txBody>
      </p:sp>
      <p:sp>
        <p:nvSpPr>
          <p:cNvPr id="36" name="TextBox 35"/>
          <p:cNvSpPr txBox="1"/>
          <p:nvPr/>
        </p:nvSpPr>
        <p:spPr>
          <a:xfrm>
            <a:off x="9509760" y="3118104"/>
            <a:ext cx="1691640" cy="475488"/>
          </a:xfrm>
          <a:prstGeom prst="rect">
            <a:avLst/>
          </a:prstGeom>
          <a:noFill/>
        </p:spPr>
        <p:txBody>
          <a:bodyPr wrap="square">
            <a:spAutoFit/>
          </a:bodyPr>
          <a:lstStyle/>
          <a:p>
            <a:pPr algn="r"/>
            <a:r>
              <a:rPr sz="2200" b="1" i="0">
                <a:solidFill>
                  <a:srgbClr val="111111"/>
                </a:solidFill>
                <a:latin typeface="Inter"/>
              </a:rPr>
              <a:t>¥310,000</a:t>
            </a:r>
          </a:p>
        </p:txBody>
      </p:sp>
      <p:sp>
        <p:nvSpPr>
          <p:cNvPr id="37" name="Rectangle 36"/>
          <p:cNvSpPr/>
          <p:nvPr/>
        </p:nvSpPr>
        <p:spPr>
          <a:xfrm>
            <a:off x="7772400" y="3794760"/>
            <a:ext cx="3520440" cy="7589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82127" y="4014216"/>
            <a:ext cx="1828800" cy="320040"/>
          </a:xfrm>
          <a:prstGeom prst="rect">
            <a:avLst/>
          </a:prstGeom>
          <a:noFill/>
        </p:spPr>
        <p:txBody>
          <a:bodyPr wrap="square">
            <a:spAutoFit/>
          </a:bodyPr>
          <a:lstStyle/>
          <a:p>
            <a:pPr algn="l"/>
            <a:r>
              <a:rPr sz="1200" b="0" i="0">
                <a:solidFill>
                  <a:srgbClr val="444444"/>
                </a:solidFill>
                <a:latin typeface="Noto Sans JP"/>
              </a:rPr>
              <a:t>〜500km</a:t>
            </a:r>
          </a:p>
        </p:txBody>
      </p:sp>
      <p:sp>
        <p:nvSpPr>
          <p:cNvPr id="39" name="TextBox 38"/>
          <p:cNvSpPr txBox="1"/>
          <p:nvPr/>
        </p:nvSpPr>
        <p:spPr>
          <a:xfrm>
            <a:off x="9509760" y="3941064"/>
            <a:ext cx="1691640" cy="475488"/>
          </a:xfrm>
          <a:prstGeom prst="rect">
            <a:avLst/>
          </a:prstGeom>
          <a:noFill/>
        </p:spPr>
        <p:txBody>
          <a:bodyPr wrap="square">
            <a:spAutoFit/>
          </a:bodyPr>
          <a:lstStyle/>
          <a:p>
            <a:pPr algn="r"/>
            <a:r>
              <a:rPr sz="2200" b="1" i="0">
                <a:solidFill>
                  <a:srgbClr val="111111"/>
                </a:solidFill>
                <a:latin typeface="Inter"/>
              </a:rPr>
              <a:t>¥570,000</a:t>
            </a:r>
          </a:p>
        </p:txBody>
      </p:sp>
      <p:sp>
        <p:nvSpPr>
          <p:cNvPr id="40" name="Rectangle 39"/>
          <p:cNvSpPr/>
          <p:nvPr/>
        </p:nvSpPr>
        <p:spPr>
          <a:xfrm>
            <a:off x="7772400" y="4617720"/>
            <a:ext cx="3520440" cy="75895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82127" y="4837176"/>
            <a:ext cx="1828800" cy="320040"/>
          </a:xfrm>
          <a:prstGeom prst="rect">
            <a:avLst/>
          </a:prstGeom>
          <a:noFill/>
        </p:spPr>
        <p:txBody>
          <a:bodyPr wrap="square">
            <a:spAutoFit/>
          </a:bodyPr>
          <a:lstStyle/>
          <a:p>
            <a:pPr algn="l"/>
            <a:r>
              <a:rPr sz="1200" b="0" i="0">
                <a:solidFill>
                  <a:srgbClr val="444444"/>
                </a:solidFill>
                <a:latin typeface="Noto Sans JP"/>
              </a:rPr>
              <a:t>〜800km</a:t>
            </a:r>
          </a:p>
        </p:txBody>
      </p:sp>
      <p:sp>
        <p:nvSpPr>
          <p:cNvPr id="42" name="TextBox 41"/>
          <p:cNvSpPr txBox="1"/>
          <p:nvPr/>
        </p:nvSpPr>
        <p:spPr>
          <a:xfrm>
            <a:off x="9509760" y="4764024"/>
            <a:ext cx="1691640" cy="475488"/>
          </a:xfrm>
          <a:prstGeom prst="rect">
            <a:avLst/>
          </a:prstGeom>
          <a:noFill/>
        </p:spPr>
        <p:txBody>
          <a:bodyPr wrap="square">
            <a:spAutoFit/>
          </a:bodyPr>
          <a:lstStyle/>
          <a:p>
            <a:pPr algn="r"/>
            <a:r>
              <a:rPr sz="2200" b="1" i="0">
                <a:solidFill>
                  <a:srgbClr val="111111"/>
                </a:solidFill>
                <a:latin typeface="Inter"/>
              </a:rPr>
              <a:t>¥840,000</a:t>
            </a:r>
          </a:p>
        </p:txBody>
      </p:sp>
      <p:sp>
        <p:nvSpPr>
          <p:cNvPr id="43" name="TextBox 42"/>
          <p:cNvSpPr txBox="1"/>
          <p:nvPr/>
        </p:nvSpPr>
        <p:spPr>
          <a:xfrm>
            <a:off x="457200" y="5394960"/>
            <a:ext cx="11247120" cy="292608"/>
          </a:xfrm>
          <a:prstGeom prst="rect">
            <a:avLst/>
          </a:prstGeom>
          <a:noFill/>
        </p:spPr>
        <p:txBody>
          <a:bodyPr wrap="square">
            <a:spAutoFit/>
          </a:bodyPr>
          <a:lstStyle/>
          <a:p>
            <a:pPr algn="l"/>
            <a:r>
              <a:rPr sz="1000" b="0" i="0">
                <a:solidFill>
                  <a:srgbClr val="BBBBBB"/>
                </a:solidFill>
                <a:latin typeface="Noto Sans JP"/>
              </a:rPr>
              <a:t>※MIGRAシリーズは特殊車両許可が必要な場合があります。別途お見積もりをご案内します。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Noto Sans JP"/>
              </a:rPr>
              <a:t>収益シミュレーション</a:t>
            </a:r>
          </a:p>
        </p:txBody>
      </p:sp>
      <p:sp>
        <p:nvSpPr>
          <p:cNvPr id="4" name="TextBox 3"/>
          <p:cNvSpPr txBox="1"/>
          <p:nvPr/>
        </p:nvSpPr>
        <p:spPr>
          <a:xfrm>
            <a:off x="228600" y="868680"/>
            <a:ext cx="8229600" cy="347472"/>
          </a:xfrm>
          <a:prstGeom prst="rect">
            <a:avLst/>
          </a:prstGeom>
          <a:noFill/>
        </p:spPr>
        <p:txBody>
          <a:bodyPr wrap="square">
            <a:spAutoFit/>
          </a:bodyPr>
          <a:lstStyle/>
          <a:p>
            <a:pPr algn="l"/>
            <a:r>
              <a:rPr sz="1300" b="0" i="0">
                <a:solidFill>
                  <a:srgbClr val="888888"/>
                </a:solidFill>
                <a:latin typeface="Noto Sans JP"/>
              </a:rPr>
              <a:t>グランピング施設への1台導入モデルケース（ROADIE）</a:t>
            </a:r>
          </a:p>
        </p:txBody>
      </p:sp>
      <p:cxnSp>
        <p:nvCxnSpPr>
          <p:cNvPr id="5" name="Connector 4"/>
          <p:cNvCxnSpPr/>
          <p:nvPr/>
        </p:nvCxnSpPr>
        <p:spPr>
          <a:xfrm>
            <a:off x="228600" y="1298448"/>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11480" y="1463040"/>
            <a:ext cx="5394960" cy="512064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600200"/>
            <a:ext cx="4937760" cy="347472"/>
          </a:xfrm>
          <a:prstGeom prst="rect">
            <a:avLst/>
          </a:prstGeom>
          <a:noFill/>
        </p:spPr>
        <p:txBody>
          <a:bodyPr wrap="square">
            <a:spAutoFit/>
          </a:bodyPr>
          <a:lstStyle/>
          <a:p>
            <a:pPr algn="l"/>
            <a:r>
              <a:rPr sz="1400" b="1" i="0">
                <a:solidFill>
                  <a:srgbClr val="888888"/>
                </a:solidFill>
                <a:latin typeface="Noto Sans JP"/>
              </a:rPr>
              <a:t>初期投資</a:t>
            </a:r>
          </a:p>
        </p:txBody>
      </p:sp>
      <p:sp>
        <p:nvSpPr>
          <p:cNvPr id="8" name="TextBox 7"/>
          <p:cNvSpPr txBox="1"/>
          <p:nvPr/>
        </p:nvSpPr>
        <p:spPr>
          <a:xfrm>
            <a:off x="594360" y="2057400"/>
            <a:ext cx="3291840" cy="347472"/>
          </a:xfrm>
          <a:prstGeom prst="rect">
            <a:avLst/>
          </a:prstGeom>
          <a:noFill/>
        </p:spPr>
        <p:txBody>
          <a:bodyPr wrap="square">
            <a:spAutoFit/>
          </a:bodyPr>
          <a:lstStyle/>
          <a:p>
            <a:pPr algn="l"/>
            <a:r>
              <a:rPr sz="1200" b="0" i="0">
                <a:solidFill>
                  <a:srgbClr val="444444"/>
                </a:solidFill>
                <a:latin typeface="Noto Sans JP"/>
              </a:rPr>
              <a:t>ROADIE 本体価格</a:t>
            </a:r>
          </a:p>
        </p:txBody>
      </p:sp>
      <p:sp>
        <p:nvSpPr>
          <p:cNvPr id="9" name="TextBox 8"/>
          <p:cNvSpPr txBox="1"/>
          <p:nvPr/>
        </p:nvSpPr>
        <p:spPr>
          <a:xfrm>
            <a:off x="3246120" y="2057400"/>
            <a:ext cx="2377440" cy="347472"/>
          </a:xfrm>
          <a:prstGeom prst="rect">
            <a:avLst/>
          </a:prstGeom>
          <a:noFill/>
        </p:spPr>
        <p:txBody>
          <a:bodyPr wrap="square">
            <a:spAutoFit/>
          </a:bodyPr>
          <a:lstStyle/>
          <a:p>
            <a:pPr algn="r"/>
            <a:r>
              <a:rPr sz="1300" b="1" i="0">
                <a:solidFill>
                  <a:srgbClr val="111111"/>
                </a:solidFill>
                <a:latin typeface="Inter"/>
              </a:rPr>
              <a:t>¥10,250,000</a:t>
            </a:r>
          </a:p>
        </p:txBody>
      </p:sp>
      <p:sp>
        <p:nvSpPr>
          <p:cNvPr id="10" name="TextBox 9"/>
          <p:cNvSpPr txBox="1"/>
          <p:nvPr/>
        </p:nvSpPr>
        <p:spPr>
          <a:xfrm>
            <a:off x="594360" y="2514600"/>
            <a:ext cx="3291840" cy="347472"/>
          </a:xfrm>
          <a:prstGeom prst="rect">
            <a:avLst/>
          </a:prstGeom>
          <a:noFill/>
        </p:spPr>
        <p:txBody>
          <a:bodyPr wrap="square">
            <a:spAutoFit/>
          </a:bodyPr>
          <a:lstStyle/>
          <a:p>
            <a:pPr algn="l"/>
            <a:r>
              <a:rPr sz="1200" b="0" i="0">
                <a:solidFill>
                  <a:srgbClr val="444444"/>
                </a:solidFill>
                <a:latin typeface="Noto Sans JP"/>
              </a:rPr>
              <a:t>輸送費（中距離）</a:t>
            </a:r>
          </a:p>
        </p:txBody>
      </p:sp>
      <p:sp>
        <p:nvSpPr>
          <p:cNvPr id="11" name="TextBox 10"/>
          <p:cNvSpPr txBox="1"/>
          <p:nvPr/>
        </p:nvSpPr>
        <p:spPr>
          <a:xfrm>
            <a:off x="3246120" y="2514600"/>
            <a:ext cx="2377440" cy="347472"/>
          </a:xfrm>
          <a:prstGeom prst="rect">
            <a:avLst/>
          </a:prstGeom>
          <a:noFill/>
        </p:spPr>
        <p:txBody>
          <a:bodyPr wrap="square">
            <a:spAutoFit/>
          </a:bodyPr>
          <a:lstStyle/>
          <a:p>
            <a:pPr algn="r"/>
            <a:r>
              <a:rPr sz="1300" b="1" i="0">
                <a:solidFill>
                  <a:srgbClr val="111111"/>
                </a:solidFill>
                <a:latin typeface="Inter"/>
              </a:rPr>
              <a:t>¥570,000</a:t>
            </a:r>
          </a:p>
        </p:txBody>
      </p:sp>
      <p:sp>
        <p:nvSpPr>
          <p:cNvPr id="12" name="TextBox 11"/>
          <p:cNvSpPr txBox="1"/>
          <p:nvPr/>
        </p:nvSpPr>
        <p:spPr>
          <a:xfrm>
            <a:off x="594360" y="2971800"/>
            <a:ext cx="3291840" cy="347472"/>
          </a:xfrm>
          <a:prstGeom prst="rect">
            <a:avLst/>
          </a:prstGeom>
          <a:noFill/>
        </p:spPr>
        <p:txBody>
          <a:bodyPr wrap="square">
            <a:spAutoFit/>
          </a:bodyPr>
          <a:lstStyle/>
          <a:p>
            <a:pPr algn="l"/>
            <a:r>
              <a:rPr sz="1200" b="0" i="0">
                <a:solidFill>
                  <a:srgbClr val="444444"/>
                </a:solidFill>
                <a:latin typeface="Noto Sans JP"/>
              </a:rPr>
              <a:t>設置・造成工事（概算）</a:t>
            </a:r>
          </a:p>
        </p:txBody>
      </p:sp>
      <p:sp>
        <p:nvSpPr>
          <p:cNvPr id="13" name="TextBox 12"/>
          <p:cNvSpPr txBox="1"/>
          <p:nvPr/>
        </p:nvSpPr>
        <p:spPr>
          <a:xfrm>
            <a:off x="3246120" y="2971800"/>
            <a:ext cx="2377440" cy="347472"/>
          </a:xfrm>
          <a:prstGeom prst="rect">
            <a:avLst/>
          </a:prstGeom>
          <a:noFill/>
        </p:spPr>
        <p:txBody>
          <a:bodyPr wrap="square">
            <a:spAutoFit/>
          </a:bodyPr>
          <a:lstStyle/>
          <a:p>
            <a:pPr algn="r"/>
            <a:r>
              <a:rPr sz="1300" b="1" i="0">
                <a:solidFill>
                  <a:srgbClr val="111111"/>
                </a:solidFill>
                <a:latin typeface="Inter"/>
              </a:rPr>
              <a:t>¥500,000</a:t>
            </a:r>
          </a:p>
        </p:txBody>
      </p:sp>
      <p:sp>
        <p:nvSpPr>
          <p:cNvPr id="14" name="TextBox 13"/>
          <p:cNvSpPr txBox="1"/>
          <p:nvPr/>
        </p:nvSpPr>
        <p:spPr>
          <a:xfrm>
            <a:off x="594360" y="3429000"/>
            <a:ext cx="3291840" cy="347472"/>
          </a:xfrm>
          <a:prstGeom prst="rect">
            <a:avLst/>
          </a:prstGeom>
          <a:noFill/>
        </p:spPr>
        <p:txBody>
          <a:bodyPr wrap="square">
            <a:spAutoFit/>
          </a:bodyPr>
          <a:lstStyle/>
          <a:p>
            <a:pPr algn="l"/>
            <a:r>
              <a:rPr sz="1200" b="0" i="0">
                <a:solidFill>
                  <a:srgbClr val="444444"/>
                </a:solidFill>
                <a:latin typeface="Noto Sans JP"/>
              </a:rPr>
              <a:t>カスタム・オプション</a:t>
            </a:r>
          </a:p>
        </p:txBody>
      </p:sp>
      <p:sp>
        <p:nvSpPr>
          <p:cNvPr id="15" name="TextBox 14"/>
          <p:cNvSpPr txBox="1"/>
          <p:nvPr/>
        </p:nvSpPr>
        <p:spPr>
          <a:xfrm>
            <a:off x="3246120" y="3429000"/>
            <a:ext cx="2377440" cy="347472"/>
          </a:xfrm>
          <a:prstGeom prst="rect">
            <a:avLst/>
          </a:prstGeom>
          <a:noFill/>
        </p:spPr>
        <p:txBody>
          <a:bodyPr wrap="square">
            <a:spAutoFit/>
          </a:bodyPr>
          <a:lstStyle/>
          <a:p>
            <a:pPr algn="r"/>
            <a:r>
              <a:rPr sz="1300" b="1" i="0">
                <a:solidFill>
                  <a:srgbClr val="111111"/>
                </a:solidFill>
                <a:latin typeface="Inter"/>
              </a:rPr>
              <a:t>¥500,000</a:t>
            </a:r>
          </a:p>
        </p:txBody>
      </p:sp>
      <p:cxnSp>
        <p:nvCxnSpPr>
          <p:cNvPr id="16" name="Connector 15"/>
          <p:cNvCxnSpPr/>
          <p:nvPr/>
        </p:nvCxnSpPr>
        <p:spPr>
          <a:xfrm>
            <a:off x="594360" y="3959352"/>
            <a:ext cx="498348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4360" y="4050791"/>
            <a:ext cx="2926080" cy="475488"/>
          </a:xfrm>
          <a:prstGeom prst="rect">
            <a:avLst/>
          </a:prstGeom>
          <a:noFill/>
        </p:spPr>
        <p:txBody>
          <a:bodyPr wrap="square">
            <a:spAutoFit/>
          </a:bodyPr>
          <a:lstStyle/>
          <a:p>
            <a:pPr algn="l"/>
            <a:r>
              <a:rPr sz="1500" b="1" i="0">
                <a:solidFill>
                  <a:srgbClr val="111111"/>
                </a:solidFill>
                <a:latin typeface="Noto Sans JP"/>
              </a:rPr>
              <a:t>初期投資合計</a:t>
            </a:r>
          </a:p>
        </p:txBody>
      </p:sp>
      <p:sp>
        <p:nvSpPr>
          <p:cNvPr id="18" name="TextBox 17"/>
          <p:cNvSpPr txBox="1"/>
          <p:nvPr/>
        </p:nvSpPr>
        <p:spPr>
          <a:xfrm>
            <a:off x="2743200" y="3995928"/>
            <a:ext cx="2743200" cy="566928"/>
          </a:xfrm>
          <a:prstGeom prst="rect">
            <a:avLst/>
          </a:prstGeom>
          <a:noFill/>
        </p:spPr>
        <p:txBody>
          <a:bodyPr wrap="square">
            <a:spAutoFit/>
          </a:bodyPr>
          <a:lstStyle/>
          <a:p>
            <a:pPr algn="r"/>
            <a:r>
              <a:rPr sz="2400" b="1" i="0">
                <a:solidFill>
                  <a:srgbClr val="111111"/>
                </a:solidFill>
                <a:latin typeface="Inter"/>
              </a:rPr>
              <a:t>¥11,820,000</a:t>
            </a:r>
          </a:p>
        </p:txBody>
      </p:sp>
      <p:sp>
        <p:nvSpPr>
          <p:cNvPr id="19" name="Rectangle 18"/>
          <p:cNvSpPr/>
          <p:nvPr/>
        </p:nvSpPr>
        <p:spPr>
          <a:xfrm>
            <a:off x="6217920" y="1463040"/>
            <a:ext cx="5486400" cy="32461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463040"/>
            <a:ext cx="5486400" cy="54864"/>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1600200"/>
            <a:ext cx="5120640" cy="347472"/>
          </a:xfrm>
          <a:prstGeom prst="rect">
            <a:avLst/>
          </a:prstGeom>
          <a:noFill/>
        </p:spPr>
        <p:txBody>
          <a:bodyPr wrap="square">
            <a:spAutoFit/>
          </a:bodyPr>
          <a:lstStyle/>
          <a:p>
            <a:pPr algn="l"/>
            <a:r>
              <a:rPr sz="1400" b="1" i="0">
                <a:solidFill>
                  <a:srgbClr val="888888"/>
                </a:solidFill>
                <a:latin typeface="Noto Sans JP"/>
              </a:rPr>
              <a:t>年間収益シミュレーション</a:t>
            </a:r>
          </a:p>
        </p:txBody>
      </p:sp>
      <p:sp>
        <p:nvSpPr>
          <p:cNvPr id="22" name="TextBox 21"/>
          <p:cNvSpPr txBox="1"/>
          <p:nvPr/>
        </p:nvSpPr>
        <p:spPr>
          <a:xfrm>
            <a:off x="6400800" y="2057400"/>
            <a:ext cx="2560320" cy="347472"/>
          </a:xfrm>
          <a:prstGeom prst="rect">
            <a:avLst/>
          </a:prstGeom>
          <a:noFill/>
        </p:spPr>
        <p:txBody>
          <a:bodyPr wrap="square">
            <a:spAutoFit/>
          </a:bodyPr>
          <a:lstStyle/>
          <a:p>
            <a:pPr algn="l"/>
            <a:r>
              <a:rPr sz="1200" b="0" i="0">
                <a:solidFill>
                  <a:srgbClr val="444444"/>
                </a:solidFill>
                <a:latin typeface="Noto Sans JP"/>
              </a:rPr>
              <a:t>宿泊単価</a:t>
            </a:r>
          </a:p>
        </p:txBody>
      </p:sp>
      <p:sp>
        <p:nvSpPr>
          <p:cNvPr id="23" name="TextBox 22"/>
          <p:cNvSpPr txBox="1"/>
          <p:nvPr/>
        </p:nvSpPr>
        <p:spPr>
          <a:xfrm>
            <a:off x="8321040" y="2057400"/>
            <a:ext cx="3200400" cy="347472"/>
          </a:xfrm>
          <a:prstGeom prst="rect">
            <a:avLst/>
          </a:prstGeom>
          <a:noFill/>
        </p:spPr>
        <p:txBody>
          <a:bodyPr wrap="square">
            <a:spAutoFit/>
          </a:bodyPr>
          <a:lstStyle/>
          <a:p>
            <a:pPr algn="r"/>
            <a:r>
              <a:rPr sz="1300" b="1" i="0">
                <a:solidFill>
                  <a:srgbClr val="111111"/>
                </a:solidFill>
                <a:latin typeface="Noto Sans JP"/>
              </a:rPr>
              <a:t>¥25,000 ／泊</a:t>
            </a:r>
          </a:p>
        </p:txBody>
      </p:sp>
      <p:sp>
        <p:nvSpPr>
          <p:cNvPr id="24" name="TextBox 23"/>
          <p:cNvSpPr txBox="1"/>
          <p:nvPr/>
        </p:nvSpPr>
        <p:spPr>
          <a:xfrm>
            <a:off x="6400800" y="2514600"/>
            <a:ext cx="2560320" cy="347472"/>
          </a:xfrm>
          <a:prstGeom prst="rect">
            <a:avLst/>
          </a:prstGeom>
          <a:noFill/>
        </p:spPr>
        <p:txBody>
          <a:bodyPr wrap="square">
            <a:spAutoFit/>
          </a:bodyPr>
          <a:lstStyle/>
          <a:p>
            <a:pPr algn="l"/>
            <a:r>
              <a:rPr sz="1200" b="0" i="0">
                <a:solidFill>
                  <a:srgbClr val="444444"/>
                </a:solidFill>
                <a:latin typeface="Noto Sans JP"/>
              </a:rPr>
              <a:t>稼 働 率</a:t>
            </a:r>
          </a:p>
        </p:txBody>
      </p:sp>
      <p:sp>
        <p:nvSpPr>
          <p:cNvPr id="25" name="TextBox 24"/>
          <p:cNvSpPr txBox="1"/>
          <p:nvPr/>
        </p:nvSpPr>
        <p:spPr>
          <a:xfrm>
            <a:off x="8321040" y="2514600"/>
            <a:ext cx="3200400" cy="347472"/>
          </a:xfrm>
          <a:prstGeom prst="rect">
            <a:avLst/>
          </a:prstGeom>
          <a:noFill/>
        </p:spPr>
        <p:txBody>
          <a:bodyPr wrap="square">
            <a:spAutoFit/>
          </a:bodyPr>
          <a:lstStyle/>
          <a:p>
            <a:pPr algn="r"/>
            <a:r>
              <a:rPr sz="1300" b="1" i="0">
                <a:solidFill>
                  <a:srgbClr val="111111"/>
                </a:solidFill>
                <a:latin typeface="Noto Sans JP"/>
              </a:rPr>
              <a:t>60%（年間 219泊）</a:t>
            </a:r>
          </a:p>
        </p:txBody>
      </p:sp>
      <p:cxnSp>
        <p:nvCxnSpPr>
          <p:cNvPr id="26" name="Connector 25"/>
          <p:cNvCxnSpPr/>
          <p:nvPr/>
        </p:nvCxnSpPr>
        <p:spPr>
          <a:xfrm>
            <a:off x="6400800" y="3044952"/>
            <a:ext cx="512064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400800" y="3136392"/>
            <a:ext cx="3200400" cy="411480"/>
          </a:xfrm>
          <a:prstGeom prst="rect">
            <a:avLst/>
          </a:prstGeom>
          <a:noFill/>
        </p:spPr>
        <p:txBody>
          <a:bodyPr wrap="square">
            <a:spAutoFit/>
          </a:bodyPr>
          <a:lstStyle/>
          <a:p>
            <a:pPr algn="l"/>
            <a:r>
              <a:rPr sz="1400" b="1" i="0">
                <a:solidFill>
                  <a:srgbClr val="111111"/>
                </a:solidFill>
                <a:latin typeface="Noto Sans JP"/>
              </a:rPr>
              <a:t>年間売上（概算）</a:t>
            </a:r>
          </a:p>
        </p:txBody>
      </p:sp>
      <p:sp>
        <p:nvSpPr>
          <p:cNvPr id="28" name="TextBox 27"/>
          <p:cNvSpPr txBox="1"/>
          <p:nvPr/>
        </p:nvSpPr>
        <p:spPr>
          <a:xfrm>
            <a:off x="6400800" y="3566160"/>
            <a:ext cx="5074920" cy="804672"/>
          </a:xfrm>
          <a:prstGeom prst="rect">
            <a:avLst/>
          </a:prstGeom>
          <a:noFill/>
        </p:spPr>
        <p:txBody>
          <a:bodyPr wrap="square">
            <a:spAutoFit/>
          </a:bodyPr>
          <a:lstStyle/>
          <a:p>
            <a:pPr algn="r"/>
            <a:r>
              <a:rPr sz="4000" b="1" i="0">
                <a:solidFill>
                  <a:srgbClr val="111111"/>
                </a:solidFill>
                <a:latin typeface="Inter"/>
              </a:rPr>
              <a:t>¥5,475,000</a:t>
            </a:r>
          </a:p>
        </p:txBody>
      </p:sp>
      <p:sp>
        <p:nvSpPr>
          <p:cNvPr id="29" name="Rectangle 28"/>
          <p:cNvSpPr/>
          <p:nvPr/>
        </p:nvSpPr>
        <p:spPr>
          <a:xfrm>
            <a:off x="6217920" y="4828032"/>
            <a:ext cx="5486400" cy="180136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4956048"/>
            <a:ext cx="5120640" cy="347472"/>
          </a:xfrm>
          <a:prstGeom prst="rect">
            <a:avLst/>
          </a:prstGeom>
          <a:noFill/>
        </p:spPr>
        <p:txBody>
          <a:bodyPr wrap="square">
            <a:spAutoFit/>
          </a:bodyPr>
          <a:lstStyle/>
          <a:p>
            <a:pPr algn="l"/>
            <a:r>
              <a:rPr sz="1300" b="0" i="0">
                <a:solidFill>
                  <a:srgbClr val="BBBBBB"/>
                </a:solidFill>
                <a:latin typeface="Noto Sans JP"/>
              </a:rPr>
              <a:t>投資回収期間</a:t>
            </a:r>
          </a:p>
        </p:txBody>
      </p:sp>
      <p:sp>
        <p:nvSpPr>
          <p:cNvPr id="31" name="TextBox 30"/>
          <p:cNvSpPr txBox="1"/>
          <p:nvPr/>
        </p:nvSpPr>
        <p:spPr>
          <a:xfrm>
            <a:off x="6400800" y="5321808"/>
            <a:ext cx="5074920" cy="914400"/>
          </a:xfrm>
          <a:prstGeom prst="rect">
            <a:avLst/>
          </a:prstGeom>
          <a:noFill/>
        </p:spPr>
        <p:txBody>
          <a:bodyPr wrap="square">
            <a:spAutoFit/>
          </a:bodyPr>
          <a:lstStyle/>
          <a:p>
            <a:pPr algn="ctr"/>
            <a:r>
              <a:rPr sz="4000" b="1" i="0">
                <a:solidFill>
                  <a:srgbClr val="FFFFFF"/>
                </a:solidFill>
                <a:latin typeface="Noto Sans JP"/>
              </a:rPr>
              <a:t>約2年2ヶ月</a:t>
            </a:r>
          </a:p>
        </p:txBody>
      </p:sp>
      <p:sp>
        <p:nvSpPr>
          <p:cNvPr id="32" name="TextBox 31"/>
          <p:cNvSpPr txBox="1"/>
          <p:nvPr/>
        </p:nvSpPr>
        <p:spPr>
          <a:xfrm>
            <a:off x="6400800" y="6291072"/>
            <a:ext cx="5074920" cy="292608"/>
          </a:xfrm>
          <a:prstGeom prst="rect">
            <a:avLst/>
          </a:prstGeom>
          <a:noFill/>
        </p:spPr>
        <p:txBody>
          <a:bodyPr wrap="square">
            <a:spAutoFit/>
          </a:bodyPr>
          <a:lstStyle/>
          <a:p>
            <a:pPr algn="ctr"/>
            <a:r>
              <a:rPr sz="1000" b="0" i="0">
                <a:solidFill>
                  <a:srgbClr val="BBBBBB"/>
                </a:solidFill>
                <a:latin typeface="Noto Sans JP"/>
              </a:rPr>
              <a:t>複数台導入でスケールメリット。中古売却でさらにコスト低減。</a:t>
            </a:r>
          </a:p>
        </p:txBody>
      </p:sp>
      <p:sp>
        <p:nvSpPr>
          <p:cNvPr id="33" name="TextBox 32"/>
          <p:cNvSpPr txBox="1"/>
          <p:nvPr/>
        </p:nvSpPr>
        <p:spPr>
          <a:xfrm>
            <a:off x="411480" y="6601968"/>
            <a:ext cx="11247120" cy="228600"/>
          </a:xfrm>
          <a:prstGeom prst="rect">
            <a:avLst/>
          </a:prstGeom>
          <a:noFill/>
        </p:spPr>
        <p:txBody>
          <a:bodyPr wrap="square">
            <a:spAutoFit/>
          </a:bodyPr>
          <a:lstStyle/>
          <a:p>
            <a:pPr algn="l"/>
            <a:r>
              <a:rPr sz="900" b="0" i="0">
                <a:solidFill>
                  <a:srgbClr val="BBBBBB"/>
                </a:solidFill>
                <a:latin typeface="Noto Sans JP"/>
              </a:rPr>
              <a:t>※上記はモデルケースです。実際の数値は立地・運営状況により異なります。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Noto Sans JP"/>
              </a:rPr>
              <a:t>中古専門プラットフォーム</a:t>
            </a:r>
          </a:p>
        </p:txBody>
      </p:sp>
      <p:cxnSp>
        <p:nvCxnSpPr>
          <p:cNvPr id="4" name="Connector 3"/>
          <p:cNvCxnSpPr/>
          <p:nvPr/>
        </p:nvCxnSpPr>
        <p:spPr>
          <a:xfrm>
            <a:off x="228600" y="1051560"/>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1444752"/>
            <a:ext cx="7772400" cy="566928"/>
          </a:xfrm>
          <a:prstGeom prst="rect">
            <a:avLst/>
          </a:prstGeom>
          <a:noFill/>
        </p:spPr>
        <p:txBody>
          <a:bodyPr wrap="square">
            <a:spAutoFit/>
          </a:bodyPr>
          <a:lstStyle/>
          <a:p>
            <a:pPr algn="l"/>
            <a:r>
              <a:rPr sz="2000" b="1" i="0">
                <a:solidFill>
                  <a:srgbClr val="111111"/>
                </a:solidFill>
                <a:latin typeface="Inter"/>
              </a:rPr>
              <a:t>TRAILER HOUSE SECOND HAND by YADOKARI</a:t>
            </a:r>
          </a:p>
        </p:txBody>
      </p:sp>
      <p:sp>
        <p:nvSpPr>
          <p:cNvPr id="6" name="TextBox 5"/>
          <p:cNvSpPr txBox="1"/>
          <p:nvPr/>
        </p:nvSpPr>
        <p:spPr>
          <a:xfrm>
            <a:off x="457200" y="2084831"/>
            <a:ext cx="5486400" cy="804672"/>
          </a:xfrm>
          <a:prstGeom prst="rect">
            <a:avLst/>
          </a:prstGeom>
          <a:noFill/>
        </p:spPr>
        <p:txBody>
          <a:bodyPr wrap="square">
            <a:spAutoFit/>
          </a:bodyPr>
          <a:lstStyle/>
          <a:p>
            <a:pPr algn="l"/>
            <a:r>
              <a:rPr sz="1300" b="0" i="0">
                <a:solidFill>
                  <a:srgbClr val="444444"/>
                </a:solidFill>
                <a:latin typeface="Noto Sans JP"/>
              </a:rPr>
              <a:t>日本初の中古トレーラーハウス専門サイトを自社運営。
導入後の売却（出口戦略）や、初期費用を抑えた中古購入を強力にサポート。</a:t>
            </a:r>
          </a:p>
        </p:txBody>
      </p:sp>
      <p:cxnSp>
        <p:nvCxnSpPr>
          <p:cNvPr id="7" name="Connector 6"/>
          <p:cNvCxnSpPr/>
          <p:nvPr/>
        </p:nvCxnSpPr>
        <p:spPr>
          <a:xfrm>
            <a:off x="457200" y="2999232"/>
            <a:ext cx="539496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3127248"/>
            <a:ext cx="1828800" cy="320040"/>
          </a:xfrm>
          <a:prstGeom prst="rect">
            <a:avLst/>
          </a:prstGeom>
          <a:noFill/>
        </p:spPr>
        <p:txBody>
          <a:bodyPr wrap="square">
            <a:spAutoFit/>
          </a:bodyPr>
          <a:lstStyle/>
          <a:p>
            <a:pPr algn="l"/>
            <a:r>
              <a:rPr sz="1100" b="1" i="0">
                <a:solidFill>
                  <a:srgbClr val="888888"/>
                </a:solidFill>
                <a:latin typeface="Noto Sans JP"/>
              </a:rPr>
              <a:t>流通事例</a:t>
            </a:r>
          </a:p>
        </p:txBody>
      </p:sp>
      <p:sp>
        <p:nvSpPr>
          <p:cNvPr id="9" name="TextBox 8"/>
          <p:cNvSpPr txBox="1"/>
          <p:nvPr/>
        </p:nvSpPr>
        <p:spPr>
          <a:xfrm>
            <a:off x="457200" y="3547872"/>
            <a:ext cx="3657600" cy="347472"/>
          </a:xfrm>
          <a:prstGeom prst="rect">
            <a:avLst/>
          </a:prstGeom>
          <a:noFill/>
        </p:spPr>
        <p:txBody>
          <a:bodyPr wrap="square">
            <a:spAutoFit/>
          </a:bodyPr>
          <a:lstStyle/>
          <a:p>
            <a:pPr algn="l"/>
            <a:r>
              <a:rPr sz="1200" b="0" i="0">
                <a:solidFill>
                  <a:srgbClr val="444444"/>
                </a:solidFill>
                <a:latin typeface="Noto Sans JP"/>
              </a:rPr>
              <a:t>・コンパクトトレーラー（牽引免許不要）</a:t>
            </a:r>
          </a:p>
        </p:txBody>
      </p:sp>
      <p:sp>
        <p:nvSpPr>
          <p:cNvPr id="10" name="TextBox 9"/>
          <p:cNvSpPr txBox="1"/>
          <p:nvPr/>
        </p:nvSpPr>
        <p:spPr>
          <a:xfrm>
            <a:off x="3794760" y="3547872"/>
            <a:ext cx="2011680" cy="347472"/>
          </a:xfrm>
          <a:prstGeom prst="rect">
            <a:avLst/>
          </a:prstGeom>
          <a:noFill/>
        </p:spPr>
        <p:txBody>
          <a:bodyPr wrap="square">
            <a:spAutoFit/>
          </a:bodyPr>
          <a:lstStyle/>
          <a:p>
            <a:pPr algn="r"/>
            <a:r>
              <a:rPr sz="1400" b="1" i="0">
                <a:solidFill>
                  <a:srgbClr val="111111"/>
                </a:solidFill>
                <a:latin typeface="Inter"/>
              </a:rPr>
              <a:t>¥1,300,000</a:t>
            </a:r>
          </a:p>
        </p:txBody>
      </p:sp>
      <p:sp>
        <p:nvSpPr>
          <p:cNvPr id="11" name="TextBox 10"/>
          <p:cNvSpPr txBox="1"/>
          <p:nvPr/>
        </p:nvSpPr>
        <p:spPr>
          <a:xfrm>
            <a:off x="457200" y="4005072"/>
            <a:ext cx="3657600" cy="347472"/>
          </a:xfrm>
          <a:prstGeom prst="rect">
            <a:avLst/>
          </a:prstGeom>
          <a:noFill/>
        </p:spPr>
        <p:txBody>
          <a:bodyPr wrap="square">
            <a:spAutoFit/>
          </a:bodyPr>
          <a:lstStyle/>
          <a:p>
            <a:pPr algn="l"/>
            <a:r>
              <a:rPr sz="1200" b="0" i="0">
                <a:solidFill>
                  <a:srgbClr val="444444"/>
                </a:solidFill>
                <a:latin typeface="Noto Sans JP"/>
              </a:rPr>
              <a:t>・宿泊向けトレーラーハウス（住箱）</a:t>
            </a:r>
          </a:p>
        </p:txBody>
      </p:sp>
      <p:sp>
        <p:nvSpPr>
          <p:cNvPr id="12" name="TextBox 11"/>
          <p:cNvSpPr txBox="1"/>
          <p:nvPr/>
        </p:nvSpPr>
        <p:spPr>
          <a:xfrm>
            <a:off x="3794760" y="4005072"/>
            <a:ext cx="2011680" cy="347472"/>
          </a:xfrm>
          <a:prstGeom prst="rect">
            <a:avLst/>
          </a:prstGeom>
          <a:noFill/>
        </p:spPr>
        <p:txBody>
          <a:bodyPr wrap="square">
            <a:spAutoFit/>
          </a:bodyPr>
          <a:lstStyle/>
          <a:p>
            <a:pPr algn="r"/>
            <a:r>
              <a:rPr sz="1400" b="1" i="0">
                <a:solidFill>
                  <a:srgbClr val="111111"/>
                </a:solidFill>
                <a:latin typeface="Inter"/>
              </a:rPr>
              <a:t>¥3,500,000〜4,200,000</a:t>
            </a:r>
          </a:p>
        </p:txBody>
      </p:sp>
      <p:sp>
        <p:nvSpPr>
          <p:cNvPr id="13" name="TextBox 12"/>
          <p:cNvSpPr txBox="1"/>
          <p:nvPr/>
        </p:nvSpPr>
        <p:spPr>
          <a:xfrm>
            <a:off x="457200" y="4462272"/>
            <a:ext cx="3657600" cy="347472"/>
          </a:xfrm>
          <a:prstGeom prst="rect">
            <a:avLst/>
          </a:prstGeom>
          <a:noFill/>
        </p:spPr>
        <p:txBody>
          <a:bodyPr wrap="square">
            <a:spAutoFit/>
          </a:bodyPr>
          <a:lstStyle/>
          <a:p>
            <a:pPr algn="l"/>
            <a:r>
              <a:rPr sz="1200" b="0" i="0">
                <a:solidFill>
                  <a:srgbClr val="444444"/>
                </a:solidFill>
                <a:latin typeface="Noto Sans JP"/>
              </a:rPr>
              <a:t>・オフィス・店舗向け 9m モデル</a:t>
            </a:r>
          </a:p>
        </p:txBody>
      </p:sp>
      <p:sp>
        <p:nvSpPr>
          <p:cNvPr id="14" name="TextBox 13"/>
          <p:cNvSpPr txBox="1"/>
          <p:nvPr/>
        </p:nvSpPr>
        <p:spPr>
          <a:xfrm>
            <a:off x="3794760" y="4462272"/>
            <a:ext cx="2011680" cy="347472"/>
          </a:xfrm>
          <a:prstGeom prst="rect">
            <a:avLst/>
          </a:prstGeom>
          <a:noFill/>
        </p:spPr>
        <p:txBody>
          <a:bodyPr wrap="square">
            <a:spAutoFit/>
          </a:bodyPr>
          <a:lstStyle/>
          <a:p>
            <a:pPr algn="r"/>
            <a:r>
              <a:rPr sz="1400" b="1" i="0">
                <a:solidFill>
                  <a:srgbClr val="111111"/>
                </a:solidFill>
                <a:latin typeface="Inter"/>
              </a:rPr>
              <a:t>¥5,850,000</a:t>
            </a:r>
          </a:p>
        </p:txBody>
      </p:sp>
      <p:sp>
        <p:nvSpPr>
          <p:cNvPr id="15" name="Rectangle 14"/>
          <p:cNvSpPr/>
          <p:nvPr/>
        </p:nvSpPr>
        <p:spPr>
          <a:xfrm>
            <a:off x="6217920" y="1417320"/>
            <a:ext cx="5577840" cy="52120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331720"/>
            <a:ext cx="5212080" cy="2103120"/>
          </a:xfrm>
          <a:prstGeom prst="rect">
            <a:avLst/>
          </a:prstGeom>
          <a:noFill/>
        </p:spPr>
        <p:txBody>
          <a:bodyPr wrap="square">
            <a:spAutoFit/>
          </a:bodyPr>
          <a:lstStyle/>
          <a:p>
            <a:pPr algn="ctr"/>
            <a:r>
              <a:rPr sz="2200" b="1" i="0">
                <a:solidFill>
                  <a:srgbClr val="FFFFFF"/>
                </a:solidFill>
                <a:latin typeface="Inter"/>
              </a:rPr>
              <a:t>TRAILER HOUSE
SECOND HAND
by YADOKARI</a:t>
            </a:r>
          </a:p>
        </p:txBody>
      </p:sp>
      <p:cxnSp>
        <p:nvCxnSpPr>
          <p:cNvPr id="17" name="Connector 16"/>
          <p:cNvCxnSpPr/>
          <p:nvPr/>
        </p:nvCxnSpPr>
        <p:spPr>
          <a:xfrm>
            <a:off x="6583680" y="4526280"/>
            <a:ext cx="5010912" cy="0"/>
          </a:xfrm>
          <a:prstGeom prst="line">
            <a:avLst/>
          </a:prstGeom>
          <a:ln w="6350">
            <a:solidFill>
              <a:srgbClr val="44444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0" y="4663440"/>
            <a:ext cx="5212080" cy="384048"/>
          </a:xfrm>
          <a:prstGeom prst="rect">
            <a:avLst/>
          </a:prstGeom>
          <a:noFill/>
        </p:spPr>
        <p:txBody>
          <a:bodyPr wrap="square">
            <a:spAutoFit/>
          </a:bodyPr>
          <a:lstStyle/>
          <a:p>
            <a:pPr algn="ctr"/>
            <a:r>
              <a:rPr sz="1400" b="0" i="0">
                <a:solidFill>
                  <a:srgbClr val="888888"/>
                </a:solidFill>
                <a:latin typeface="Noto Sans JP"/>
              </a:rPr>
              <a:t>中古物件 掲載中</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Noto Sans JP"/>
              </a:rPr>
              <a:t>導入までの流れ</a:t>
            </a:r>
          </a:p>
        </p:txBody>
      </p:sp>
      <p:cxnSp>
        <p:nvCxnSpPr>
          <p:cNvPr id="4" name="Connector 3"/>
          <p:cNvCxnSpPr/>
          <p:nvPr/>
        </p:nvCxnSpPr>
        <p:spPr>
          <a:xfrm>
            <a:off x="228600" y="1051560"/>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11480" y="1517904"/>
            <a:ext cx="530352" cy="530352"/>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36192"/>
            <a:ext cx="530352" cy="475488"/>
          </a:xfrm>
          <a:prstGeom prst="rect">
            <a:avLst/>
          </a:prstGeom>
          <a:noFill/>
        </p:spPr>
        <p:txBody>
          <a:bodyPr wrap="square">
            <a:spAutoFit/>
          </a:bodyPr>
          <a:lstStyle/>
          <a:p>
            <a:pPr algn="ctr"/>
            <a:r>
              <a:rPr sz="2000" b="1" i="0">
                <a:solidFill>
                  <a:srgbClr val="FFFFFF"/>
                </a:solidFill>
                <a:latin typeface="Inter"/>
              </a:rPr>
              <a:t>1</a:t>
            </a:r>
          </a:p>
        </p:txBody>
      </p:sp>
      <p:sp>
        <p:nvSpPr>
          <p:cNvPr id="7" name="TextBox 6"/>
          <p:cNvSpPr txBox="1"/>
          <p:nvPr/>
        </p:nvSpPr>
        <p:spPr>
          <a:xfrm>
            <a:off x="1078992" y="1536192"/>
            <a:ext cx="4114800" cy="411480"/>
          </a:xfrm>
          <a:prstGeom prst="rect">
            <a:avLst/>
          </a:prstGeom>
          <a:noFill/>
        </p:spPr>
        <p:txBody>
          <a:bodyPr wrap="square">
            <a:spAutoFit/>
          </a:bodyPr>
          <a:lstStyle/>
          <a:p>
            <a:pPr algn="l"/>
            <a:r>
              <a:rPr sz="1400" b="1" i="0">
                <a:solidFill>
                  <a:srgbClr val="111111"/>
                </a:solidFill>
                <a:latin typeface="Noto Sans JP"/>
              </a:rPr>
              <a:t>ご相談・ヒアリング</a:t>
            </a:r>
          </a:p>
        </p:txBody>
      </p:sp>
      <p:sp>
        <p:nvSpPr>
          <p:cNvPr id="8" name="Rectangle 7"/>
          <p:cNvSpPr/>
          <p:nvPr/>
        </p:nvSpPr>
        <p:spPr>
          <a:xfrm>
            <a:off x="5321808" y="1572768"/>
            <a:ext cx="1828800" cy="34747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40096" y="1609344"/>
            <a:ext cx="1783080" cy="292608"/>
          </a:xfrm>
          <a:prstGeom prst="rect">
            <a:avLst/>
          </a:prstGeom>
          <a:noFill/>
        </p:spPr>
        <p:txBody>
          <a:bodyPr wrap="square">
            <a:spAutoFit/>
          </a:bodyPr>
          <a:lstStyle/>
          <a:p>
            <a:pPr algn="ctr"/>
            <a:r>
              <a:rPr sz="1200" b="1" i="0">
                <a:solidFill>
                  <a:srgbClr val="444444"/>
                </a:solidFill>
                <a:latin typeface="Noto Sans JP"/>
              </a:rPr>
              <a:t>1〜2 週間</a:t>
            </a:r>
          </a:p>
        </p:txBody>
      </p:sp>
      <p:sp>
        <p:nvSpPr>
          <p:cNvPr id="10" name="TextBox 9"/>
          <p:cNvSpPr txBox="1"/>
          <p:nvPr/>
        </p:nvSpPr>
        <p:spPr>
          <a:xfrm>
            <a:off x="7315200" y="1581912"/>
            <a:ext cx="4663440" cy="411480"/>
          </a:xfrm>
          <a:prstGeom prst="rect">
            <a:avLst/>
          </a:prstGeom>
          <a:noFill/>
        </p:spPr>
        <p:txBody>
          <a:bodyPr wrap="square">
            <a:spAutoFit/>
          </a:bodyPr>
          <a:lstStyle/>
          <a:p>
            <a:pPr algn="l"/>
            <a:r>
              <a:rPr sz="1200" b="0" i="0">
                <a:solidFill>
                  <a:srgbClr val="444444"/>
                </a:solidFill>
                <a:latin typeface="Noto Sans JP"/>
              </a:rPr>
              <a:t>用途、予算、設置場所（法規制含む）の確認。</a:t>
            </a:r>
          </a:p>
        </p:txBody>
      </p:sp>
      <p:cxnSp>
        <p:nvCxnSpPr>
          <p:cNvPr id="11" name="Connector 10"/>
          <p:cNvCxnSpPr/>
          <p:nvPr/>
        </p:nvCxnSpPr>
        <p:spPr>
          <a:xfrm>
            <a:off x="411480" y="2194560"/>
            <a:ext cx="114757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411480" y="2340864"/>
            <a:ext cx="530352" cy="530352"/>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2359152"/>
            <a:ext cx="530352" cy="475488"/>
          </a:xfrm>
          <a:prstGeom prst="rect">
            <a:avLst/>
          </a:prstGeom>
          <a:noFill/>
        </p:spPr>
        <p:txBody>
          <a:bodyPr wrap="square">
            <a:spAutoFit/>
          </a:bodyPr>
          <a:lstStyle/>
          <a:p>
            <a:pPr algn="ctr"/>
            <a:r>
              <a:rPr sz="2000" b="1" i="0">
                <a:solidFill>
                  <a:srgbClr val="FFFFFF"/>
                </a:solidFill>
                <a:latin typeface="Inter"/>
              </a:rPr>
              <a:t>2</a:t>
            </a:r>
          </a:p>
        </p:txBody>
      </p:sp>
      <p:sp>
        <p:nvSpPr>
          <p:cNvPr id="14" name="TextBox 13"/>
          <p:cNvSpPr txBox="1"/>
          <p:nvPr/>
        </p:nvSpPr>
        <p:spPr>
          <a:xfrm>
            <a:off x="1078992" y="2359152"/>
            <a:ext cx="4114800" cy="411480"/>
          </a:xfrm>
          <a:prstGeom prst="rect">
            <a:avLst/>
          </a:prstGeom>
          <a:noFill/>
        </p:spPr>
        <p:txBody>
          <a:bodyPr wrap="square">
            <a:spAutoFit/>
          </a:bodyPr>
          <a:lstStyle/>
          <a:p>
            <a:pPr algn="l"/>
            <a:r>
              <a:rPr sz="1400" b="1" i="0">
                <a:solidFill>
                  <a:srgbClr val="111111"/>
                </a:solidFill>
                <a:latin typeface="Noto Sans JP"/>
              </a:rPr>
              <a:t>プランニング・お見積り</a:t>
            </a:r>
          </a:p>
        </p:txBody>
      </p:sp>
      <p:sp>
        <p:nvSpPr>
          <p:cNvPr id="15" name="Rectangle 14"/>
          <p:cNvSpPr/>
          <p:nvPr/>
        </p:nvSpPr>
        <p:spPr>
          <a:xfrm>
            <a:off x="5321808" y="2395728"/>
            <a:ext cx="1828800" cy="34747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0096" y="2432304"/>
            <a:ext cx="1783080" cy="292608"/>
          </a:xfrm>
          <a:prstGeom prst="rect">
            <a:avLst/>
          </a:prstGeom>
          <a:noFill/>
        </p:spPr>
        <p:txBody>
          <a:bodyPr wrap="square">
            <a:spAutoFit/>
          </a:bodyPr>
          <a:lstStyle/>
          <a:p>
            <a:pPr algn="ctr"/>
            <a:r>
              <a:rPr sz="1200" b="1" i="0">
                <a:solidFill>
                  <a:srgbClr val="444444"/>
                </a:solidFill>
                <a:latin typeface="Noto Sans JP"/>
              </a:rPr>
              <a:t>2〜3 週間</a:t>
            </a:r>
          </a:p>
        </p:txBody>
      </p:sp>
      <p:sp>
        <p:nvSpPr>
          <p:cNvPr id="17" name="TextBox 16"/>
          <p:cNvSpPr txBox="1"/>
          <p:nvPr/>
        </p:nvSpPr>
        <p:spPr>
          <a:xfrm>
            <a:off x="7315200" y="2404872"/>
            <a:ext cx="4663440" cy="411480"/>
          </a:xfrm>
          <a:prstGeom prst="rect">
            <a:avLst/>
          </a:prstGeom>
          <a:noFill/>
        </p:spPr>
        <p:txBody>
          <a:bodyPr wrap="square">
            <a:spAutoFit/>
          </a:bodyPr>
          <a:lstStyle/>
          <a:p>
            <a:pPr algn="l"/>
            <a:r>
              <a:rPr sz="1200" b="0" i="0">
                <a:solidFill>
                  <a:srgbClr val="444444"/>
                </a:solidFill>
                <a:latin typeface="Noto Sans JP"/>
              </a:rPr>
              <a:t>モデル選定・レイアウト作成・仕様決定。</a:t>
            </a:r>
          </a:p>
        </p:txBody>
      </p:sp>
      <p:cxnSp>
        <p:nvCxnSpPr>
          <p:cNvPr id="18" name="Connector 17"/>
          <p:cNvCxnSpPr/>
          <p:nvPr/>
        </p:nvCxnSpPr>
        <p:spPr>
          <a:xfrm>
            <a:off x="411480" y="3017520"/>
            <a:ext cx="114757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11480" y="3163824"/>
            <a:ext cx="530352" cy="530352"/>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3182112"/>
            <a:ext cx="530352" cy="475488"/>
          </a:xfrm>
          <a:prstGeom prst="rect">
            <a:avLst/>
          </a:prstGeom>
          <a:noFill/>
        </p:spPr>
        <p:txBody>
          <a:bodyPr wrap="square">
            <a:spAutoFit/>
          </a:bodyPr>
          <a:lstStyle/>
          <a:p>
            <a:pPr algn="ctr"/>
            <a:r>
              <a:rPr sz="2000" b="1" i="0">
                <a:solidFill>
                  <a:srgbClr val="FFFFFF"/>
                </a:solidFill>
                <a:latin typeface="Inter"/>
              </a:rPr>
              <a:t>3</a:t>
            </a:r>
          </a:p>
        </p:txBody>
      </p:sp>
      <p:sp>
        <p:nvSpPr>
          <p:cNvPr id="21" name="TextBox 20"/>
          <p:cNvSpPr txBox="1"/>
          <p:nvPr/>
        </p:nvSpPr>
        <p:spPr>
          <a:xfrm>
            <a:off x="1078992" y="3182112"/>
            <a:ext cx="4114800" cy="411480"/>
          </a:xfrm>
          <a:prstGeom prst="rect">
            <a:avLst/>
          </a:prstGeom>
          <a:noFill/>
        </p:spPr>
        <p:txBody>
          <a:bodyPr wrap="square">
            <a:spAutoFit/>
          </a:bodyPr>
          <a:lstStyle/>
          <a:p>
            <a:pPr algn="l"/>
            <a:r>
              <a:rPr sz="1400" b="1" i="0">
                <a:solidFill>
                  <a:srgbClr val="111111"/>
                </a:solidFill>
                <a:latin typeface="Noto Sans JP"/>
              </a:rPr>
              <a:t>ご 契 約</a:t>
            </a:r>
          </a:p>
        </p:txBody>
      </p:sp>
      <p:sp>
        <p:nvSpPr>
          <p:cNvPr id="22" name="Rectangle 21"/>
          <p:cNvSpPr/>
          <p:nvPr/>
        </p:nvSpPr>
        <p:spPr>
          <a:xfrm>
            <a:off x="5321808" y="3218688"/>
            <a:ext cx="1828800" cy="34747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40096" y="3255264"/>
            <a:ext cx="1783080" cy="292608"/>
          </a:xfrm>
          <a:prstGeom prst="rect">
            <a:avLst/>
          </a:prstGeom>
          <a:noFill/>
        </p:spPr>
        <p:txBody>
          <a:bodyPr wrap="square">
            <a:spAutoFit/>
          </a:bodyPr>
          <a:lstStyle/>
          <a:p>
            <a:pPr algn="ctr"/>
            <a:r>
              <a:rPr sz="1200" b="1" i="0">
                <a:solidFill>
                  <a:srgbClr val="444444"/>
                </a:solidFill>
                <a:latin typeface="Noto Sans JP"/>
              </a:rPr>
              <a:t>1 週間</a:t>
            </a:r>
          </a:p>
        </p:txBody>
      </p:sp>
      <p:sp>
        <p:nvSpPr>
          <p:cNvPr id="24" name="TextBox 23"/>
          <p:cNvSpPr txBox="1"/>
          <p:nvPr/>
        </p:nvSpPr>
        <p:spPr>
          <a:xfrm>
            <a:off x="7315200" y="3227832"/>
            <a:ext cx="4663440" cy="411480"/>
          </a:xfrm>
          <a:prstGeom prst="rect">
            <a:avLst/>
          </a:prstGeom>
          <a:noFill/>
        </p:spPr>
        <p:txBody>
          <a:bodyPr wrap="square">
            <a:spAutoFit/>
          </a:bodyPr>
          <a:lstStyle/>
          <a:p>
            <a:pPr algn="l"/>
            <a:r>
              <a:rPr sz="1200" b="0" i="0">
                <a:solidFill>
                  <a:srgbClr val="444444"/>
                </a:solidFill>
                <a:latin typeface="Noto Sans JP"/>
              </a:rPr>
              <a:t>仕様確約および製造向け正式契約。</a:t>
            </a:r>
          </a:p>
        </p:txBody>
      </p:sp>
      <p:cxnSp>
        <p:nvCxnSpPr>
          <p:cNvPr id="25" name="Connector 24"/>
          <p:cNvCxnSpPr/>
          <p:nvPr/>
        </p:nvCxnSpPr>
        <p:spPr>
          <a:xfrm>
            <a:off x="411480" y="3840480"/>
            <a:ext cx="114757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411480" y="3986784"/>
            <a:ext cx="530352" cy="530352"/>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4005072"/>
            <a:ext cx="530352" cy="475488"/>
          </a:xfrm>
          <a:prstGeom prst="rect">
            <a:avLst/>
          </a:prstGeom>
          <a:noFill/>
        </p:spPr>
        <p:txBody>
          <a:bodyPr wrap="square">
            <a:spAutoFit/>
          </a:bodyPr>
          <a:lstStyle/>
          <a:p>
            <a:pPr algn="ctr"/>
            <a:r>
              <a:rPr sz="2000" b="1" i="0">
                <a:solidFill>
                  <a:srgbClr val="FFFFFF"/>
                </a:solidFill>
                <a:latin typeface="Inter"/>
              </a:rPr>
              <a:t>4</a:t>
            </a:r>
          </a:p>
        </p:txBody>
      </p:sp>
      <p:sp>
        <p:nvSpPr>
          <p:cNvPr id="28" name="TextBox 27"/>
          <p:cNvSpPr txBox="1"/>
          <p:nvPr/>
        </p:nvSpPr>
        <p:spPr>
          <a:xfrm>
            <a:off x="1078992" y="4005072"/>
            <a:ext cx="4114800" cy="411480"/>
          </a:xfrm>
          <a:prstGeom prst="rect">
            <a:avLst/>
          </a:prstGeom>
          <a:noFill/>
        </p:spPr>
        <p:txBody>
          <a:bodyPr wrap="square">
            <a:spAutoFit/>
          </a:bodyPr>
          <a:lstStyle/>
          <a:p>
            <a:pPr algn="l"/>
            <a:r>
              <a:rPr sz="1400" b="1" i="0">
                <a:solidFill>
                  <a:srgbClr val="111111"/>
                </a:solidFill>
                <a:latin typeface="Noto Sans JP"/>
              </a:rPr>
              <a:t>製造・施工</a:t>
            </a:r>
          </a:p>
        </p:txBody>
      </p:sp>
      <p:sp>
        <p:nvSpPr>
          <p:cNvPr id="29" name="Rectangle 28"/>
          <p:cNvSpPr/>
          <p:nvPr/>
        </p:nvSpPr>
        <p:spPr>
          <a:xfrm>
            <a:off x="5321808" y="4041648"/>
            <a:ext cx="1828800" cy="34747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40096" y="4078224"/>
            <a:ext cx="1783080" cy="292608"/>
          </a:xfrm>
          <a:prstGeom prst="rect">
            <a:avLst/>
          </a:prstGeom>
          <a:noFill/>
        </p:spPr>
        <p:txBody>
          <a:bodyPr wrap="square">
            <a:spAutoFit/>
          </a:bodyPr>
          <a:lstStyle/>
          <a:p>
            <a:pPr algn="ctr"/>
            <a:r>
              <a:rPr sz="1200" b="1" i="0">
                <a:solidFill>
                  <a:srgbClr val="444444"/>
                </a:solidFill>
                <a:latin typeface="Noto Sans JP"/>
              </a:rPr>
              <a:t>8〜12 週間</a:t>
            </a:r>
          </a:p>
        </p:txBody>
      </p:sp>
      <p:sp>
        <p:nvSpPr>
          <p:cNvPr id="31" name="TextBox 30"/>
          <p:cNvSpPr txBox="1"/>
          <p:nvPr/>
        </p:nvSpPr>
        <p:spPr>
          <a:xfrm>
            <a:off x="7315200" y="4050792"/>
            <a:ext cx="4663440" cy="411480"/>
          </a:xfrm>
          <a:prstGeom prst="rect">
            <a:avLst/>
          </a:prstGeom>
          <a:noFill/>
        </p:spPr>
        <p:txBody>
          <a:bodyPr wrap="square">
            <a:spAutoFit/>
          </a:bodyPr>
          <a:lstStyle/>
          <a:p>
            <a:pPr algn="l"/>
            <a:r>
              <a:rPr sz="1200" b="0" i="0">
                <a:solidFill>
                  <a:srgbClr val="444444"/>
                </a:solidFill>
                <a:latin typeface="Noto Sans JP"/>
              </a:rPr>
              <a:t>国内工場で品質管理のもと製造・内装施工。</a:t>
            </a:r>
          </a:p>
        </p:txBody>
      </p:sp>
      <p:cxnSp>
        <p:nvCxnSpPr>
          <p:cNvPr id="32" name="Connector 31"/>
          <p:cNvCxnSpPr/>
          <p:nvPr/>
        </p:nvCxnSpPr>
        <p:spPr>
          <a:xfrm>
            <a:off x="411480" y="4663440"/>
            <a:ext cx="114757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411480" y="4809744"/>
            <a:ext cx="530352" cy="530352"/>
          </a:xfrm>
          <a:prstGeom prst="ellipse">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4828032"/>
            <a:ext cx="530352" cy="475488"/>
          </a:xfrm>
          <a:prstGeom prst="rect">
            <a:avLst/>
          </a:prstGeom>
          <a:noFill/>
        </p:spPr>
        <p:txBody>
          <a:bodyPr wrap="square">
            <a:spAutoFit/>
          </a:bodyPr>
          <a:lstStyle/>
          <a:p>
            <a:pPr algn="ctr"/>
            <a:r>
              <a:rPr sz="2000" b="1" i="0">
                <a:solidFill>
                  <a:srgbClr val="FFFFFF"/>
                </a:solidFill>
                <a:latin typeface="Inter"/>
              </a:rPr>
              <a:t>5</a:t>
            </a:r>
          </a:p>
        </p:txBody>
      </p:sp>
      <p:sp>
        <p:nvSpPr>
          <p:cNvPr id="35" name="TextBox 34"/>
          <p:cNvSpPr txBox="1"/>
          <p:nvPr/>
        </p:nvSpPr>
        <p:spPr>
          <a:xfrm>
            <a:off x="1078992" y="4828032"/>
            <a:ext cx="4114800" cy="411480"/>
          </a:xfrm>
          <a:prstGeom prst="rect">
            <a:avLst/>
          </a:prstGeom>
          <a:noFill/>
        </p:spPr>
        <p:txBody>
          <a:bodyPr wrap="square">
            <a:spAutoFit/>
          </a:bodyPr>
          <a:lstStyle/>
          <a:p>
            <a:pPr algn="l"/>
            <a:r>
              <a:rPr sz="1400" b="1" i="0">
                <a:solidFill>
                  <a:srgbClr val="111111"/>
                </a:solidFill>
                <a:latin typeface="Noto Sans JP"/>
              </a:rPr>
              <a:t>納車・設置</a:t>
            </a:r>
          </a:p>
        </p:txBody>
      </p:sp>
      <p:sp>
        <p:nvSpPr>
          <p:cNvPr id="36" name="Rectangle 35"/>
          <p:cNvSpPr/>
          <p:nvPr/>
        </p:nvSpPr>
        <p:spPr>
          <a:xfrm>
            <a:off x="5321808" y="4864608"/>
            <a:ext cx="1828800" cy="34747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40096" y="4901184"/>
            <a:ext cx="1783080" cy="292608"/>
          </a:xfrm>
          <a:prstGeom prst="rect">
            <a:avLst/>
          </a:prstGeom>
          <a:noFill/>
        </p:spPr>
        <p:txBody>
          <a:bodyPr wrap="square">
            <a:spAutoFit/>
          </a:bodyPr>
          <a:lstStyle/>
          <a:p>
            <a:pPr algn="ctr"/>
            <a:r>
              <a:rPr sz="1200" b="1" i="0">
                <a:solidFill>
                  <a:srgbClr val="444444"/>
                </a:solidFill>
                <a:latin typeface="Noto Sans JP"/>
              </a:rPr>
              <a:t>1〜2 日</a:t>
            </a:r>
          </a:p>
        </p:txBody>
      </p:sp>
      <p:sp>
        <p:nvSpPr>
          <p:cNvPr id="38" name="TextBox 37"/>
          <p:cNvSpPr txBox="1"/>
          <p:nvPr/>
        </p:nvSpPr>
        <p:spPr>
          <a:xfrm>
            <a:off x="7315200" y="4873752"/>
            <a:ext cx="4663440" cy="411480"/>
          </a:xfrm>
          <a:prstGeom prst="rect">
            <a:avLst/>
          </a:prstGeom>
          <a:noFill/>
        </p:spPr>
        <p:txBody>
          <a:bodyPr wrap="square">
            <a:spAutoFit/>
          </a:bodyPr>
          <a:lstStyle/>
          <a:p>
            <a:pPr algn="l"/>
            <a:r>
              <a:rPr sz="1200" b="0" i="0">
                <a:solidFill>
                  <a:srgbClr val="444444"/>
                </a:solidFill>
                <a:latin typeface="Noto Sans JP"/>
              </a:rPr>
              <a:t>専門チームによる牽引納車・現地設置。</a:t>
            </a:r>
          </a:p>
        </p:txBody>
      </p:sp>
      <p:sp>
        <p:nvSpPr>
          <p:cNvPr id="39" name="Rectangle 38"/>
          <p:cNvSpPr/>
          <p:nvPr/>
        </p:nvSpPr>
        <p:spPr>
          <a:xfrm>
            <a:off x="411480" y="6144768"/>
            <a:ext cx="11365992" cy="56692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4360" y="6217920"/>
            <a:ext cx="10972800" cy="438912"/>
          </a:xfrm>
          <a:prstGeom prst="rect">
            <a:avLst/>
          </a:prstGeom>
          <a:noFill/>
        </p:spPr>
        <p:txBody>
          <a:bodyPr wrap="square">
            <a:spAutoFit/>
          </a:bodyPr>
          <a:lstStyle/>
          <a:p>
            <a:pPr algn="ctr"/>
            <a:r>
              <a:rPr sz="1600" b="1" i="0">
                <a:solidFill>
                  <a:srgbClr val="FFFFFF"/>
                </a:solidFill>
                <a:latin typeface="Noto Sans JP"/>
              </a:rPr>
              <a:t>ご注文〜ご利用開始まで：約3〜4ヶ月</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Noto Sans JP"/>
              </a:rPr>
              <a:t>よくあるご質問（FAQ）</a:t>
            </a:r>
          </a:p>
        </p:txBody>
      </p:sp>
      <p:cxnSp>
        <p:nvCxnSpPr>
          <p:cNvPr id="4" name="Connector 3"/>
          <p:cNvCxnSpPr/>
          <p:nvPr/>
        </p:nvCxnSpPr>
        <p:spPr>
          <a:xfrm>
            <a:off x="228600" y="1051560"/>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11480" y="1463040"/>
            <a:ext cx="45720" cy="15544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536192"/>
            <a:ext cx="5394960" cy="365760"/>
          </a:xfrm>
          <a:prstGeom prst="rect">
            <a:avLst/>
          </a:prstGeom>
          <a:noFill/>
        </p:spPr>
        <p:txBody>
          <a:bodyPr wrap="square">
            <a:spAutoFit/>
          </a:bodyPr>
          <a:lstStyle/>
          <a:p>
            <a:pPr algn="l"/>
            <a:r>
              <a:rPr sz="1200" b="1" i="0">
                <a:solidFill>
                  <a:srgbClr val="111111"/>
                </a:solidFill>
                <a:latin typeface="Noto Sans JP"/>
              </a:rPr>
              <a:t>Q1. 建築確認申請は必要ですか？</a:t>
            </a:r>
          </a:p>
        </p:txBody>
      </p:sp>
      <p:sp>
        <p:nvSpPr>
          <p:cNvPr id="7" name="TextBox 6"/>
          <p:cNvSpPr txBox="1"/>
          <p:nvPr/>
        </p:nvSpPr>
        <p:spPr>
          <a:xfrm>
            <a:off x="594360" y="1965960"/>
            <a:ext cx="5394960" cy="914400"/>
          </a:xfrm>
          <a:prstGeom prst="rect">
            <a:avLst/>
          </a:prstGeom>
          <a:noFill/>
        </p:spPr>
        <p:txBody>
          <a:bodyPr wrap="square">
            <a:spAutoFit/>
          </a:bodyPr>
          <a:lstStyle/>
          <a:p>
            <a:pPr algn="l"/>
            <a:r>
              <a:rPr sz="1100" b="0" i="0">
                <a:solidFill>
                  <a:srgbClr val="444444"/>
                </a:solidFill>
                <a:latin typeface="Noto Sans JP"/>
              </a:rPr>
              <a:t>一定の条件（随時かつ任意に移動できる状態等）を満たすことで「車両」扱いとなり、建築確認申請が不要になります。条件については個別にご確認ください。</a:t>
            </a:r>
          </a:p>
        </p:txBody>
      </p:sp>
      <p:sp>
        <p:nvSpPr>
          <p:cNvPr id="8" name="Rectangle 7"/>
          <p:cNvSpPr/>
          <p:nvPr/>
        </p:nvSpPr>
        <p:spPr>
          <a:xfrm>
            <a:off x="6309360" y="1463040"/>
            <a:ext cx="45720" cy="15544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536192"/>
            <a:ext cx="5394960" cy="365760"/>
          </a:xfrm>
          <a:prstGeom prst="rect">
            <a:avLst/>
          </a:prstGeom>
          <a:noFill/>
        </p:spPr>
        <p:txBody>
          <a:bodyPr wrap="square">
            <a:spAutoFit/>
          </a:bodyPr>
          <a:lstStyle/>
          <a:p>
            <a:pPr algn="l"/>
            <a:r>
              <a:rPr sz="1200" b="1" i="0">
                <a:solidFill>
                  <a:srgbClr val="111111"/>
                </a:solidFill>
                <a:latin typeface="Noto Sans JP"/>
              </a:rPr>
              <a:t>Q2. 固定資産税はかかりますか？</a:t>
            </a:r>
          </a:p>
        </p:txBody>
      </p:sp>
      <p:sp>
        <p:nvSpPr>
          <p:cNvPr id="10" name="TextBox 9"/>
          <p:cNvSpPr txBox="1"/>
          <p:nvPr/>
        </p:nvSpPr>
        <p:spPr>
          <a:xfrm>
            <a:off x="6492240" y="1965960"/>
            <a:ext cx="5394960" cy="914400"/>
          </a:xfrm>
          <a:prstGeom prst="rect">
            <a:avLst/>
          </a:prstGeom>
          <a:noFill/>
        </p:spPr>
        <p:txBody>
          <a:bodyPr wrap="square">
            <a:spAutoFit/>
          </a:bodyPr>
          <a:lstStyle/>
          <a:p>
            <a:pPr algn="l"/>
            <a:r>
              <a:rPr sz="1100" b="0" i="0">
                <a:solidFill>
                  <a:srgbClr val="444444"/>
                </a:solidFill>
                <a:latin typeface="Noto Sans JP"/>
              </a:rPr>
              <a:t>車両として登録されている場合、土地への定着が認められないため原則として固定資産税の対象外となります。条件・自治体により異なる場合があります。</a:t>
            </a:r>
          </a:p>
        </p:txBody>
      </p:sp>
      <p:sp>
        <p:nvSpPr>
          <p:cNvPr id="11" name="Rectangle 10"/>
          <p:cNvSpPr/>
          <p:nvPr/>
        </p:nvSpPr>
        <p:spPr>
          <a:xfrm>
            <a:off x="411480" y="3218688"/>
            <a:ext cx="45720" cy="15544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291840"/>
            <a:ext cx="5394960" cy="365760"/>
          </a:xfrm>
          <a:prstGeom prst="rect">
            <a:avLst/>
          </a:prstGeom>
          <a:noFill/>
        </p:spPr>
        <p:txBody>
          <a:bodyPr wrap="square">
            <a:spAutoFit/>
          </a:bodyPr>
          <a:lstStyle/>
          <a:p>
            <a:pPr algn="l"/>
            <a:r>
              <a:rPr sz="1200" b="1" i="0">
                <a:solidFill>
                  <a:srgbClr val="111111"/>
                </a:solidFill>
                <a:latin typeface="Noto Sans JP"/>
              </a:rPr>
              <a:t>Q3. ローン・リースは使えますか？</a:t>
            </a:r>
          </a:p>
        </p:txBody>
      </p:sp>
      <p:sp>
        <p:nvSpPr>
          <p:cNvPr id="13" name="TextBox 12"/>
          <p:cNvSpPr txBox="1"/>
          <p:nvPr/>
        </p:nvSpPr>
        <p:spPr>
          <a:xfrm>
            <a:off x="594360" y="3721608"/>
            <a:ext cx="5394960" cy="914400"/>
          </a:xfrm>
          <a:prstGeom prst="rect">
            <a:avLst/>
          </a:prstGeom>
          <a:noFill/>
        </p:spPr>
        <p:txBody>
          <a:bodyPr wrap="square">
            <a:spAutoFit/>
          </a:bodyPr>
          <a:lstStyle/>
          <a:p>
            <a:pPr algn="l"/>
            <a:r>
              <a:rPr sz="1100" b="0" i="0">
                <a:solidFill>
                  <a:srgbClr val="444444"/>
                </a:solidFill>
                <a:latin typeface="Noto Sans JP"/>
              </a:rPr>
              <a:t>各種金融機関のローンやリースに対応しています。詳細はご相談ください。</a:t>
            </a:r>
          </a:p>
        </p:txBody>
      </p:sp>
      <p:sp>
        <p:nvSpPr>
          <p:cNvPr id="14" name="Rectangle 13"/>
          <p:cNvSpPr/>
          <p:nvPr/>
        </p:nvSpPr>
        <p:spPr>
          <a:xfrm>
            <a:off x="6309360" y="3218688"/>
            <a:ext cx="45720" cy="15544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3291840"/>
            <a:ext cx="5394960" cy="365760"/>
          </a:xfrm>
          <a:prstGeom prst="rect">
            <a:avLst/>
          </a:prstGeom>
          <a:noFill/>
        </p:spPr>
        <p:txBody>
          <a:bodyPr wrap="square">
            <a:spAutoFit/>
          </a:bodyPr>
          <a:lstStyle/>
          <a:p>
            <a:pPr algn="l"/>
            <a:r>
              <a:rPr sz="1200" b="1" i="0">
                <a:solidFill>
                  <a:srgbClr val="111111"/>
                </a:solidFill>
                <a:latin typeface="Noto Sans JP"/>
              </a:rPr>
              <a:t>Q4. 台風・大雪など災害時は大丈夫ですか？</a:t>
            </a:r>
          </a:p>
        </p:txBody>
      </p:sp>
      <p:sp>
        <p:nvSpPr>
          <p:cNvPr id="16" name="TextBox 15"/>
          <p:cNvSpPr txBox="1"/>
          <p:nvPr/>
        </p:nvSpPr>
        <p:spPr>
          <a:xfrm>
            <a:off x="6492240" y="3721608"/>
            <a:ext cx="5394960" cy="914400"/>
          </a:xfrm>
          <a:prstGeom prst="rect">
            <a:avLst/>
          </a:prstGeom>
          <a:noFill/>
        </p:spPr>
        <p:txBody>
          <a:bodyPr wrap="square">
            <a:spAutoFit/>
          </a:bodyPr>
          <a:lstStyle/>
          <a:p>
            <a:pPr algn="l"/>
            <a:r>
              <a:rPr sz="1100" b="0" i="0">
                <a:solidFill>
                  <a:srgbClr val="444444"/>
                </a:solidFill>
                <a:latin typeface="Noto Sans JP"/>
              </a:rPr>
              <a:t>堅牢な軽量鉄骨造と高耐久外装材を採用し、一般建築物と同等以上の耐候性があります。大型台風時はアンカー固定を推奨します。</a:t>
            </a:r>
          </a:p>
        </p:txBody>
      </p:sp>
      <p:sp>
        <p:nvSpPr>
          <p:cNvPr id="17" name="Rectangle 16"/>
          <p:cNvSpPr/>
          <p:nvPr/>
        </p:nvSpPr>
        <p:spPr>
          <a:xfrm>
            <a:off x="411480" y="4956048"/>
            <a:ext cx="45720" cy="15544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029200"/>
            <a:ext cx="5394960" cy="365760"/>
          </a:xfrm>
          <a:prstGeom prst="rect">
            <a:avLst/>
          </a:prstGeom>
          <a:noFill/>
        </p:spPr>
        <p:txBody>
          <a:bodyPr wrap="square">
            <a:spAutoFit/>
          </a:bodyPr>
          <a:lstStyle/>
          <a:p>
            <a:pPr algn="l"/>
            <a:r>
              <a:rPr sz="1200" b="1" i="0">
                <a:solidFill>
                  <a:srgbClr val="111111"/>
                </a:solidFill>
                <a:latin typeface="Noto Sans JP"/>
              </a:rPr>
              <a:t>Q5. メンテナンスサポートはありますか？</a:t>
            </a:r>
          </a:p>
        </p:txBody>
      </p:sp>
      <p:sp>
        <p:nvSpPr>
          <p:cNvPr id="19" name="TextBox 18"/>
          <p:cNvSpPr txBox="1"/>
          <p:nvPr/>
        </p:nvSpPr>
        <p:spPr>
          <a:xfrm>
            <a:off x="594360" y="5458968"/>
            <a:ext cx="5394960" cy="914400"/>
          </a:xfrm>
          <a:prstGeom prst="rect">
            <a:avLst/>
          </a:prstGeom>
          <a:noFill/>
        </p:spPr>
        <p:txBody>
          <a:bodyPr wrap="square">
            <a:spAutoFit/>
          </a:bodyPr>
          <a:lstStyle/>
          <a:p>
            <a:pPr algn="l"/>
            <a:r>
              <a:rPr sz="1100" b="0" i="0">
                <a:solidFill>
                  <a:srgbClr val="444444"/>
                </a:solidFill>
                <a:latin typeface="Noto Sans JP"/>
              </a:rPr>
              <a:t>定期点検・修繕対応・部品供給まで YADOKARIが一貫してサポートします。</a:t>
            </a:r>
          </a:p>
        </p:txBody>
      </p:sp>
      <p:sp>
        <p:nvSpPr>
          <p:cNvPr id="20" name="Rectangle 19"/>
          <p:cNvSpPr/>
          <p:nvPr/>
        </p:nvSpPr>
        <p:spPr>
          <a:xfrm>
            <a:off x="6309360" y="4956048"/>
            <a:ext cx="45720" cy="15544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5029200"/>
            <a:ext cx="5394960" cy="365760"/>
          </a:xfrm>
          <a:prstGeom prst="rect">
            <a:avLst/>
          </a:prstGeom>
          <a:noFill/>
        </p:spPr>
        <p:txBody>
          <a:bodyPr wrap="square">
            <a:spAutoFit/>
          </a:bodyPr>
          <a:lstStyle/>
          <a:p>
            <a:pPr algn="l"/>
            <a:r>
              <a:rPr sz="1200" b="1" i="0">
                <a:solidFill>
                  <a:srgbClr val="111111"/>
                </a:solidFill>
                <a:latin typeface="Noto Sans JP"/>
              </a:rPr>
              <a:t>Q6. 使わなくなったらどうすればいいですか？</a:t>
            </a:r>
          </a:p>
        </p:txBody>
      </p:sp>
      <p:sp>
        <p:nvSpPr>
          <p:cNvPr id="22" name="TextBox 21"/>
          <p:cNvSpPr txBox="1"/>
          <p:nvPr/>
        </p:nvSpPr>
        <p:spPr>
          <a:xfrm>
            <a:off x="6492240" y="5458968"/>
            <a:ext cx="5394960" cy="914400"/>
          </a:xfrm>
          <a:prstGeom prst="rect">
            <a:avLst/>
          </a:prstGeom>
          <a:noFill/>
        </p:spPr>
        <p:txBody>
          <a:bodyPr wrap="square">
            <a:spAutoFit/>
          </a:bodyPr>
          <a:lstStyle/>
          <a:p>
            <a:pPr algn="l"/>
            <a:r>
              <a:rPr sz="1100" b="0" i="0">
                <a:solidFill>
                  <a:srgbClr val="444444"/>
                </a:solidFill>
                <a:latin typeface="Noto Sans JP"/>
              </a:rPr>
              <a:t>「TRAILER HOUSE SECOND HAND by YADOKARI」にて中古売却が可能です。出口戦略までサポートするのが当社の強みです。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3246120"/>
            <a:ext cx="12188952" cy="365760"/>
          </a:xfrm>
          <a:prstGeom prst="rect">
            <a:avLst/>
          </a:prstGeom>
          <a:noFill/>
        </p:spPr>
        <p:txBody>
          <a:bodyPr wrap="square">
            <a:spAutoFit/>
          </a:bodyPr>
          <a:lstStyle/>
          <a:p>
            <a:pPr algn="ctr"/>
            <a:r>
              <a:rPr sz="1000" b="0" i="0">
                <a:solidFill>
                  <a:srgbClr val="888888"/>
                </a:solidFill>
                <a:latin typeface="Noto Sans JP"/>
              </a:rPr>
              <a:t>[ クロージング — トレーラーハウス生活写真（全面） ]</a:t>
            </a:r>
          </a:p>
        </p:txBody>
      </p:sp>
      <p:sp>
        <p:nvSpPr>
          <p:cNvPr id="4" name="Rectangle 3"/>
          <p:cNvSpPr/>
          <p:nvPr/>
        </p:nvSpPr>
        <p:spPr>
          <a:xfrm>
            <a:off x="0" y="0"/>
            <a:ext cx="121889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10332720" cy="1051560"/>
          </a:xfrm>
          <a:prstGeom prst="rect">
            <a:avLst/>
          </a:prstGeom>
          <a:noFill/>
        </p:spPr>
        <p:txBody>
          <a:bodyPr wrap="square">
            <a:spAutoFit/>
          </a:bodyPr>
          <a:lstStyle/>
          <a:p>
            <a:pPr algn="ctr"/>
            <a:r>
              <a:rPr sz="4000" b="1" i="0">
                <a:solidFill>
                  <a:srgbClr val="FFFFFF"/>
                </a:solidFill>
                <a:latin typeface="Noto Sans JP"/>
              </a:rPr>
              <a:t>新しい暮らしと事業を、ここから。</a:t>
            </a:r>
          </a:p>
        </p:txBody>
      </p:sp>
      <p:cxnSp>
        <p:nvCxnSpPr>
          <p:cNvPr id="6" name="Connector 5"/>
          <p:cNvCxnSpPr/>
          <p:nvPr/>
        </p:nvCxnSpPr>
        <p:spPr>
          <a:xfrm>
            <a:off x="3474720" y="2926080"/>
            <a:ext cx="5212080" cy="0"/>
          </a:xfrm>
          <a:prstGeom prst="line">
            <a:avLst/>
          </a:prstGeom>
          <a:ln w="6350">
            <a:solidFill>
              <a:srgbClr val="88888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14400" y="3127248"/>
            <a:ext cx="10332720" cy="438912"/>
          </a:xfrm>
          <a:prstGeom prst="rect">
            <a:avLst/>
          </a:prstGeom>
          <a:noFill/>
        </p:spPr>
        <p:txBody>
          <a:bodyPr wrap="square">
            <a:spAutoFit/>
          </a:bodyPr>
          <a:lstStyle/>
          <a:p>
            <a:pPr algn="ctr"/>
            <a:r>
              <a:rPr sz="1400" b="0" i="0">
                <a:solidFill>
                  <a:srgbClr val="888888"/>
                </a:solidFill>
                <a:latin typeface="Noto Sans JP"/>
              </a:rPr>
              <a:t>トレーラーハウスに関するご相談、お見積りのご依頼はお気軽にご連絡ください。</a:t>
            </a:r>
          </a:p>
        </p:txBody>
      </p:sp>
      <p:sp>
        <p:nvSpPr>
          <p:cNvPr id="8" name="TextBox 7"/>
          <p:cNvSpPr txBox="1"/>
          <p:nvPr/>
        </p:nvSpPr>
        <p:spPr>
          <a:xfrm>
            <a:off x="914400" y="3703320"/>
            <a:ext cx="10332720" cy="384048"/>
          </a:xfrm>
          <a:prstGeom prst="rect">
            <a:avLst/>
          </a:prstGeom>
          <a:noFill/>
        </p:spPr>
        <p:txBody>
          <a:bodyPr wrap="square">
            <a:spAutoFit/>
          </a:bodyPr>
          <a:lstStyle/>
          <a:p>
            <a:pPr algn="ctr"/>
            <a:r>
              <a:rPr sz="1400" b="0" i="0">
                <a:solidFill>
                  <a:srgbClr val="888888"/>
                </a:solidFill>
                <a:latin typeface="Noto Sans JP"/>
              </a:rPr>
              <a:t>WEB：https://yadokari.net/</a:t>
            </a:r>
          </a:p>
        </p:txBody>
      </p:sp>
      <p:sp>
        <p:nvSpPr>
          <p:cNvPr id="9" name="TextBox 8"/>
          <p:cNvSpPr txBox="1"/>
          <p:nvPr/>
        </p:nvSpPr>
        <p:spPr>
          <a:xfrm>
            <a:off x="914400" y="4160520"/>
            <a:ext cx="10332720" cy="384048"/>
          </a:xfrm>
          <a:prstGeom prst="rect">
            <a:avLst/>
          </a:prstGeom>
          <a:noFill/>
        </p:spPr>
        <p:txBody>
          <a:bodyPr wrap="square">
            <a:spAutoFit/>
          </a:bodyPr>
          <a:lstStyle/>
          <a:p>
            <a:pPr algn="ctr"/>
            <a:r>
              <a:rPr sz="1400" b="0" i="0">
                <a:solidFill>
                  <a:srgbClr val="888888"/>
                </a:solidFill>
                <a:latin typeface="Noto Sans JP"/>
              </a:rPr>
              <a:t>お問い合わせ：YADOKARIオフィシャルサイト内「お問い合わせ」より</a:t>
            </a:r>
          </a:p>
        </p:txBody>
      </p:sp>
      <p:cxnSp>
        <p:nvCxnSpPr>
          <p:cNvPr id="10" name="Connector 9"/>
          <p:cNvCxnSpPr/>
          <p:nvPr/>
        </p:nvCxnSpPr>
        <p:spPr>
          <a:xfrm>
            <a:off x="3474720" y="4681728"/>
            <a:ext cx="5212080" cy="0"/>
          </a:xfrm>
          <a:prstGeom prst="line">
            <a:avLst/>
          </a:prstGeom>
          <a:ln w="6350">
            <a:solidFill>
              <a:srgbClr val="88888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4400" y="4864608"/>
            <a:ext cx="10332720" cy="411480"/>
          </a:xfrm>
          <a:prstGeom prst="rect">
            <a:avLst/>
          </a:prstGeom>
          <a:noFill/>
        </p:spPr>
        <p:txBody>
          <a:bodyPr wrap="square">
            <a:spAutoFit/>
          </a:bodyPr>
          <a:lstStyle/>
          <a:p>
            <a:pPr algn="ctr"/>
            <a:r>
              <a:rPr sz="1600" b="1" i="0">
                <a:solidFill>
                  <a:srgbClr val="FFFFFF"/>
                </a:solidFill>
                <a:latin typeface="Noto Sans JP"/>
              </a:rPr>
              <a:t>YADOKARI株式会社</a:t>
            </a:r>
          </a:p>
        </p:txBody>
      </p:sp>
      <p:sp>
        <p:nvSpPr>
          <p:cNvPr id="12" name="TextBox 11"/>
          <p:cNvSpPr txBox="1"/>
          <p:nvPr/>
        </p:nvSpPr>
        <p:spPr>
          <a:xfrm>
            <a:off x="914400" y="5321808"/>
            <a:ext cx="10332720" cy="347472"/>
          </a:xfrm>
          <a:prstGeom prst="rect">
            <a:avLst/>
          </a:prstGeom>
          <a:noFill/>
        </p:spPr>
        <p:txBody>
          <a:bodyPr wrap="square">
            <a:spAutoFit/>
          </a:bodyPr>
          <a:lstStyle/>
          <a:p>
            <a:pPr algn="ctr"/>
            <a:r>
              <a:rPr sz="1100" b="0" i="0">
                <a:solidFill>
                  <a:srgbClr val="BBBBBB"/>
                </a:solidFill>
                <a:latin typeface="Noto Sans JP"/>
              </a:rPr>
              <a:t>神奈川県横浜市保土ヶ谷区星川1-1-1 星天qlay 2階 qlaytion gallery</a:t>
            </a:r>
          </a:p>
        </p:txBody>
      </p:sp>
      <p:sp>
        <p:nvSpPr>
          <p:cNvPr id="13" name="TextBox 12"/>
          <p:cNvSpPr txBox="1"/>
          <p:nvPr/>
        </p:nvSpPr>
        <p:spPr>
          <a:xfrm>
            <a:off x="5029200" y="6492240"/>
            <a:ext cx="2103120" cy="320040"/>
          </a:xfrm>
          <a:prstGeom prst="rect">
            <a:avLst/>
          </a:prstGeom>
          <a:noFill/>
        </p:spPr>
        <p:txBody>
          <a:bodyPr wrap="square">
            <a:spAutoFit/>
          </a:bodyPr>
          <a:lstStyle/>
          <a:p>
            <a:pPr algn="ctr"/>
            <a:r>
              <a:rPr sz="1100" b="0" i="0">
                <a:solidFill>
                  <a:srgbClr val="888888"/>
                </a:solidFill>
                <a:latin typeface="Inter"/>
              </a:rPr>
              <a:t>yadokari.net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