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548640"/>
            <a:ext cx="5486400" cy="1097280"/>
          </a:xfrm>
          <a:prstGeom prst="rect">
            <a:avLst/>
          </a:prstGeom>
          <a:noFill/>
        </p:spPr>
        <p:txBody>
          <a:bodyPr wrap="square">
            <a:spAutoFit/>
          </a:bodyPr>
          <a:lstStyle/>
          <a:p>
            <a:pPr algn="l"/>
            <a:r>
              <a:rPr sz="4000" b="1">
                <a:solidFill>
                  <a:srgbClr val="000000"/>
                </a:solidFill>
              </a:rPr>
              <a:t>小さいほど、豊かだ。</a:t>
            </a:r>
          </a:p>
        </p:txBody>
      </p:sp>
      <p:cxnSp>
        <p:nvCxnSpPr>
          <p:cNvPr id="3" name="Connector 2"/>
          <p:cNvCxnSpPr/>
          <p:nvPr/>
        </p:nvCxnSpPr>
        <p:spPr>
          <a:xfrm>
            <a:off x="457200" y="1737360"/>
            <a:ext cx="45720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920240"/>
            <a:ext cx="5486400" cy="457200"/>
          </a:xfrm>
          <a:prstGeom prst="rect">
            <a:avLst/>
          </a:prstGeom>
          <a:noFill/>
        </p:spPr>
        <p:txBody>
          <a:bodyPr wrap="square">
            <a:spAutoFit/>
          </a:bodyPr>
          <a:lstStyle/>
          <a:p>
            <a:pPr algn="l"/>
            <a:r>
              <a:rPr sz="1800" b="0">
                <a:solidFill>
                  <a:srgbClr val="333333"/>
                </a:solidFill>
              </a:rPr>
              <a:t>YADOKARI Trailer House Proposal</a:t>
            </a:r>
          </a:p>
        </p:txBody>
      </p:sp>
      <p:sp>
        <p:nvSpPr>
          <p:cNvPr id="5" name="TextBox 4"/>
          <p:cNvSpPr txBox="1"/>
          <p:nvPr/>
        </p:nvSpPr>
        <p:spPr>
          <a:xfrm>
            <a:off x="457200" y="6217920"/>
            <a:ext cx="3657600" cy="365760"/>
          </a:xfrm>
          <a:prstGeom prst="rect">
            <a:avLst/>
          </a:prstGeom>
          <a:noFill/>
        </p:spPr>
        <p:txBody>
          <a:bodyPr wrap="square">
            <a:spAutoFit/>
          </a:bodyPr>
          <a:lstStyle/>
          <a:p>
            <a:pPr algn="l"/>
            <a:r>
              <a:rPr sz="1200" b="0">
                <a:solidFill>
                  <a:srgbClr val="999999"/>
                </a:solidFill>
              </a:rPr>
              <a:t>YADOKARI株式会社</a:t>
            </a:r>
          </a:p>
        </p:txBody>
      </p:sp>
      <p:sp>
        <p:nvSpPr>
          <p:cNvPr id="6" name="Rectangle 5"/>
          <p:cNvSpPr/>
          <p:nvPr/>
        </p:nvSpPr>
        <p:spPr>
          <a:xfrm>
            <a:off x="5943600" y="274320"/>
            <a:ext cx="5943600" cy="6309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0" y="2926080"/>
            <a:ext cx="5577840" cy="731520"/>
          </a:xfrm>
          <a:prstGeom prst="rect">
            <a:avLst/>
          </a:prstGeom>
          <a:noFill/>
        </p:spPr>
        <p:txBody>
          <a:bodyPr wrap="square">
            <a:spAutoFit/>
          </a:bodyPr>
          <a:lstStyle/>
          <a:p>
            <a:pPr algn="ctr"/>
            <a:r>
              <a:rPr sz="1100" b="0">
                <a:solidFill>
                  <a:srgbClr val="999999"/>
                </a:solidFill>
              </a:rPr>
              <a:t>［表紙写真エリア］
トレーラーハウス外観写真を配置してください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943600" y="457200"/>
            <a:ext cx="0" cy="594360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57200" y="1371600"/>
            <a:ext cx="5029200" cy="3657600"/>
          </a:xfrm>
          <a:prstGeom prst="rect">
            <a:avLst/>
          </a:prstGeom>
          <a:noFill/>
        </p:spPr>
        <p:txBody>
          <a:bodyPr wrap="square">
            <a:spAutoFit/>
          </a:bodyPr>
          <a:lstStyle/>
          <a:p>
            <a:pPr algn="l"/>
            <a:r>
              <a:rPr sz="3400" b="1">
                <a:solidFill>
                  <a:srgbClr val="000000"/>
                </a:solidFill>
              </a:rPr>
              <a:t>世界を変える、</a:t>
            </a:r>
          </a:p>
          <a:p>
            <a:pPr algn="l"/>
            <a:r>
              <a:rPr sz="3400" b="1">
                <a:solidFill>
                  <a:srgbClr val="000000"/>
                </a:solidFill>
              </a:rPr>
              <a:t>暮らしを創る。</a:t>
            </a:r>
          </a:p>
        </p:txBody>
      </p:sp>
      <p:sp>
        <p:nvSpPr>
          <p:cNvPr id="4" name="TextBox 3"/>
          <p:cNvSpPr txBox="1"/>
          <p:nvPr/>
        </p:nvSpPr>
        <p:spPr>
          <a:xfrm>
            <a:off x="6400800" y="1097280"/>
            <a:ext cx="5303520" cy="5029200"/>
          </a:xfrm>
          <a:prstGeom prst="rect">
            <a:avLst/>
          </a:prstGeom>
          <a:noFill/>
        </p:spPr>
        <p:txBody>
          <a:bodyPr wrap="square">
            <a:spAutoFit/>
          </a:bodyPr>
          <a:lstStyle/>
          <a:p>
            <a:pPr algn="l"/>
            <a:r>
              <a:rPr sz="1400" b="0">
                <a:solidFill>
                  <a:srgbClr val="000000"/>
                </a:solidFill>
              </a:rPr>
              <a:t>「世界を変える、暮らしを創る」の実現を</a:t>
            </a:r>
          </a:p>
          <a:p>
            <a:pPr algn="l">
              <a:spcAft>
                <a:spcPts val="600"/>
              </a:spcAft>
            </a:pPr>
            <a:r>
              <a:rPr sz="1400" b="0">
                <a:solidFill>
                  <a:srgbClr val="000000"/>
                </a:solidFill>
              </a:rPr>
              <a:t>目指すソーシャルデザインカンパニー。</a:t>
            </a:r>
          </a:p>
          <a:p>
            <a:pPr algn="l">
              <a:spcAft>
                <a:spcPts val="600"/>
              </a:spcAft>
            </a:pPr>
            <a:r>
              <a:rPr sz="1400" b="0">
                <a:solidFill>
                  <a:srgbClr val="000000"/>
                </a:solidFill>
              </a:rPr>
              <a:t>小さな空間の中に広がる、大きな可能性。</a:t>
            </a:r>
          </a:p>
          <a:p>
            <a:pPr algn="l"/>
            <a:r>
              <a:rPr sz="1400" b="0">
                <a:solidFill>
                  <a:srgbClr val="000000"/>
                </a:solidFill>
              </a:rPr>
              <a:t>多様な生き方と暮らしのカタチに触れ、</a:t>
            </a:r>
          </a:p>
          <a:p>
            <a:pPr algn="l"/>
            <a:r>
              <a:rPr sz="1400" b="0">
                <a:solidFill>
                  <a:srgbClr val="000000"/>
                </a:solidFill>
              </a:rPr>
              <a:t>未来のコライフスタイルを探求し、</a:t>
            </a:r>
          </a:p>
          <a:p>
            <a:pPr algn="l">
              <a:spcAft>
                <a:spcPts val="1600"/>
              </a:spcAft>
            </a:pPr>
            <a:r>
              <a:rPr sz="1400" b="0">
                <a:solidFill>
                  <a:srgbClr val="000000"/>
                </a:solidFill>
              </a:rPr>
              <a:t>提供し続けます。</a:t>
            </a:r>
          </a:p>
          <a:p>
            <a:pPr algn="l">
              <a:spcBef>
                <a:spcPts val="800"/>
              </a:spcBef>
            </a:pPr>
            <a:r>
              <a:rPr sz="1300" b="1">
                <a:solidFill>
                  <a:srgbClr val="999999"/>
                </a:solidFill>
              </a:rPr>
              <a:t>実績</a:t>
            </a:r>
          </a:p>
          <a:p>
            <a:pPr algn="l">
              <a:spcBef>
                <a:spcPts val="400"/>
              </a:spcBef>
            </a:pPr>
            <a:r>
              <a:rPr sz="1300" b="0">
                <a:solidFill>
                  <a:srgbClr val="000000"/>
                </a:solidFill>
              </a:rPr>
              <a:t>販売実績　　●●台以上</a:t>
            </a:r>
          </a:p>
          <a:p>
            <a:pPr algn="l"/>
            <a:r>
              <a:rPr sz="1300" b="0">
                <a:solidFill>
                  <a:srgbClr val="000000"/>
                </a:solidFill>
              </a:rPr>
              <a:t>導入施設　　●●件以上</a:t>
            </a:r>
          </a:p>
          <a:p>
            <a:pPr algn="l"/>
            <a:r>
              <a:rPr sz="1300" b="0">
                <a:solidFill>
                  <a:srgbClr val="000000"/>
                </a:solidFill>
              </a:rPr>
              <a:t>メディア掲載　●●誌 / NHK 他●媒体</a:t>
            </a:r>
          </a:p>
          <a:p>
            <a:pPr algn="l"/>
            <a:r>
              <a:rPr sz="1300" b="0">
                <a:solidFill>
                  <a:srgbClr val="000000"/>
                </a:solidFill>
              </a:rPr>
              <a:t>設立　　　　2012年 / 神奈川県横浜市</a:t>
            </a:r>
          </a:p>
        </p:txBody>
      </p:sp>
      <p:cxnSp>
        <p:nvCxnSpPr>
          <p:cNvPr id="5" name="Connector 4"/>
          <p:cNvCxnSpPr/>
          <p:nvPr/>
        </p:nvCxnSpPr>
        <p:spPr>
          <a:xfrm>
            <a:off x="6400800" y="3840480"/>
            <a:ext cx="53035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なぜ今、トレーラーハウスなのか？</a:t>
            </a:r>
          </a:p>
        </p:txBody>
      </p:sp>
      <p:sp>
        <p:nvSpPr>
          <p:cNvPr id="3" name="TextBox 2"/>
          <p:cNvSpPr txBox="1"/>
          <p:nvPr/>
        </p:nvSpPr>
        <p:spPr>
          <a:xfrm>
            <a:off x="457200" y="914400"/>
            <a:ext cx="7315200" cy="365760"/>
          </a:xfrm>
          <a:prstGeom prst="rect">
            <a:avLst/>
          </a:prstGeom>
          <a:noFill/>
        </p:spPr>
        <p:txBody>
          <a:bodyPr wrap="square">
            <a:spAutoFit/>
          </a:bodyPr>
          <a:lstStyle/>
          <a:p>
            <a:pPr algn="l"/>
            <a:r>
              <a:rPr sz="1400" b="0">
                <a:solidFill>
                  <a:srgbClr val="999999"/>
                </a:solidFill>
              </a:rPr>
              <a:t>市場背景</a:t>
            </a:r>
          </a:p>
        </p:txBody>
      </p:sp>
      <p:cxnSp>
        <p:nvCxnSpPr>
          <p:cNvPr id="4" name="Connector 3"/>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280160"/>
            <a:ext cx="265176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25880"/>
            <a:ext cx="2468880" cy="411480"/>
          </a:xfrm>
          <a:prstGeom prst="rect">
            <a:avLst/>
          </a:prstGeom>
          <a:noFill/>
        </p:spPr>
        <p:txBody>
          <a:bodyPr wrap="square">
            <a:spAutoFit/>
          </a:bodyPr>
          <a:lstStyle/>
          <a:p>
            <a:pPr algn="l"/>
            <a:r>
              <a:rPr sz="1300" b="1">
                <a:solidFill>
                  <a:srgbClr val="FFFFFF"/>
                </a:solidFill>
              </a:rPr>
              <a:t>インバウンド回復</a:t>
            </a:r>
          </a:p>
        </p:txBody>
      </p:sp>
      <p:sp>
        <p:nvSpPr>
          <p:cNvPr id="7" name="TextBox 6"/>
          <p:cNvSpPr txBox="1"/>
          <p:nvPr/>
        </p:nvSpPr>
        <p:spPr>
          <a:xfrm>
            <a:off x="548640" y="1874519"/>
            <a:ext cx="2468880" cy="1645920"/>
          </a:xfrm>
          <a:prstGeom prst="rect">
            <a:avLst/>
          </a:prstGeom>
          <a:noFill/>
        </p:spPr>
        <p:txBody>
          <a:bodyPr wrap="square">
            <a:spAutoFit/>
          </a:bodyPr>
          <a:lstStyle/>
          <a:p>
            <a:pPr algn="l"/>
            <a:r>
              <a:rPr sz="1200" b="0">
                <a:solidFill>
                  <a:srgbClr val="333333"/>
                </a:solidFill>
              </a:rPr>
              <a:t>訪日観光客の急増に伴い、
グランピング・体験型宿泊の
需要が急拡大。</a:t>
            </a:r>
          </a:p>
        </p:txBody>
      </p:sp>
      <p:sp>
        <p:nvSpPr>
          <p:cNvPr id="8" name="Rectangle 7"/>
          <p:cNvSpPr/>
          <p:nvPr/>
        </p:nvSpPr>
        <p:spPr>
          <a:xfrm>
            <a:off x="3383280" y="1280160"/>
            <a:ext cx="265176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325880"/>
            <a:ext cx="2468880" cy="411480"/>
          </a:xfrm>
          <a:prstGeom prst="rect">
            <a:avLst/>
          </a:prstGeom>
          <a:noFill/>
        </p:spPr>
        <p:txBody>
          <a:bodyPr wrap="square">
            <a:spAutoFit/>
          </a:bodyPr>
          <a:lstStyle/>
          <a:p>
            <a:pPr algn="l"/>
            <a:r>
              <a:rPr sz="1300" b="1">
                <a:solidFill>
                  <a:srgbClr val="FFFFFF"/>
                </a:solidFill>
              </a:rPr>
              <a:t>移住・二拠点生活</a:t>
            </a:r>
          </a:p>
        </p:txBody>
      </p:sp>
      <p:sp>
        <p:nvSpPr>
          <p:cNvPr id="10" name="TextBox 9"/>
          <p:cNvSpPr txBox="1"/>
          <p:nvPr/>
        </p:nvSpPr>
        <p:spPr>
          <a:xfrm>
            <a:off x="3474720" y="1874519"/>
            <a:ext cx="2468880" cy="1645920"/>
          </a:xfrm>
          <a:prstGeom prst="rect">
            <a:avLst/>
          </a:prstGeom>
          <a:noFill/>
        </p:spPr>
        <p:txBody>
          <a:bodyPr wrap="square">
            <a:spAutoFit/>
          </a:bodyPr>
          <a:lstStyle/>
          <a:p>
            <a:pPr algn="l"/>
            <a:r>
              <a:rPr sz="1200" b="0">
                <a:solidFill>
                  <a:srgbClr val="333333"/>
                </a:solidFill>
              </a:rPr>
              <a:t>地方移住や二拠点生活トレンドが
加速。手軽に始められる
住まいのニーズが増大。</a:t>
            </a:r>
          </a:p>
        </p:txBody>
      </p:sp>
      <p:sp>
        <p:nvSpPr>
          <p:cNvPr id="11" name="Rectangle 10"/>
          <p:cNvSpPr/>
          <p:nvPr/>
        </p:nvSpPr>
        <p:spPr>
          <a:xfrm>
            <a:off x="6309360" y="1280160"/>
            <a:ext cx="265176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25880"/>
            <a:ext cx="2468880" cy="411480"/>
          </a:xfrm>
          <a:prstGeom prst="rect">
            <a:avLst/>
          </a:prstGeom>
          <a:noFill/>
        </p:spPr>
        <p:txBody>
          <a:bodyPr wrap="square">
            <a:spAutoFit/>
          </a:bodyPr>
          <a:lstStyle/>
          <a:p>
            <a:pPr algn="l"/>
            <a:r>
              <a:rPr sz="1300" b="1">
                <a:solidFill>
                  <a:srgbClr val="FFFFFF"/>
                </a:solidFill>
              </a:rPr>
              <a:t>遊休地の有効活用</a:t>
            </a:r>
          </a:p>
        </p:txBody>
      </p:sp>
      <p:sp>
        <p:nvSpPr>
          <p:cNvPr id="13" name="TextBox 12"/>
          <p:cNvSpPr txBox="1"/>
          <p:nvPr/>
        </p:nvSpPr>
        <p:spPr>
          <a:xfrm>
            <a:off x="6400800" y="1874519"/>
            <a:ext cx="2468880" cy="1645920"/>
          </a:xfrm>
          <a:prstGeom prst="rect">
            <a:avLst/>
          </a:prstGeom>
          <a:noFill/>
        </p:spPr>
        <p:txBody>
          <a:bodyPr wrap="square">
            <a:spAutoFit/>
          </a:bodyPr>
          <a:lstStyle/>
          <a:p>
            <a:pPr algn="l"/>
            <a:r>
              <a:rPr sz="1200" b="0">
                <a:solidFill>
                  <a:srgbClr val="333333"/>
                </a:solidFill>
              </a:rPr>
              <a:t>空き地・農地・山林などの
遊休資産を収益化したい
オーナーが増加。</a:t>
            </a:r>
          </a:p>
        </p:txBody>
      </p:sp>
      <p:sp>
        <p:nvSpPr>
          <p:cNvPr id="14" name="Rectangle 13"/>
          <p:cNvSpPr/>
          <p:nvPr/>
        </p:nvSpPr>
        <p:spPr>
          <a:xfrm>
            <a:off x="9235440" y="1280160"/>
            <a:ext cx="265176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0" y="1325880"/>
            <a:ext cx="2468880" cy="411480"/>
          </a:xfrm>
          <a:prstGeom prst="rect">
            <a:avLst/>
          </a:prstGeom>
          <a:noFill/>
        </p:spPr>
        <p:txBody>
          <a:bodyPr wrap="square">
            <a:spAutoFit/>
          </a:bodyPr>
          <a:lstStyle/>
          <a:p>
            <a:pPr algn="l"/>
            <a:r>
              <a:rPr sz="1300" b="1">
                <a:solidFill>
                  <a:srgbClr val="FFFFFF"/>
                </a:solidFill>
              </a:rPr>
              <a:t>建設業の課題</a:t>
            </a:r>
          </a:p>
        </p:txBody>
      </p:sp>
      <p:sp>
        <p:nvSpPr>
          <p:cNvPr id="16" name="TextBox 15"/>
          <p:cNvSpPr txBox="1"/>
          <p:nvPr/>
        </p:nvSpPr>
        <p:spPr>
          <a:xfrm>
            <a:off x="9326880" y="1874519"/>
            <a:ext cx="2468880" cy="1645920"/>
          </a:xfrm>
          <a:prstGeom prst="rect">
            <a:avLst/>
          </a:prstGeom>
          <a:noFill/>
        </p:spPr>
        <p:txBody>
          <a:bodyPr wrap="square">
            <a:spAutoFit/>
          </a:bodyPr>
          <a:lstStyle/>
          <a:p>
            <a:pPr algn="l"/>
            <a:r>
              <a:rPr sz="1200" b="0">
                <a:solidFill>
                  <a:srgbClr val="333333"/>
                </a:solidFill>
              </a:rPr>
              <a:t>職人不足・工期長期化・
コスト高騰が深刻化。
スピードと低コストが求められる。</a:t>
            </a:r>
          </a:p>
        </p:txBody>
      </p:sp>
      <p:cxnSp>
        <p:nvCxnSpPr>
          <p:cNvPr id="17" name="Connector 16"/>
          <p:cNvCxnSpPr/>
          <p:nvPr/>
        </p:nvCxnSpPr>
        <p:spPr>
          <a:xfrm>
            <a:off x="457200" y="3749039"/>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3931920"/>
            <a:ext cx="11247120" cy="2560320"/>
          </a:xfrm>
          <a:prstGeom prst="rect">
            <a:avLst/>
          </a:prstGeom>
          <a:noFill/>
        </p:spPr>
        <p:txBody>
          <a:bodyPr wrap="square">
            <a:spAutoFit/>
          </a:bodyPr>
          <a:lstStyle/>
          <a:p>
            <a:pPr algn="l">
              <a:spcAft>
                <a:spcPts val="1000"/>
              </a:spcAft>
            </a:pPr>
            <a:r>
              <a:rPr sz="1600" b="1">
                <a:solidFill>
                  <a:srgbClr val="000000"/>
                </a:solidFill>
              </a:rPr>
              <a:t>YADOKARIのトレーラーハウスは、これらすべての課題に応える「可動産」という新しい選択肢です。</a:t>
            </a:r>
          </a:p>
          <a:p>
            <a:pPr algn="l"/>
            <a:r>
              <a:rPr sz="1300" b="0">
                <a:solidFill>
                  <a:srgbClr val="333333"/>
                </a:solidFill>
              </a:rPr>
              <a:t>・初期費用を抑えながら高品質な空間を短期間で実現　　・移動できるから、土地を選ばない柔軟な事業展開が可能</a:t>
            </a:r>
          </a:p>
          <a:p>
            <a:pPr algn="l"/>
            <a:r>
              <a:rPr sz="1300" b="0">
                <a:solidFill>
                  <a:srgbClr val="333333"/>
                </a:solidFill>
              </a:rPr>
              <a:t>・建築物でない「車両」扱いで、法規制・税制面のハードルを低減　　・中古売却（出口戦略）まで一貫サポート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可動産という選択肢</a:t>
            </a:r>
          </a:p>
        </p:txBody>
      </p:sp>
      <p:cxnSp>
        <p:nvCxnSpPr>
          <p:cNvPr id="3" name="Connector 2"/>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88720"/>
            <a:ext cx="2651760" cy="457200"/>
          </a:xfrm>
          <a:prstGeom prst="rect">
            <a:avLst/>
          </a:prstGeom>
          <a:noFill/>
        </p:spPr>
        <p:txBody>
          <a:bodyPr wrap="square">
            <a:spAutoFit/>
          </a:bodyPr>
          <a:lstStyle/>
          <a:p>
            <a:pPr algn="l"/>
            <a:r>
              <a:rPr sz="1400" b="1">
                <a:solidFill>
                  <a:srgbClr val="000000"/>
                </a:solidFill>
              </a:rPr>
              <a:t>1. 機動力</a:t>
            </a:r>
          </a:p>
        </p:txBody>
      </p:sp>
      <p:sp>
        <p:nvSpPr>
          <p:cNvPr id="5" name="TextBox 4"/>
          <p:cNvSpPr txBox="1"/>
          <p:nvPr/>
        </p:nvSpPr>
        <p:spPr>
          <a:xfrm>
            <a:off x="457200" y="1737360"/>
            <a:ext cx="2651760" cy="1645920"/>
          </a:xfrm>
          <a:prstGeom prst="rect">
            <a:avLst/>
          </a:prstGeom>
          <a:noFill/>
        </p:spPr>
        <p:txBody>
          <a:bodyPr wrap="square">
            <a:spAutoFit/>
          </a:bodyPr>
          <a:lstStyle/>
          <a:p>
            <a:pPr algn="l"/>
            <a:r>
              <a:rPr sz="1200" b="0">
                <a:solidFill>
                  <a:srgbClr val="333333"/>
                </a:solidFill>
              </a:rPr>
              <a:t>基礎を必要とせず、
場所にとらわれない
柔軟な運用が可能。</a:t>
            </a:r>
          </a:p>
        </p:txBody>
      </p:sp>
      <p:cxnSp>
        <p:nvCxnSpPr>
          <p:cNvPr id="6" name="Connector 5"/>
          <p:cNvCxnSpPr/>
          <p:nvPr/>
        </p:nvCxnSpPr>
        <p:spPr>
          <a:xfrm>
            <a:off x="3291840" y="1097280"/>
            <a:ext cx="0" cy="237744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383280" y="1188720"/>
            <a:ext cx="2651760" cy="457200"/>
          </a:xfrm>
          <a:prstGeom prst="rect">
            <a:avLst/>
          </a:prstGeom>
          <a:noFill/>
        </p:spPr>
        <p:txBody>
          <a:bodyPr wrap="square">
            <a:spAutoFit/>
          </a:bodyPr>
          <a:lstStyle/>
          <a:p>
            <a:pPr algn="l"/>
            <a:r>
              <a:rPr sz="1400" b="1">
                <a:solidFill>
                  <a:srgbClr val="000000"/>
                </a:solidFill>
              </a:rPr>
              <a:t>2. コストパフォーマンス</a:t>
            </a:r>
          </a:p>
        </p:txBody>
      </p:sp>
      <p:sp>
        <p:nvSpPr>
          <p:cNvPr id="8" name="TextBox 7"/>
          <p:cNvSpPr txBox="1"/>
          <p:nvPr/>
        </p:nvSpPr>
        <p:spPr>
          <a:xfrm>
            <a:off x="3383280" y="1737360"/>
            <a:ext cx="2651760" cy="1645920"/>
          </a:xfrm>
          <a:prstGeom prst="rect">
            <a:avLst/>
          </a:prstGeom>
          <a:noFill/>
        </p:spPr>
        <p:txBody>
          <a:bodyPr wrap="square">
            <a:spAutoFit/>
          </a:bodyPr>
          <a:lstStyle/>
          <a:p>
            <a:pPr algn="l"/>
            <a:r>
              <a:rPr sz="1200" b="0">
                <a:solidFill>
                  <a:srgbClr val="333333"/>
                </a:solidFill>
              </a:rPr>
              <a:t>従来の建築物と比較して
初期費用を大幅に抑制。</a:t>
            </a:r>
          </a:p>
        </p:txBody>
      </p:sp>
      <p:cxnSp>
        <p:nvCxnSpPr>
          <p:cNvPr id="9" name="Connector 8"/>
          <p:cNvCxnSpPr/>
          <p:nvPr/>
        </p:nvCxnSpPr>
        <p:spPr>
          <a:xfrm>
            <a:off x="6217920" y="1097280"/>
            <a:ext cx="0" cy="237744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309360" y="1188720"/>
            <a:ext cx="2651760" cy="457200"/>
          </a:xfrm>
          <a:prstGeom prst="rect">
            <a:avLst/>
          </a:prstGeom>
          <a:noFill/>
        </p:spPr>
        <p:txBody>
          <a:bodyPr wrap="square">
            <a:spAutoFit/>
          </a:bodyPr>
          <a:lstStyle/>
          <a:p>
            <a:pPr algn="l"/>
            <a:r>
              <a:rPr sz="1400" b="1">
                <a:solidFill>
                  <a:srgbClr val="000000"/>
                </a:solidFill>
              </a:rPr>
              <a:t>3. スピード導入</a:t>
            </a:r>
          </a:p>
        </p:txBody>
      </p:sp>
      <p:sp>
        <p:nvSpPr>
          <p:cNvPr id="11" name="TextBox 10"/>
          <p:cNvSpPr txBox="1"/>
          <p:nvPr/>
        </p:nvSpPr>
        <p:spPr>
          <a:xfrm>
            <a:off x="6309360" y="1737360"/>
            <a:ext cx="2651760" cy="1645920"/>
          </a:xfrm>
          <a:prstGeom prst="rect">
            <a:avLst/>
          </a:prstGeom>
          <a:noFill/>
        </p:spPr>
        <p:txBody>
          <a:bodyPr wrap="square">
            <a:spAutoFit/>
          </a:bodyPr>
          <a:lstStyle/>
          <a:p>
            <a:pPr algn="l"/>
            <a:r>
              <a:rPr sz="1200" b="0">
                <a:solidFill>
                  <a:srgbClr val="333333"/>
                </a:solidFill>
              </a:rPr>
              <a:t>製造から納品までの
リードタイムが短く、
素早い事業展開が可能。</a:t>
            </a:r>
          </a:p>
        </p:txBody>
      </p:sp>
      <p:cxnSp>
        <p:nvCxnSpPr>
          <p:cNvPr id="12" name="Connector 11"/>
          <p:cNvCxnSpPr/>
          <p:nvPr/>
        </p:nvCxnSpPr>
        <p:spPr>
          <a:xfrm>
            <a:off x="9144000" y="1097280"/>
            <a:ext cx="0" cy="237744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235440" y="1188720"/>
            <a:ext cx="2651760" cy="457200"/>
          </a:xfrm>
          <a:prstGeom prst="rect">
            <a:avLst/>
          </a:prstGeom>
          <a:noFill/>
        </p:spPr>
        <p:txBody>
          <a:bodyPr wrap="square">
            <a:spAutoFit/>
          </a:bodyPr>
          <a:lstStyle/>
          <a:p>
            <a:pPr algn="l"/>
            <a:r>
              <a:rPr sz="1400" b="1">
                <a:solidFill>
                  <a:srgbClr val="000000"/>
                </a:solidFill>
              </a:rPr>
              <a:t>4. 法規制のメリット</a:t>
            </a:r>
          </a:p>
        </p:txBody>
      </p:sp>
      <p:sp>
        <p:nvSpPr>
          <p:cNvPr id="14" name="TextBox 13"/>
          <p:cNvSpPr txBox="1"/>
          <p:nvPr/>
        </p:nvSpPr>
        <p:spPr>
          <a:xfrm>
            <a:off x="9235440" y="1737360"/>
            <a:ext cx="2651760" cy="1645920"/>
          </a:xfrm>
          <a:prstGeom prst="rect">
            <a:avLst/>
          </a:prstGeom>
          <a:noFill/>
        </p:spPr>
        <p:txBody>
          <a:bodyPr wrap="square">
            <a:spAutoFit/>
          </a:bodyPr>
          <a:lstStyle/>
          <a:p>
            <a:pPr algn="l"/>
            <a:r>
              <a:rPr sz="1200" b="0">
                <a:solidFill>
                  <a:srgbClr val="333333"/>
                </a:solidFill>
              </a:rPr>
              <a:t>一定の条件を満たすことで
「車両」扱いとなり、
税制・設置のハードルを低減。</a:t>
            </a:r>
          </a:p>
        </p:txBody>
      </p:sp>
      <p:cxnSp>
        <p:nvCxnSpPr>
          <p:cNvPr id="15" name="Connector 14"/>
          <p:cNvCxnSpPr/>
          <p:nvPr/>
        </p:nvCxnSpPr>
        <p:spPr>
          <a:xfrm>
            <a:off x="457200" y="356616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3749039"/>
            <a:ext cx="3657600" cy="365760"/>
          </a:xfrm>
          <a:prstGeom prst="rect">
            <a:avLst/>
          </a:prstGeom>
          <a:noFill/>
        </p:spPr>
        <p:txBody>
          <a:bodyPr wrap="square">
            <a:spAutoFit/>
          </a:bodyPr>
          <a:lstStyle/>
          <a:p>
            <a:pPr algn="l"/>
            <a:r>
              <a:rPr sz="1300" b="1">
                <a:solidFill>
                  <a:srgbClr val="999999"/>
                </a:solidFill>
              </a:rPr>
              <a:t>従来の建築物との比較</a:t>
            </a:r>
          </a:p>
        </p:txBody>
      </p:sp>
      <p:sp>
        <p:nvSpPr>
          <p:cNvPr id="17" name="Rectangle 16"/>
          <p:cNvSpPr/>
          <p:nvPr/>
        </p:nvSpPr>
        <p:spPr>
          <a:xfrm>
            <a:off x="457200" y="4160520"/>
            <a:ext cx="25146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197096"/>
            <a:ext cx="2468879" cy="256032"/>
          </a:xfrm>
          <a:prstGeom prst="rect">
            <a:avLst/>
          </a:prstGeom>
          <a:noFill/>
        </p:spPr>
        <p:txBody>
          <a:bodyPr wrap="square">
            <a:spAutoFit/>
          </a:bodyPr>
          <a:lstStyle/>
          <a:p>
            <a:pPr algn="ctr"/>
            <a:r>
              <a:rPr sz="1100" b="1">
                <a:solidFill>
                  <a:srgbClr val="999999"/>
                </a:solidFill>
              </a:rPr>
              <a:t/>
            </a:r>
          </a:p>
        </p:txBody>
      </p:sp>
      <p:sp>
        <p:nvSpPr>
          <p:cNvPr id="19" name="Rectangle 18"/>
          <p:cNvSpPr/>
          <p:nvPr/>
        </p:nvSpPr>
        <p:spPr>
          <a:xfrm>
            <a:off x="3108960" y="4160520"/>
            <a:ext cx="3154680" cy="30175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54679" y="4197096"/>
            <a:ext cx="3108960" cy="256032"/>
          </a:xfrm>
          <a:prstGeom prst="rect">
            <a:avLst/>
          </a:prstGeom>
          <a:noFill/>
        </p:spPr>
        <p:txBody>
          <a:bodyPr wrap="square">
            <a:spAutoFit/>
          </a:bodyPr>
          <a:lstStyle/>
          <a:p>
            <a:pPr algn="ctr"/>
            <a:r>
              <a:rPr sz="1100" b="1">
                <a:solidFill>
                  <a:srgbClr val="FFFFFF"/>
                </a:solidFill>
              </a:rPr>
              <a:t>従来の建築物</a:t>
            </a:r>
          </a:p>
        </p:txBody>
      </p:sp>
      <p:sp>
        <p:nvSpPr>
          <p:cNvPr id="21" name="Rectangle 20"/>
          <p:cNvSpPr/>
          <p:nvPr/>
        </p:nvSpPr>
        <p:spPr>
          <a:xfrm>
            <a:off x="6400800" y="4160520"/>
            <a:ext cx="3154680" cy="30175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197096"/>
            <a:ext cx="3108960" cy="256032"/>
          </a:xfrm>
          <a:prstGeom prst="rect">
            <a:avLst/>
          </a:prstGeom>
          <a:noFill/>
        </p:spPr>
        <p:txBody>
          <a:bodyPr wrap="square">
            <a:spAutoFit/>
          </a:bodyPr>
          <a:lstStyle/>
          <a:p>
            <a:pPr algn="ctr"/>
            <a:r>
              <a:rPr sz="1100" b="1">
                <a:solidFill>
                  <a:srgbClr val="FFFFFF"/>
                </a:solidFill>
              </a:rPr>
              <a:t>トレーラーハウス</a:t>
            </a:r>
          </a:p>
        </p:txBody>
      </p:sp>
      <p:sp>
        <p:nvSpPr>
          <p:cNvPr id="23" name="Rectangle 22"/>
          <p:cNvSpPr/>
          <p:nvPr/>
        </p:nvSpPr>
        <p:spPr>
          <a:xfrm>
            <a:off x="457200" y="4462272"/>
            <a:ext cx="2514600" cy="283464"/>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498848"/>
            <a:ext cx="2423160" cy="246888"/>
          </a:xfrm>
          <a:prstGeom prst="rect">
            <a:avLst/>
          </a:prstGeom>
          <a:noFill/>
        </p:spPr>
        <p:txBody>
          <a:bodyPr wrap="square">
            <a:spAutoFit/>
          </a:bodyPr>
          <a:lstStyle/>
          <a:p>
            <a:pPr algn="l"/>
            <a:r>
              <a:rPr sz="1100" b="0">
                <a:solidFill>
                  <a:srgbClr val="000000"/>
                </a:solidFill>
              </a:rPr>
              <a:t>初期費用</a:t>
            </a:r>
          </a:p>
        </p:txBody>
      </p:sp>
      <p:sp>
        <p:nvSpPr>
          <p:cNvPr id="25" name="Rectangle 24"/>
          <p:cNvSpPr/>
          <p:nvPr/>
        </p:nvSpPr>
        <p:spPr>
          <a:xfrm>
            <a:off x="3108960" y="4462272"/>
            <a:ext cx="3154680" cy="283464"/>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82112" y="4498848"/>
            <a:ext cx="3063240" cy="246888"/>
          </a:xfrm>
          <a:prstGeom prst="rect">
            <a:avLst/>
          </a:prstGeom>
          <a:noFill/>
        </p:spPr>
        <p:txBody>
          <a:bodyPr wrap="square">
            <a:spAutoFit/>
          </a:bodyPr>
          <a:lstStyle/>
          <a:p>
            <a:pPr algn="ctr"/>
            <a:r>
              <a:rPr sz="1100" b="0">
                <a:solidFill>
                  <a:srgbClr val="000000"/>
                </a:solidFill>
              </a:rPr>
              <a:t>数千万〜数億円</a:t>
            </a:r>
          </a:p>
        </p:txBody>
      </p:sp>
      <p:sp>
        <p:nvSpPr>
          <p:cNvPr id="27" name="Rectangle 26"/>
          <p:cNvSpPr/>
          <p:nvPr/>
        </p:nvSpPr>
        <p:spPr>
          <a:xfrm>
            <a:off x="6400800" y="4462272"/>
            <a:ext cx="3154680" cy="283464"/>
          </a:xfrm>
          <a:prstGeom prst="rect">
            <a:avLst/>
          </a:prstGeom>
          <a:solidFill>
            <a:srgbClr val="F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4498848"/>
            <a:ext cx="3063240" cy="246888"/>
          </a:xfrm>
          <a:prstGeom prst="rect">
            <a:avLst/>
          </a:prstGeom>
          <a:noFill/>
        </p:spPr>
        <p:txBody>
          <a:bodyPr wrap="square">
            <a:spAutoFit/>
          </a:bodyPr>
          <a:lstStyle/>
          <a:p>
            <a:pPr algn="ctr"/>
            <a:r>
              <a:rPr sz="1100" b="1">
                <a:solidFill>
                  <a:srgbClr val="000000"/>
                </a:solidFill>
              </a:rPr>
              <a:t>749万円〜</a:t>
            </a:r>
          </a:p>
        </p:txBody>
      </p:sp>
      <p:sp>
        <p:nvSpPr>
          <p:cNvPr id="29" name="Rectangle 28"/>
          <p:cNvSpPr/>
          <p:nvPr/>
        </p:nvSpPr>
        <p:spPr>
          <a:xfrm>
            <a:off x="457200" y="4764024"/>
            <a:ext cx="251460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4800600"/>
            <a:ext cx="2423160" cy="246888"/>
          </a:xfrm>
          <a:prstGeom prst="rect">
            <a:avLst/>
          </a:prstGeom>
          <a:noFill/>
        </p:spPr>
        <p:txBody>
          <a:bodyPr wrap="square">
            <a:spAutoFit/>
          </a:bodyPr>
          <a:lstStyle/>
          <a:p>
            <a:pPr algn="l"/>
            <a:r>
              <a:rPr sz="1100" b="0">
                <a:solidFill>
                  <a:srgbClr val="000000"/>
                </a:solidFill>
              </a:rPr>
              <a:t>工  期</a:t>
            </a:r>
          </a:p>
        </p:txBody>
      </p:sp>
      <p:sp>
        <p:nvSpPr>
          <p:cNvPr id="31" name="Rectangle 30"/>
          <p:cNvSpPr/>
          <p:nvPr/>
        </p:nvSpPr>
        <p:spPr>
          <a:xfrm>
            <a:off x="3108960" y="4764024"/>
            <a:ext cx="315468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82112" y="4800600"/>
            <a:ext cx="3063240" cy="246888"/>
          </a:xfrm>
          <a:prstGeom prst="rect">
            <a:avLst/>
          </a:prstGeom>
          <a:noFill/>
        </p:spPr>
        <p:txBody>
          <a:bodyPr wrap="square">
            <a:spAutoFit/>
          </a:bodyPr>
          <a:lstStyle/>
          <a:p>
            <a:pPr algn="ctr"/>
            <a:r>
              <a:rPr sz="1100" b="0">
                <a:solidFill>
                  <a:srgbClr val="000000"/>
                </a:solidFill>
              </a:rPr>
              <a:t>6ヶ月〜1年以上</a:t>
            </a:r>
          </a:p>
        </p:txBody>
      </p:sp>
      <p:sp>
        <p:nvSpPr>
          <p:cNvPr id="33" name="Rectangle 32"/>
          <p:cNvSpPr/>
          <p:nvPr/>
        </p:nvSpPr>
        <p:spPr>
          <a:xfrm>
            <a:off x="6400800" y="4764024"/>
            <a:ext cx="3154680" cy="283464"/>
          </a:xfrm>
          <a:prstGeom prst="rect">
            <a:avLst/>
          </a:prstGeom>
          <a:solidFill>
            <a:srgbClr val="F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73952" y="4800600"/>
            <a:ext cx="3063240" cy="246888"/>
          </a:xfrm>
          <a:prstGeom prst="rect">
            <a:avLst/>
          </a:prstGeom>
          <a:noFill/>
        </p:spPr>
        <p:txBody>
          <a:bodyPr wrap="square">
            <a:spAutoFit/>
          </a:bodyPr>
          <a:lstStyle/>
          <a:p>
            <a:pPr algn="ctr"/>
            <a:r>
              <a:rPr sz="1100" b="1">
                <a:solidFill>
                  <a:srgbClr val="000000"/>
                </a:solidFill>
              </a:rPr>
              <a:t>約3〜4ヶ月</a:t>
            </a:r>
          </a:p>
        </p:txBody>
      </p:sp>
      <p:sp>
        <p:nvSpPr>
          <p:cNvPr id="35" name="Rectangle 34"/>
          <p:cNvSpPr/>
          <p:nvPr/>
        </p:nvSpPr>
        <p:spPr>
          <a:xfrm>
            <a:off x="457200" y="5065776"/>
            <a:ext cx="2514600" cy="283464"/>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 y="5102352"/>
            <a:ext cx="2423160" cy="246888"/>
          </a:xfrm>
          <a:prstGeom prst="rect">
            <a:avLst/>
          </a:prstGeom>
          <a:noFill/>
        </p:spPr>
        <p:txBody>
          <a:bodyPr wrap="square">
            <a:spAutoFit/>
          </a:bodyPr>
          <a:lstStyle/>
          <a:p>
            <a:pPr algn="l"/>
            <a:r>
              <a:rPr sz="1100" b="0">
                <a:solidFill>
                  <a:srgbClr val="000000"/>
                </a:solidFill>
              </a:rPr>
              <a:t>移設・撤去</a:t>
            </a:r>
          </a:p>
        </p:txBody>
      </p:sp>
      <p:sp>
        <p:nvSpPr>
          <p:cNvPr id="37" name="Rectangle 36"/>
          <p:cNvSpPr/>
          <p:nvPr/>
        </p:nvSpPr>
        <p:spPr>
          <a:xfrm>
            <a:off x="3108960" y="5065776"/>
            <a:ext cx="3154680" cy="283464"/>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82112" y="5102352"/>
            <a:ext cx="3063240" cy="246888"/>
          </a:xfrm>
          <a:prstGeom prst="rect">
            <a:avLst/>
          </a:prstGeom>
          <a:noFill/>
        </p:spPr>
        <p:txBody>
          <a:bodyPr wrap="square">
            <a:spAutoFit/>
          </a:bodyPr>
          <a:lstStyle/>
          <a:p>
            <a:pPr algn="ctr"/>
            <a:r>
              <a:rPr sz="1100" b="0">
                <a:solidFill>
                  <a:srgbClr val="000000"/>
                </a:solidFill>
              </a:rPr>
              <a:t>ほぼ不可能</a:t>
            </a:r>
          </a:p>
        </p:txBody>
      </p:sp>
      <p:sp>
        <p:nvSpPr>
          <p:cNvPr id="39" name="Rectangle 38"/>
          <p:cNvSpPr/>
          <p:nvPr/>
        </p:nvSpPr>
        <p:spPr>
          <a:xfrm>
            <a:off x="6400800" y="5065776"/>
            <a:ext cx="3154680" cy="283464"/>
          </a:xfrm>
          <a:prstGeom prst="rect">
            <a:avLst/>
          </a:prstGeom>
          <a:solidFill>
            <a:srgbClr val="F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73952" y="5102352"/>
            <a:ext cx="3063240" cy="246888"/>
          </a:xfrm>
          <a:prstGeom prst="rect">
            <a:avLst/>
          </a:prstGeom>
          <a:noFill/>
        </p:spPr>
        <p:txBody>
          <a:bodyPr wrap="square">
            <a:spAutoFit/>
          </a:bodyPr>
          <a:lstStyle/>
          <a:p>
            <a:pPr algn="ctr"/>
            <a:r>
              <a:rPr sz="1100" b="1">
                <a:solidFill>
                  <a:srgbClr val="000000"/>
                </a:solidFill>
              </a:rPr>
              <a:t>可能（再設置・売却）</a:t>
            </a:r>
          </a:p>
        </p:txBody>
      </p:sp>
      <p:sp>
        <p:nvSpPr>
          <p:cNvPr id="41" name="Rectangle 40"/>
          <p:cNvSpPr/>
          <p:nvPr/>
        </p:nvSpPr>
        <p:spPr>
          <a:xfrm>
            <a:off x="457200" y="5367528"/>
            <a:ext cx="251460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0352" y="5404104"/>
            <a:ext cx="2423160" cy="246888"/>
          </a:xfrm>
          <a:prstGeom prst="rect">
            <a:avLst/>
          </a:prstGeom>
          <a:noFill/>
        </p:spPr>
        <p:txBody>
          <a:bodyPr wrap="square">
            <a:spAutoFit/>
          </a:bodyPr>
          <a:lstStyle/>
          <a:p>
            <a:pPr algn="l"/>
            <a:r>
              <a:rPr sz="1100" b="0">
                <a:solidFill>
                  <a:srgbClr val="000000"/>
                </a:solidFill>
              </a:rPr>
              <a:t>建築確認申請</a:t>
            </a:r>
          </a:p>
        </p:txBody>
      </p:sp>
      <p:sp>
        <p:nvSpPr>
          <p:cNvPr id="43" name="Rectangle 42"/>
          <p:cNvSpPr/>
          <p:nvPr/>
        </p:nvSpPr>
        <p:spPr>
          <a:xfrm>
            <a:off x="3108960" y="5367528"/>
            <a:ext cx="315468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82112" y="5404104"/>
            <a:ext cx="3063240" cy="246888"/>
          </a:xfrm>
          <a:prstGeom prst="rect">
            <a:avLst/>
          </a:prstGeom>
          <a:noFill/>
        </p:spPr>
        <p:txBody>
          <a:bodyPr wrap="square">
            <a:spAutoFit/>
          </a:bodyPr>
          <a:lstStyle/>
          <a:p>
            <a:pPr algn="ctr"/>
            <a:r>
              <a:rPr sz="1100" b="0">
                <a:solidFill>
                  <a:srgbClr val="000000"/>
                </a:solidFill>
              </a:rPr>
              <a:t>必要</a:t>
            </a:r>
          </a:p>
        </p:txBody>
      </p:sp>
      <p:sp>
        <p:nvSpPr>
          <p:cNvPr id="45" name="Rectangle 44"/>
          <p:cNvSpPr/>
          <p:nvPr/>
        </p:nvSpPr>
        <p:spPr>
          <a:xfrm>
            <a:off x="6400800" y="5367528"/>
            <a:ext cx="3154680" cy="283464"/>
          </a:xfrm>
          <a:prstGeom prst="rect">
            <a:avLst/>
          </a:prstGeom>
          <a:solidFill>
            <a:srgbClr val="F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73952" y="5404104"/>
            <a:ext cx="3063240" cy="246888"/>
          </a:xfrm>
          <a:prstGeom prst="rect">
            <a:avLst/>
          </a:prstGeom>
          <a:noFill/>
        </p:spPr>
        <p:txBody>
          <a:bodyPr wrap="square">
            <a:spAutoFit/>
          </a:bodyPr>
          <a:lstStyle/>
          <a:p>
            <a:pPr algn="ctr"/>
            <a:r>
              <a:rPr sz="1100" b="1">
                <a:solidFill>
                  <a:srgbClr val="000000"/>
                </a:solidFill>
              </a:rPr>
              <a:t>不要（条件付き）※</a:t>
            </a:r>
          </a:p>
        </p:txBody>
      </p:sp>
      <p:sp>
        <p:nvSpPr>
          <p:cNvPr id="47" name="Rectangle 46"/>
          <p:cNvSpPr/>
          <p:nvPr/>
        </p:nvSpPr>
        <p:spPr>
          <a:xfrm>
            <a:off x="457200" y="5669280"/>
            <a:ext cx="2514600" cy="283464"/>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352" y="5705856"/>
            <a:ext cx="2423160" cy="246888"/>
          </a:xfrm>
          <a:prstGeom prst="rect">
            <a:avLst/>
          </a:prstGeom>
          <a:noFill/>
        </p:spPr>
        <p:txBody>
          <a:bodyPr wrap="square">
            <a:spAutoFit/>
          </a:bodyPr>
          <a:lstStyle/>
          <a:p>
            <a:pPr algn="l"/>
            <a:r>
              <a:rPr sz="1100" b="0">
                <a:solidFill>
                  <a:srgbClr val="000000"/>
                </a:solidFill>
              </a:rPr>
              <a:t>固定資産税</a:t>
            </a:r>
          </a:p>
        </p:txBody>
      </p:sp>
      <p:sp>
        <p:nvSpPr>
          <p:cNvPr id="49" name="Rectangle 48"/>
          <p:cNvSpPr/>
          <p:nvPr/>
        </p:nvSpPr>
        <p:spPr>
          <a:xfrm>
            <a:off x="3108960" y="5669280"/>
            <a:ext cx="3154680" cy="283464"/>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82112" y="5705856"/>
            <a:ext cx="3063240" cy="246888"/>
          </a:xfrm>
          <a:prstGeom prst="rect">
            <a:avLst/>
          </a:prstGeom>
          <a:noFill/>
        </p:spPr>
        <p:txBody>
          <a:bodyPr wrap="square">
            <a:spAutoFit/>
          </a:bodyPr>
          <a:lstStyle/>
          <a:p>
            <a:pPr algn="ctr"/>
            <a:r>
              <a:rPr sz="1100" b="0">
                <a:solidFill>
                  <a:srgbClr val="000000"/>
                </a:solidFill>
              </a:rPr>
              <a:t>課税</a:t>
            </a:r>
          </a:p>
        </p:txBody>
      </p:sp>
      <p:sp>
        <p:nvSpPr>
          <p:cNvPr id="51" name="Rectangle 50"/>
          <p:cNvSpPr/>
          <p:nvPr/>
        </p:nvSpPr>
        <p:spPr>
          <a:xfrm>
            <a:off x="6400800" y="5669280"/>
            <a:ext cx="3154680" cy="283464"/>
          </a:xfrm>
          <a:prstGeom prst="rect">
            <a:avLst/>
          </a:prstGeom>
          <a:solidFill>
            <a:srgbClr val="F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73952" y="5705856"/>
            <a:ext cx="3063240" cy="246888"/>
          </a:xfrm>
          <a:prstGeom prst="rect">
            <a:avLst/>
          </a:prstGeom>
          <a:noFill/>
        </p:spPr>
        <p:txBody>
          <a:bodyPr wrap="square">
            <a:spAutoFit/>
          </a:bodyPr>
          <a:lstStyle/>
          <a:p>
            <a:pPr algn="ctr"/>
            <a:r>
              <a:rPr sz="1100" b="1">
                <a:solidFill>
                  <a:srgbClr val="000000"/>
                </a:solidFill>
              </a:rPr>
              <a:t>非課税（条件付き）※</a:t>
            </a:r>
          </a:p>
        </p:txBody>
      </p:sp>
      <p:sp>
        <p:nvSpPr>
          <p:cNvPr id="53" name="Rectangle 52"/>
          <p:cNvSpPr/>
          <p:nvPr/>
        </p:nvSpPr>
        <p:spPr>
          <a:xfrm>
            <a:off x="457200" y="5971032"/>
            <a:ext cx="251460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30352" y="6007608"/>
            <a:ext cx="2423160" cy="246888"/>
          </a:xfrm>
          <a:prstGeom prst="rect">
            <a:avLst/>
          </a:prstGeom>
          <a:noFill/>
        </p:spPr>
        <p:txBody>
          <a:bodyPr wrap="square">
            <a:spAutoFit/>
          </a:bodyPr>
          <a:lstStyle/>
          <a:p>
            <a:pPr algn="l"/>
            <a:r>
              <a:rPr sz="1100" b="0">
                <a:solidFill>
                  <a:srgbClr val="000000"/>
                </a:solidFill>
              </a:rPr>
              <a:t>出口戦略</a:t>
            </a:r>
          </a:p>
        </p:txBody>
      </p:sp>
      <p:sp>
        <p:nvSpPr>
          <p:cNvPr id="55" name="Rectangle 54"/>
          <p:cNvSpPr/>
          <p:nvPr/>
        </p:nvSpPr>
        <p:spPr>
          <a:xfrm>
            <a:off x="3108960" y="5971032"/>
            <a:ext cx="3154680"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182112" y="6007608"/>
            <a:ext cx="3063240" cy="246888"/>
          </a:xfrm>
          <a:prstGeom prst="rect">
            <a:avLst/>
          </a:prstGeom>
          <a:noFill/>
        </p:spPr>
        <p:txBody>
          <a:bodyPr wrap="square">
            <a:spAutoFit/>
          </a:bodyPr>
          <a:lstStyle/>
          <a:p>
            <a:pPr algn="ctr"/>
            <a:r>
              <a:rPr sz="1100" b="0">
                <a:solidFill>
                  <a:srgbClr val="000000"/>
                </a:solidFill>
              </a:rPr>
              <a:t>解体コスト発生</a:t>
            </a:r>
          </a:p>
        </p:txBody>
      </p:sp>
      <p:sp>
        <p:nvSpPr>
          <p:cNvPr id="57" name="Rectangle 56"/>
          <p:cNvSpPr/>
          <p:nvPr/>
        </p:nvSpPr>
        <p:spPr>
          <a:xfrm>
            <a:off x="6400800" y="5971032"/>
            <a:ext cx="3154680" cy="283464"/>
          </a:xfrm>
          <a:prstGeom prst="rect">
            <a:avLst/>
          </a:prstGeom>
          <a:solidFill>
            <a:srgbClr val="F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73952" y="6007608"/>
            <a:ext cx="3063240" cy="246888"/>
          </a:xfrm>
          <a:prstGeom prst="rect">
            <a:avLst/>
          </a:prstGeom>
          <a:noFill/>
        </p:spPr>
        <p:txBody>
          <a:bodyPr wrap="square">
            <a:spAutoFit/>
          </a:bodyPr>
          <a:lstStyle/>
          <a:p>
            <a:pPr algn="ctr"/>
            <a:r>
              <a:rPr sz="1100" b="1">
                <a:solidFill>
                  <a:srgbClr val="000000"/>
                </a:solidFill>
              </a:rPr>
              <a:t>中古売却が可能</a:t>
            </a:r>
          </a:p>
        </p:txBody>
      </p:sp>
      <p:sp>
        <p:nvSpPr>
          <p:cNvPr id="59" name="TextBox 58"/>
          <p:cNvSpPr txBox="1"/>
          <p:nvPr/>
        </p:nvSpPr>
        <p:spPr>
          <a:xfrm>
            <a:off x="457200" y="6537960"/>
            <a:ext cx="7315200" cy="274320"/>
          </a:xfrm>
          <a:prstGeom prst="rect">
            <a:avLst/>
          </a:prstGeom>
          <a:noFill/>
        </p:spPr>
        <p:txBody>
          <a:bodyPr wrap="square">
            <a:spAutoFit/>
          </a:bodyPr>
          <a:lstStyle/>
          <a:p>
            <a:pPr algn="l"/>
            <a:r>
              <a:rPr sz="1000" b="0">
                <a:solidFill>
                  <a:srgbClr val="999999"/>
                </a:solidFill>
              </a:rPr>
              <a:t>※一定条件下において。詳細はご相談ください。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多様な活用シーン</a:t>
            </a:r>
          </a:p>
        </p:txBody>
      </p:sp>
      <p:cxnSp>
        <p:nvCxnSpPr>
          <p:cNvPr id="3" name="Connector 2"/>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65760" y="1097280"/>
            <a:ext cx="5577840" cy="1645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79" y="1783080"/>
            <a:ext cx="1828800" cy="365760"/>
          </a:xfrm>
          <a:prstGeom prst="rect">
            <a:avLst/>
          </a:prstGeom>
          <a:noFill/>
        </p:spPr>
        <p:txBody>
          <a:bodyPr wrap="square">
            <a:spAutoFit/>
          </a:bodyPr>
          <a:lstStyle/>
          <a:p>
            <a:pPr algn="ctr"/>
            <a:r>
              <a:rPr sz="1000" b="0">
                <a:solidFill>
                  <a:srgbClr val="999999"/>
                </a:solidFill>
              </a:rPr>
              <a:t>［写真エリア］</a:t>
            </a:r>
          </a:p>
        </p:txBody>
      </p:sp>
      <p:sp>
        <p:nvSpPr>
          <p:cNvPr id="6" name="TextBox 5"/>
          <p:cNvSpPr txBox="1"/>
          <p:nvPr/>
        </p:nvSpPr>
        <p:spPr>
          <a:xfrm>
            <a:off x="365760" y="2788920"/>
            <a:ext cx="5577840" cy="365760"/>
          </a:xfrm>
          <a:prstGeom prst="rect">
            <a:avLst/>
          </a:prstGeom>
          <a:noFill/>
        </p:spPr>
        <p:txBody>
          <a:bodyPr wrap="square">
            <a:spAutoFit/>
          </a:bodyPr>
          <a:lstStyle/>
          <a:p>
            <a:pPr algn="l"/>
            <a:r>
              <a:rPr sz="1400" b="1">
                <a:solidFill>
                  <a:srgbClr val="000000"/>
                </a:solidFill>
              </a:rPr>
              <a:t>宿泊施設・グランピング</a:t>
            </a:r>
          </a:p>
        </p:txBody>
      </p:sp>
      <p:sp>
        <p:nvSpPr>
          <p:cNvPr id="7" name="TextBox 6"/>
          <p:cNvSpPr txBox="1"/>
          <p:nvPr/>
        </p:nvSpPr>
        <p:spPr>
          <a:xfrm>
            <a:off x="365760" y="3200400"/>
            <a:ext cx="5577840" cy="731520"/>
          </a:xfrm>
          <a:prstGeom prst="rect">
            <a:avLst/>
          </a:prstGeom>
          <a:noFill/>
        </p:spPr>
        <p:txBody>
          <a:bodyPr wrap="square">
            <a:spAutoFit/>
          </a:bodyPr>
          <a:lstStyle/>
          <a:p>
            <a:pPr algn="l"/>
            <a:r>
              <a:rPr sz="1200" b="0">
                <a:solidFill>
                  <a:srgbClr val="333333"/>
                </a:solidFill>
              </a:rPr>
              <a:t>高いデザイン性で宿泊単価を向上。
複数台導入によるヴィレッジ展開にも最適。</a:t>
            </a:r>
          </a:p>
        </p:txBody>
      </p:sp>
      <p:sp>
        <p:nvSpPr>
          <p:cNvPr id="8" name="Rectangle 7"/>
          <p:cNvSpPr/>
          <p:nvPr/>
        </p:nvSpPr>
        <p:spPr>
          <a:xfrm>
            <a:off x="6309360" y="1097280"/>
            <a:ext cx="5577840" cy="1645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783080"/>
            <a:ext cx="1828800" cy="365760"/>
          </a:xfrm>
          <a:prstGeom prst="rect">
            <a:avLst/>
          </a:prstGeom>
          <a:noFill/>
        </p:spPr>
        <p:txBody>
          <a:bodyPr wrap="square">
            <a:spAutoFit/>
          </a:bodyPr>
          <a:lstStyle/>
          <a:p>
            <a:pPr algn="ctr"/>
            <a:r>
              <a:rPr sz="1000" b="0">
                <a:solidFill>
                  <a:srgbClr val="999999"/>
                </a:solidFill>
              </a:rPr>
              <a:t>［写真エリア］</a:t>
            </a:r>
          </a:p>
        </p:txBody>
      </p:sp>
      <p:sp>
        <p:nvSpPr>
          <p:cNvPr id="10" name="TextBox 9"/>
          <p:cNvSpPr txBox="1"/>
          <p:nvPr/>
        </p:nvSpPr>
        <p:spPr>
          <a:xfrm>
            <a:off x="6309360" y="2788920"/>
            <a:ext cx="5577840" cy="365760"/>
          </a:xfrm>
          <a:prstGeom prst="rect">
            <a:avLst/>
          </a:prstGeom>
          <a:noFill/>
        </p:spPr>
        <p:txBody>
          <a:bodyPr wrap="square">
            <a:spAutoFit/>
          </a:bodyPr>
          <a:lstStyle/>
          <a:p>
            <a:pPr algn="l"/>
            <a:r>
              <a:rPr sz="1400" b="1">
                <a:solidFill>
                  <a:srgbClr val="000000"/>
                </a:solidFill>
              </a:rPr>
              <a:t>店舗・カフェ</a:t>
            </a:r>
          </a:p>
        </p:txBody>
      </p:sp>
      <p:sp>
        <p:nvSpPr>
          <p:cNvPr id="11" name="TextBox 10"/>
          <p:cNvSpPr txBox="1"/>
          <p:nvPr/>
        </p:nvSpPr>
        <p:spPr>
          <a:xfrm>
            <a:off x="6309360" y="3200400"/>
            <a:ext cx="5577840" cy="731520"/>
          </a:xfrm>
          <a:prstGeom prst="rect">
            <a:avLst/>
          </a:prstGeom>
          <a:noFill/>
        </p:spPr>
        <p:txBody>
          <a:bodyPr wrap="square">
            <a:spAutoFit/>
          </a:bodyPr>
          <a:lstStyle/>
          <a:p>
            <a:pPr algn="l"/>
            <a:r>
              <a:rPr sz="1200" b="0">
                <a:solidFill>
                  <a:srgbClr val="333333"/>
                </a:solidFill>
              </a:rPr>
              <a:t>洗練された外観で集客力を強化。
スモールスタートでの新規事業に。</a:t>
            </a:r>
          </a:p>
        </p:txBody>
      </p:sp>
      <p:sp>
        <p:nvSpPr>
          <p:cNvPr id="12" name="Rectangle 11"/>
          <p:cNvSpPr/>
          <p:nvPr/>
        </p:nvSpPr>
        <p:spPr>
          <a:xfrm>
            <a:off x="365760" y="3840480"/>
            <a:ext cx="5577840" cy="1645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79" y="4526280"/>
            <a:ext cx="1828800" cy="365760"/>
          </a:xfrm>
          <a:prstGeom prst="rect">
            <a:avLst/>
          </a:prstGeom>
          <a:noFill/>
        </p:spPr>
        <p:txBody>
          <a:bodyPr wrap="square">
            <a:spAutoFit/>
          </a:bodyPr>
          <a:lstStyle/>
          <a:p>
            <a:pPr algn="ctr"/>
            <a:r>
              <a:rPr sz="1000" b="0">
                <a:solidFill>
                  <a:srgbClr val="999999"/>
                </a:solidFill>
              </a:rPr>
              <a:t>［写真エリア］</a:t>
            </a:r>
          </a:p>
        </p:txBody>
      </p:sp>
      <p:sp>
        <p:nvSpPr>
          <p:cNvPr id="14" name="TextBox 13"/>
          <p:cNvSpPr txBox="1"/>
          <p:nvPr/>
        </p:nvSpPr>
        <p:spPr>
          <a:xfrm>
            <a:off x="365760" y="5532120"/>
            <a:ext cx="5577840" cy="365760"/>
          </a:xfrm>
          <a:prstGeom prst="rect">
            <a:avLst/>
          </a:prstGeom>
          <a:noFill/>
        </p:spPr>
        <p:txBody>
          <a:bodyPr wrap="square">
            <a:spAutoFit/>
          </a:bodyPr>
          <a:lstStyle/>
          <a:p>
            <a:pPr algn="l"/>
            <a:r>
              <a:rPr sz="1400" b="1">
                <a:solidFill>
                  <a:srgbClr val="000000"/>
                </a:solidFill>
              </a:rPr>
              <a:t>オフィス・事務所</a:t>
            </a:r>
          </a:p>
        </p:txBody>
      </p:sp>
      <p:sp>
        <p:nvSpPr>
          <p:cNvPr id="15" name="TextBox 14"/>
          <p:cNvSpPr txBox="1"/>
          <p:nvPr/>
        </p:nvSpPr>
        <p:spPr>
          <a:xfrm>
            <a:off x="365760" y="5943600"/>
            <a:ext cx="5577840" cy="731520"/>
          </a:xfrm>
          <a:prstGeom prst="rect">
            <a:avLst/>
          </a:prstGeom>
          <a:noFill/>
        </p:spPr>
        <p:txBody>
          <a:bodyPr wrap="square">
            <a:spAutoFit/>
          </a:bodyPr>
          <a:lstStyle/>
          <a:p>
            <a:pPr algn="l"/>
            <a:r>
              <a:rPr sz="1200" b="0">
                <a:solidFill>
                  <a:srgbClr val="333333"/>
                </a:solidFill>
              </a:rPr>
              <a:t>節税対策や、自然の中での
サテライトオフィス構築に。</a:t>
            </a:r>
          </a:p>
        </p:txBody>
      </p:sp>
      <p:sp>
        <p:nvSpPr>
          <p:cNvPr id="16" name="Rectangle 15"/>
          <p:cNvSpPr/>
          <p:nvPr/>
        </p:nvSpPr>
        <p:spPr>
          <a:xfrm>
            <a:off x="6309360" y="3840480"/>
            <a:ext cx="5577840" cy="1645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4526280"/>
            <a:ext cx="1828800" cy="365760"/>
          </a:xfrm>
          <a:prstGeom prst="rect">
            <a:avLst/>
          </a:prstGeom>
          <a:noFill/>
        </p:spPr>
        <p:txBody>
          <a:bodyPr wrap="square">
            <a:spAutoFit/>
          </a:bodyPr>
          <a:lstStyle/>
          <a:p>
            <a:pPr algn="ctr"/>
            <a:r>
              <a:rPr sz="1000" b="0">
                <a:solidFill>
                  <a:srgbClr val="999999"/>
                </a:solidFill>
              </a:rPr>
              <a:t>［写真エリア］</a:t>
            </a:r>
          </a:p>
        </p:txBody>
      </p:sp>
      <p:sp>
        <p:nvSpPr>
          <p:cNvPr id="18" name="TextBox 17"/>
          <p:cNvSpPr txBox="1"/>
          <p:nvPr/>
        </p:nvSpPr>
        <p:spPr>
          <a:xfrm>
            <a:off x="6309360" y="5532120"/>
            <a:ext cx="5577840" cy="365760"/>
          </a:xfrm>
          <a:prstGeom prst="rect">
            <a:avLst/>
          </a:prstGeom>
          <a:noFill/>
        </p:spPr>
        <p:txBody>
          <a:bodyPr wrap="square">
            <a:spAutoFit/>
          </a:bodyPr>
          <a:lstStyle/>
          <a:p>
            <a:pPr algn="l"/>
            <a:r>
              <a:rPr sz="1400" b="1">
                <a:solidFill>
                  <a:srgbClr val="000000"/>
                </a:solidFill>
              </a:rPr>
              <a:t>住まい・セカンドハウス</a:t>
            </a:r>
          </a:p>
        </p:txBody>
      </p:sp>
      <p:sp>
        <p:nvSpPr>
          <p:cNvPr id="19" name="TextBox 18"/>
          <p:cNvSpPr txBox="1"/>
          <p:nvPr/>
        </p:nvSpPr>
        <p:spPr>
          <a:xfrm>
            <a:off x="6309360" y="5943600"/>
            <a:ext cx="5577840" cy="731520"/>
          </a:xfrm>
          <a:prstGeom prst="rect">
            <a:avLst/>
          </a:prstGeom>
          <a:noFill/>
        </p:spPr>
        <p:txBody>
          <a:bodyPr wrap="square">
            <a:spAutoFit/>
          </a:bodyPr>
          <a:lstStyle/>
          <a:p>
            <a:pPr algn="l"/>
            <a:r>
              <a:rPr sz="1200" b="0">
                <a:solidFill>
                  <a:srgbClr val="333333"/>
                </a:solidFill>
              </a:rPr>
              <a:t>趣味の空間や、
二拠点居住のベースキャンプとして。</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YADOKARIの強み</a:t>
            </a:r>
          </a:p>
        </p:txBody>
      </p:sp>
      <p:cxnSp>
        <p:nvCxnSpPr>
          <p:cNvPr id="3" name="Connector 2"/>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828800"/>
            <a:ext cx="3657600" cy="822960"/>
          </a:xfrm>
          <a:prstGeom prst="rect">
            <a:avLst/>
          </a:prstGeom>
          <a:noFill/>
        </p:spPr>
        <p:txBody>
          <a:bodyPr wrap="square">
            <a:spAutoFit/>
          </a:bodyPr>
          <a:lstStyle/>
          <a:p>
            <a:pPr algn="ctr"/>
            <a:r>
              <a:rPr sz="2000" b="1">
                <a:solidFill>
                  <a:srgbClr val="000000"/>
                </a:solidFill>
              </a:rPr>
              <a:t>洗練された
デザイン</a:t>
            </a:r>
          </a:p>
        </p:txBody>
      </p:sp>
      <p:sp>
        <p:nvSpPr>
          <p:cNvPr id="5" name="TextBox 4"/>
          <p:cNvSpPr txBox="1"/>
          <p:nvPr/>
        </p:nvSpPr>
        <p:spPr>
          <a:xfrm>
            <a:off x="457200" y="2926080"/>
            <a:ext cx="3657600" cy="2286000"/>
          </a:xfrm>
          <a:prstGeom prst="rect">
            <a:avLst/>
          </a:prstGeom>
          <a:noFill/>
        </p:spPr>
        <p:txBody>
          <a:bodyPr wrap="square">
            <a:spAutoFit/>
          </a:bodyPr>
          <a:lstStyle/>
          <a:p>
            <a:pPr algn="ctr"/>
            <a:r>
              <a:rPr sz="1300" b="0">
                <a:solidFill>
                  <a:srgbClr val="333333"/>
                </a:solidFill>
              </a:rPr>
              <a:t>空間の豊かさを追求した高いデザイン性。
用途に合わせたセミオーダー提案が可能。</a:t>
            </a:r>
          </a:p>
        </p:txBody>
      </p:sp>
      <p:cxnSp>
        <p:nvCxnSpPr>
          <p:cNvPr id="6" name="Connector 5"/>
          <p:cNvCxnSpPr/>
          <p:nvPr/>
        </p:nvCxnSpPr>
        <p:spPr>
          <a:xfrm>
            <a:off x="4251959" y="1097280"/>
            <a:ext cx="0" cy="48463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389120" y="1828800"/>
            <a:ext cx="3657600" cy="822960"/>
          </a:xfrm>
          <a:prstGeom prst="rect">
            <a:avLst/>
          </a:prstGeom>
          <a:noFill/>
        </p:spPr>
        <p:txBody>
          <a:bodyPr wrap="square">
            <a:spAutoFit/>
          </a:bodyPr>
          <a:lstStyle/>
          <a:p>
            <a:pPr algn="ctr"/>
            <a:r>
              <a:rPr sz="2000" b="1">
                <a:solidFill>
                  <a:srgbClr val="000000"/>
                </a:solidFill>
              </a:rPr>
              <a:t>圧倒的な
コストパフォーマンス</a:t>
            </a:r>
          </a:p>
        </p:txBody>
      </p:sp>
      <p:sp>
        <p:nvSpPr>
          <p:cNvPr id="8" name="TextBox 7"/>
          <p:cNvSpPr txBox="1"/>
          <p:nvPr/>
        </p:nvSpPr>
        <p:spPr>
          <a:xfrm>
            <a:off x="4389120" y="2926080"/>
            <a:ext cx="3657600" cy="2286000"/>
          </a:xfrm>
          <a:prstGeom prst="rect">
            <a:avLst/>
          </a:prstGeom>
          <a:noFill/>
        </p:spPr>
        <p:txBody>
          <a:bodyPr wrap="square">
            <a:spAutoFit/>
          </a:bodyPr>
          <a:lstStyle/>
          <a:p>
            <a:pPr algn="ctr"/>
            <a:r>
              <a:rPr sz="1300" b="0">
                <a:solidFill>
                  <a:srgbClr val="333333"/>
                </a:solidFill>
              </a:rPr>
              <a:t>無駄を省いた設計と標準化による、
初期投資の最小化と高いROIの実現。</a:t>
            </a:r>
          </a:p>
        </p:txBody>
      </p:sp>
      <p:cxnSp>
        <p:nvCxnSpPr>
          <p:cNvPr id="9" name="Connector 8"/>
          <p:cNvCxnSpPr/>
          <p:nvPr/>
        </p:nvCxnSpPr>
        <p:spPr>
          <a:xfrm>
            <a:off x="8183879" y="1097280"/>
            <a:ext cx="0" cy="48463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21040" y="1828800"/>
            <a:ext cx="3657600" cy="822960"/>
          </a:xfrm>
          <a:prstGeom prst="rect">
            <a:avLst/>
          </a:prstGeom>
          <a:noFill/>
        </p:spPr>
        <p:txBody>
          <a:bodyPr wrap="square">
            <a:spAutoFit/>
          </a:bodyPr>
          <a:lstStyle/>
          <a:p>
            <a:pPr algn="ctr"/>
            <a:r>
              <a:rPr sz="2000" b="1">
                <a:solidFill>
                  <a:srgbClr val="000000"/>
                </a:solidFill>
              </a:rPr>
              <a:t>一気通貫の
エコシステム</a:t>
            </a:r>
          </a:p>
        </p:txBody>
      </p:sp>
      <p:sp>
        <p:nvSpPr>
          <p:cNvPr id="11" name="TextBox 10"/>
          <p:cNvSpPr txBox="1"/>
          <p:nvPr/>
        </p:nvSpPr>
        <p:spPr>
          <a:xfrm>
            <a:off x="8321040" y="2926080"/>
            <a:ext cx="3657600" cy="2286000"/>
          </a:xfrm>
          <a:prstGeom prst="rect">
            <a:avLst/>
          </a:prstGeom>
          <a:noFill/>
        </p:spPr>
        <p:txBody>
          <a:bodyPr wrap="square">
            <a:spAutoFit/>
          </a:bodyPr>
          <a:lstStyle/>
          <a:p>
            <a:pPr algn="ctr"/>
            <a:r>
              <a:rPr sz="1300" b="0">
                <a:solidFill>
                  <a:srgbClr val="333333"/>
                </a:solidFill>
              </a:rPr>
              <a:t>企画・設計から納品、さらには業界初の
中古売買プラットフォーム（二次流通）
まで完全サポート。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導入事例</a:t>
            </a:r>
          </a:p>
        </p:txBody>
      </p:sp>
      <p:sp>
        <p:nvSpPr>
          <p:cNvPr id="3" name="TextBox 2"/>
          <p:cNvSpPr txBox="1"/>
          <p:nvPr/>
        </p:nvSpPr>
        <p:spPr>
          <a:xfrm>
            <a:off x="457200" y="914400"/>
            <a:ext cx="7315200" cy="365760"/>
          </a:xfrm>
          <a:prstGeom prst="rect">
            <a:avLst/>
          </a:prstGeom>
          <a:noFill/>
        </p:spPr>
        <p:txBody>
          <a:bodyPr wrap="square">
            <a:spAutoFit/>
          </a:bodyPr>
          <a:lstStyle/>
          <a:p>
            <a:pPr algn="l"/>
            <a:r>
              <a:rPr sz="1400" b="0">
                <a:solidFill>
                  <a:srgbClr val="999999"/>
                </a:solidFill>
              </a:rPr>
              <a:t>実際の活用シーンと成果</a:t>
            </a:r>
          </a:p>
        </p:txBody>
      </p:sp>
      <p:cxnSp>
        <p:nvCxnSpPr>
          <p:cNvPr id="4" name="Connector 3"/>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188720"/>
            <a:ext cx="5577840" cy="53949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5577840" cy="13716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34440"/>
            <a:ext cx="5303520" cy="411480"/>
          </a:xfrm>
          <a:prstGeom prst="rect">
            <a:avLst/>
          </a:prstGeom>
          <a:noFill/>
        </p:spPr>
        <p:txBody>
          <a:bodyPr wrap="square">
            <a:spAutoFit/>
          </a:bodyPr>
          <a:lstStyle/>
          <a:p>
            <a:pPr algn="l"/>
            <a:r>
              <a:rPr sz="1300" b="1">
                <a:solidFill>
                  <a:srgbClr val="FFFFFF"/>
                </a:solidFill>
              </a:rPr>
              <a:t>事例① グランピング施設（地方リゾート）</a:t>
            </a:r>
          </a:p>
        </p:txBody>
      </p:sp>
      <p:sp>
        <p:nvSpPr>
          <p:cNvPr id="8" name="TextBox 7"/>
          <p:cNvSpPr txBox="1"/>
          <p:nvPr/>
        </p:nvSpPr>
        <p:spPr>
          <a:xfrm>
            <a:off x="594360" y="1645920"/>
            <a:ext cx="5303520" cy="320040"/>
          </a:xfrm>
          <a:prstGeom prst="rect">
            <a:avLst/>
          </a:prstGeom>
          <a:noFill/>
        </p:spPr>
        <p:txBody>
          <a:bodyPr wrap="square">
            <a:spAutoFit/>
          </a:bodyPr>
          <a:lstStyle/>
          <a:p>
            <a:pPr algn="l"/>
            <a:r>
              <a:rPr sz="1200" b="0">
                <a:solidFill>
                  <a:srgbClr val="DDDDDD"/>
                </a:solidFill>
              </a:rPr>
              <a:t>ROADIE × 5台</a:t>
            </a:r>
          </a:p>
        </p:txBody>
      </p:sp>
      <p:sp>
        <p:nvSpPr>
          <p:cNvPr id="9" name="TextBox 8"/>
          <p:cNvSpPr txBox="1"/>
          <p:nvPr/>
        </p:nvSpPr>
        <p:spPr>
          <a:xfrm>
            <a:off x="594360" y="2651760"/>
            <a:ext cx="5303520" cy="320040"/>
          </a:xfrm>
          <a:prstGeom prst="rect">
            <a:avLst/>
          </a:prstGeom>
          <a:noFill/>
        </p:spPr>
        <p:txBody>
          <a:bodyPr wrap="square">
            <a:spAutoFit/>
          </a:bodyPr>
          <a:lstStyle/>
          <a:p>
            <a:pPr algn="l"/>
            <a:r>
              <a:rPr sz="1200" b="1">
                <a:solidFill>
                  <a:srgbClr val="333333"/>
                </a:solidFill>
              </a:rPr>
              <a:t>課題：短期間で宿泊棟を増やしたかった</a:t>
            </a:r>
          </a:p>
        </p:txBody>
      </p:sp>
      <p:sp>
        <p:nvSpPr>
          <p:cNvPr id="10" name="TextBox 9"/>
          <p:cNvSpPr txBox="1"/>
          <p:nvPr/>
        </p:nvSpPr>
        <p:spPr>
          <a:xfrm>
            <a:off x="594360" y="3063240"/>
            <a:ext cx="5303520" cy="1371600"/>
          </a:xfrm>
          <a:prstGeom prst="rect">
            <a:avLst/>
          </a:prstGeom>
          <a:noFill/>
        </p:spPr>
        <p:txBody>
          <a:bodyPr wrap="square">
            <a:spAutoFit/>
          </a:bodyPr>
          <a:lstStyle/>
          <a:p>
            <a:pPr algn="l">
              <a:spcBef>
                <a:spcPts val="200"/>
              </a:spcBef>
            </a:pPr>
            <a:r>
              <a:rPr sz="1200" b="0">
                <a:solidFill>
                  <a:srgbClr val="333333"/>
                </a:solidFill>
              </a:rPr>
              <a:t>✓ 工期4ヶ月で5棟完成（従来比1/3の期間）</a:t>
            </a:r>
          </a:p>
          <a:p>
            <a:pPr algn="l">
              <a:spcBef>
                <a:spcPts val="200"/>
              </a:spcBef>
            </a:pPr>
            <a:r>
              <a:rPr sz="1200" b="0">
                <a:solidFill>
                  <a:srgbClr val="333333"/>
                </a:solidFill>
              </a:rPr>
              <a:t>✓ 導入後6ヶ月で稼働率80%達成</a:t>
            </a:r>
          </a:p>
          <a:p>
            <a:pPr algn="l">
              <a:spcBef>
                <a:spcPts val="200"/>
              </a:spcBef>
            </a:pPr>
            <a:r>
              <a:rPr sz="1200" b="0">
                <a:solidFill>
                  <a:srgbClr val="333333"/>
                </a:solidFill>
              </a:rPr>
              <a:t>✓ 宿泊単価を従来の1.5倍に設定</a:t>
            </a:r>
          </a:p>
        </p:txBody>
      </p:sp>
      <p:cxnSp>
        <p:nvCxnSpPr>
          <p:cNvPr id="11" name="Connector 10"/>
          <p:cNvCxnSpPr/>
          <p:nvPr/>
        </p:nvCxnSpPr>
        <p:spPr>
          <a:xfrm>
            <a:off x="548640" y="4617720"/>
            <a:ext cx="53035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4709160"/>
            <a:ext cx="5303520" cy="1737360"/>
          </a:xfrm>
          <a:prstGeom prst="rect">
            <a:avLst/>
          </a:prstGeom>
          <a:noFill/>
        </p:spPr>
        <p:txBody>
          <a:bodyPr wrap="square">
            <a:spAutoFit/>
          </a:bodyPr>
          <a:lstStyle/>
          <a:p>
            <a:pPr algn="l"/>
            <a:r>
              <a:rPr sz="1100" b="0">
                <a:solidFill>
                  <a:srgbClr val="333333"/>
                </a:solidFill>
              </a:rPr>
              <a:t>「建築物では実現できなかったスピードと
デザイン性を両立できました。」
── ○○施設 オーナー様</a:t>
            </a:r>
          </a:p>
        </p:txBody>
      </p:sp>
      <p:sp>
        <p:nvSpPr>
          <p:cNvPr id="13" name="Rectangle 12"/>
          <p:cNvSpPr/>
          <p:nvPr/>
        </p:nvSpPr>
        <p:spPr>
          <a:xfrm>
            <a:off x="6309360" y="1188720"/>
            <a:ext cx="5577840" cy="53949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188720"/>
            <a:ext cx="5577840" cy="13716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234440"/>
            <a:ext cx="5303520" cy="411480"/>
          </a:xfrm>
          <a:prstGeom prst="rect">
            <a:avLst/>
          </a:prstGeom>
          <a:noFill/>
        </p:spPr>
        <p:txBody>
          <a:bodyPr wrap="square">
            <a:spAutoFit/>
          </a:bodyPr>
          <a:lstStyle/>
          <a:p>
            <a:pPr algn="l"/>
            <a:r>
              <a:rPr sz="1300" b="1">
                <a:solidFill>
                  <a:srgbClr val="FFFFFF"/>
                </a:solidFill>
              </a:rPr>
              <a:t>事例② サテライトオフィス（首都圏近郊）</a:t>
            </a:r>
          </a:p>
        </p:txBody>
      </p:sp>
      <p:sp>
        <p:nvSpPr>
          <p:cNvPr id="16" name="TextBox 15"/>
          <p:cNvSpPr txBox="1"/>
          <p:nvPr/>
        </p:nvSpPr>
        <p:spPr>
          <a:xfrm>
            <a:off x="6446520" y="1645920"/>
            <a:ext cx="5303520" cy="320040"/>
          </a:xfrm>
          <a:prstGeom prst="rect">
            <a:avLst/>
          </a:prstGeom>
          <a:noFill/>
        </p:spPr>
        <p:txBody>
          <a:bodyPr wrap="square">
            <a:spAutoFit/>
          </a:bodyPr>
          <a:lstStyle/>
          <a:p>
            <a:pPr algn="l"/>
            <a:r>
              <a:rPr sz="1200" b="0">
                <a:solidFill>
                  <a:srgbClr val="DDDDDD"/>
                </a:solidFill>
              </a:rPr>
              <a:t>Tinys INSPIRATION 9m × 2台</a:t>
            </a:r>
          </a:p>
        </p:txBody>
      </p:sp>
      <p:sp>
        <p:nvSpPr>
          <p:cNvPr id="17" name="TextBox 16"/>
          <p:cNvSpPr txBox="1"/>
          <p:nvPr/>
        </p:nvSpPr>
        <p:spPr>
          <a:xfrm>
            <a:off x="6446520" y="2651760"/>
            <a:ext cx="5303520" cy="320040"/>
          </a:xfrm>
          <a:prstGeom prst="rect">
            <a:avLst/>
          </a:prstGeom>
          <a:noFill/>
        </p:spPr>
        <p:txBody>
          <a:bodyPr wrap="square">
            <a:spAutoFit/>
          </a:bodyPr>
          <a:lstStyle/>
          <a:p>
            <a:pPr algn="l"/>
            <a:r>
              <a:rPr sz="1200" b="1">
                <a:solidFill>
                  <a:srgbClr val="333333"/>
                </a:solidFill>
              </a:rPr>
              <a:t>課題：テレワーク対応の執務スペースが必要</a:t>
            </a:r>
          </a:p>
        </p:txBody>
      </p:sp>
      <p:sp>
        <p:nvSpPr>
          <p:cNvPr id="18" name="TextBox 17"/>
          <p:cNvSpPr txBox="1"/>
          <p:nvPr/>
        </p:nvSpPr>
        <p:spPr>
          <a:xfrm>
            <a:off x="6446520" y="3063240"/>
            <a:ext cx="5303520" cy="1371600"/>
          </a:xfrm>
          <a:prstGeom prst="rect">
            <a:avLst/>
          </a:prstGeom>
          <a:noFill/>
        </p:spPr>
        <p:txBody>
          <a:bodyPr wrap="square">
            <a:spAutoFit/>
          </a:bodyPr>
          <a:lstStyle/>
          <a:p>
            <a:pPr algn="l">
              <a:spcBef>
                <a:spcPts val="200"/>
              </a:spcBef>
            </a:pPr>
            <a:r>
              <a:rPr sz="1200" b="0">
                <a:solidFill>
                  <a:srgbClr val="333333"/>
                </a:solidFill>
              </a:rPr>
              <a:t>✓ 敷地内に2ヶ月で設置完了</a:t>
            </a:r>
          </a:p>
          <a:p>
            <a:pPr algn="l">
              <a:spcBef>
                <a:spcPts val="200"/>
              </a:spcBef>
            </a:pPr>
            <a:r>
              <a:rPr sz="1200" b="0">
                <a:solidFill>
                  <a:srgbClr val="333333"/>
                </a:solidFill>
              </a:rPr>
              <a:t>✓ 固定資産税の節税効果あり</a:t>
            </a:r>
          </a:p>
          <a:p>
            <a:pPr algn="l">
              <a:spcBef>
                <a:spcPts val="200"/>
              </a:spcBef>
            </a:pPr>
            <a:r>
              <a:rPr sz="1200" b="0">
                <a:solidFill>
                  <a:srgbClr val="333333"/>
                </a:solidFill>
              </a:rPr>
              <a:t>✓ 社員満足度が向上、採用PRにも活用</a:t>
            </a:r>
          </a:p>
        </p:txBody>
      </p:sp>
      <p:cxnSp>
        <p:nvCxnSpPr>
          <p:cNvPr id="19" name="Connector 18"/>
          <p:cNvCxnSpPr/>
          <p:nvPr/>
        </p:nvCxnSpPr>
        <p:spPr>
          <a:xfrm>
            <a:off x="6400800" y="4617720"/>
            <a:ext cx="53035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46520" y="4709160"/>
            <a:ext cx="5303520" cy="1737360"/>
          </a:xfrm>
          <a:prstGeom prst="rect">
            <a:avLst/>
          </a:prstGeom>
          <a:noFill/>
        </p:spPr>
        <p:txBody>
          <a:bodyPr wrap="square">
            <a:spAutoFit/>
          </a:bodyPr>
          <a:lstStyle/>
          <a:p>
            <a:pPr algn="l"/>
            <a:r>
              <a:rPr sz="1100" b="0">
                <a:solidFill>
                  <a:srgbClr val="333333"/>
                </a:solidFill>
              </a:rPr>
              <a:t>「こんなに早く、コストを抑えて
快適な空間が手に入るとは思いませんでした。」
── ○○株式会社 担当者様</a:t>
            </a:r>
          </a:p>
        </p:txBody>
      </p:sp>
      <p:sp>
        <p:nvSpPr>
          <p:cNvPr id="21" name="TextBox 20"/>
          <p:cNvSpPr txBox="1"/>
          <p:nvPr/>
        </p:nvSpPr>
        <p:spPr>
          <a:xfrm>
            <a:off x="457200" y="6583680"/>
            <a:ext cx="11247120" cy="274320"/>
          </a:xfrm>
          <a:prstGeom prst="rect">
            <a:avLst/>
          </a:prstGeom>
          <a:noFill/>
        </p:spPr>
        <p:txBody>
          <a:bodyPr wrap="square">
            <a:spAutoFit/>
          </a:bodyPr>
          <a:lstStyle/>
          <a:p>
            <a:pPr algn="l"/>
            <a:r>
              <a:rPr sz="1000" b="0">
                <a:solidFill>
                  <a:srgbClr val="999999"/>
                </a:solidFill>
              </a:rPr>
              <a:t>※事例写真・詳細データは別途ご用意できます。実績数値はすべてモデルケースです。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プロダクトラインナップ</a:t>
            </a:r>
          </a:p>
        </p:txBody>
      </p:sp>
      <p:cxnSp>
        <p:nvCxnSpPr>
          <p:cNvPr id="3" name="Connector 2"/>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57200" y="1188720"/>
            <a:ext cx="3657600" cy="2286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148840"/>
            <a:ext cx="1828800" cy="365760"/>
          </a:xfrm>
          <a:prstGeom prst="rect">
            <a:avLst/>
          </a:prstGeom>
          <a:noFill/>
        </p:spPr>
        <p:txBody>
          <a:bodyPr wrap="square">
            <a:spAutoFit/>
          </a:bodyPr>
          <a:lstStyle/>
          <a:p>
            <a:pPr algn="ctr"/>
            <a:r>
              <a:rPr sz="1000" b="0">
                <a:solidFill>
                  <a:srgbClr val="999999"/>
                </a:solidFill>
              </a:rPr>
              <a:t>［製品写真エリア］</a:t>
            </a:r>
          </a:p>
        </p:txBody>
      </p:sp>
      <p:sp>
        <p:nvSpPr>
          <p:cNvPr id="6" name="TextBox 5"/>
          <p:cNvSpPr txBox="1"/>
          <p:nvPr/>
        </p:nvSpPr>
        <p:spPr>
          <a:xfrm>
            <a:off x="457200" y="3611880"/>
            <a:ext cx="3657600" cy="457200"/>
          </a:xfrm>
          <a:prstGeom prst="rect">
            <a:avLst/>
          </a:prstGeom>
          <a:noFill/>
        </p:spPr>
        <p:txBody>
          <a:bodyPr wrap="square">
            <a:spAutoFit/>
          </a:bodyPr>
          <a:lstStyle/>
          <a:p>
            <a:pPr algn="l"/>
            <a:r>
              <a:rPr sz="1600" b="1">
                <a:solidFill>
                  <a:srgbClr val="000000"/>
                </a:solidFill>
              </a:rPr>
              <a:t>Tinys INSPIRATION</a:t>
            </a:r>
          </a:p>
        </p:txBody>
      </p:sp>
      <p:sp>
        <p:nvSpPr>
          <p:cNvPr id="7" name="TextBox 6"/>
          <p:cNvSpPr txBox="1"/>
          <p:nvPr/>
        </p:nvSpPr>
        <p:spPr>
          <a:xfrm>
            <a:off x="457200" y="4160520"/>
            <a:ext cx="3657600" cy="1097280"/>
          </a:xfrm>
          <a:prstGeom prst="rect">
            <a:avLst/>
          </a:prstGeom>
          <a:noFill/>
        </p:spPr>
        <p:txBody>
          <a:bodyPr wrap="square">
            <a:spAutoFit/>
          </a:bodyPr>
          <a:lstStyle/>
          <a:p>
            <a:pPr algn="l"/>
            <a:r>
              <a:rPr sz="1200" b="0">
                <a:solidFill>
                  <a:srgbClr val="333333"/>
                </a:solidFill>
              </a:rPr>
              <a:t>低価格・高品質・様々なバリエーションを
取り揃えたベーシックシリーズ。</a:t>
            </a:r>
          </a:p>
        </p:txBody>
      </p:sp>
      <p:sp>
        <p:nvSpPr>
          <p:cNvPr id="8" name="TextBox 7"/>
          <p:cNvSpPr txBox="1"/>
          <p:nvPr/>
        </p:nvSpPr>
        <p:spPr>
          <a:xfrm>
            <a:off x="457200" y="5394960"/>
            <a:ext cx="3657600" cy="457200"/>
          </a:xfrm>
          <a:prstGeom prst="rect">
            <a:avLst/>
          </a:prstGeom>
          <a:noFill/>
        </p:spPr>
        <p:txBody>
          <a:bodyPr wrap="square">
            <a:spAutoFit/>
          </a:bodyPr>
          <a:lstStyle/>
          <a:p>
            <a:pPr algn="l"/>
            <a:r>
              <a:rPr sz="1500" b="1">
                <a:solidFill>
                  <a:srgbClr val="1A1A1A"/>
                </a:solidFill>
              </a:rPr>
              <a:t>¥7,490,000〜</a:t>
            </a:r>
          </a:p>
        </p:txBody>
      </p:sp>
      <p:cxnSp>
        <p:nvCxnSpPr>
          <p:cNvPr id="9" name="Connector 8"/>
          <p:cNvCxnSpPr/>
          <p:nvPr/>
        </p:nvCxnSpPr>
        <p:spPr>
          <a:xfrm>
            <a:off x="4251959" y="1097280"/>
            <a:ext cx="0" cy="53035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389120" y="1188720"/>
            <a:ext cx="3657600" cy="2286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2148840"/>
            <a:ext cx="1828800" cy="365760"/>
          </a:xfrm>
          <a:prstGeom prst="rect">
            <a:avLst/>
          </a:prstGeom>
          <a:noFill/>
        </p:spPr>
        <p:txBody>
          <a:bodyPr wrap="square">
            <a:spAutoFit/>
          </a:bodyPr>
          <a:lstStyle/>
          <a:p>
            <a:pPr algn="ctr"/>
            <a:r>
              <a:rPr sz="1000" b="0">
                <a:solidFill>
                  <a:srgbClr val="999999"/>
                </a:solidFill>
              </a:rPr>
              <a:t>［製品写真エリア］</a:t>
            </a:r>
          </a:p>
        </p:txBody>
      </p:sp>
      <p:sp>
        <p:nvSpPr>
          <p:cNvPr id="12" name="TextBox 11"/>
          <p:cNvSpPr txBox="1"/>
          <p:nvPr/>
        </p:nvSpPr>
        <p:spPr>
          <a:xfrm>
            <a:off x="4389120" y="3611880"/>
            <a:ext cx="3657600" cy="457200"/>
          </a:xfrm>
          <a:prstGeom prst="rect">
            <a:avLst/>
          </a:prstGeom>
          <a:noFill/>
        </p:spPr>
        <p:txBody>
          <a:bodyPr wrap="square">
            <a:spAutoFit/>
          </a:bodyPr>
          <a:lstStyle/>
          <a:p>
            <a:pPr algn="l"/>
            <a:r>
              <a:rPr sz="1600" b="1">
                <a:solidFill>
                  <a:srgbClr val="000000"/>
                </a:solidFill>
              </a:rPr>
              <a:t>ROADIE</a:t>
            </a:r>
          </a:p>
        </p:txBody>
      </p:sp>
      <p:sp>
        <p:nvSpPr>
          <p:cNvPr id="13" name="TextBox 12"/>
          <p:cNvSpPr txBox="1"/>
          <p:nvPr/>
        </p:nvSpPr>
        <p:spPr>
          <a:xfrm>
            <a:off x="4389120" y="4160520"/>
            <a:ext cx="3657600" cy="1097280"/>
          </a:xfrm>
          <a:prstGeom prst="rect">
            <a:avLst/>
          </a:prstGeom>
          <a:noFill/>
        </p:spPr>
        <p:txBody>
          <a:bodyPr wrap="square">
            <a:spAutoFit/>
          </a:bodyPr>
          <a:lstStyle/>
          <a:p>
            <a:pPr algn="l"/>
            <a:r>
              <a:rPr sz="1200" b="0">
                <a:solidFill>
                  <a:srgbClr val="333333"/>
                </a:solidFill>
              </a:rPr>
              <a:t>周囲の自然とシームレスに繋がるデザインで、
自然の中の暮らしを実現するモデル。</a:t>
            </a:r>
          </a:p>
        </p:txBody>
      </p:sp>
      <p:sp>
        <p:nvSpPr>
          <p:cNvPr id="14" name="TextBox 13"/>
          <p:cNvSpPr txBox="1"/>
          <p:nvPr/>
        </p:nvSpPr>
        <p:spPr>
          <a:xfrm>
            <a:off x="4389120" y="5394960"/>
            <a:ext cx="3657600" cy="457200"/>
          </a:xfrm>
          <a:prstGeom prst="rect">
            <a:avLst/>
          </a:prstGeom>
          <a:noFill/>
        </p:spPr>
        <p:txBody>
          <a:bodyPr wrap="square">
            <a:spAutoFit/>
          </a:bodyPr>
          <a:lstStyle/>
          <a:p>
            <a:pPr algn="l"/>
            <a:r>
              <a:rPr sz="1500" b="1">
                <a:solidFill>
                  <a:srgbClr val="1A1A1A"/>
                </a:solidFill>
              </a:rPr>
              <a:t>¥10,250,000〜</a:t>
            </a:r>
          </a:p>
        </p:txBody>
      </p:sp>
      <p:cxnSp>
        <p:nvCxnSpPr>
          <p:cNvPr id="15" name="Connector 14"/>
          <p:cNvCxnSpPr/>
          <p:nvPr/>
        </p:nvCxnSpPr>
        <p:spPr>
          <a:xfrm>
            <a:off x="8183879" y="1097280"/>
            <a:ext cx="0" cy="53035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321040" y="1188720"/>
            <a:ext cx="3657600" cy="2286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2148840"/>
            <a:ext cx="1828800" cy="365760"/>
          </a:xfrm>
          <a:prstGeom prst="rect">
            <a:avLst/>
          </a:prstGeom>
          <a:noFill/>
        </p:spPr>
        <p:txBody>
          <a:bodyPr wrap="square">
            <a:spAutoFit/>
          </a:bodyPr>
          <a:lstStyle/>
          <a:p>
            <a:pPr algn="ctr"/>
            <a:r>
              <a:rPr sz="1000" b="0">
                <a:solidFill>
                  <a:srgbClr val="999999"/>
                </a:solidFill>
              </a:rPr>
              <a:t>［製品写真エリア］</a:t>
            </a:r>
          </a:p>
        </p:txBody>
      </p:sp>
      <p:sp>
        <p:nvSpPr>
          <p:cNvPr id="18" name="TextBox 17"/>
          <p:cNvSpPr txBox="1"/>
          <p:nvPr/>
        </p:nvSpPr>
        <p:spPr>
          <a:xfrm>
            <a:off x="8321040" y="3611880"/>
            <a:ext cx="3657600" cy="457200"/>
          </a:xfrm>
          <a:prstGeom prst="rect">
            <a:avLst/>
          </a:prstGeom>
          <a:noFill/>
        </p:spPr>
        <p:txBody>
          <a:bodyPr wrap="square">
            <a:spAutoFit/>
          </a:bodyPr>
          <a:lstStyle/>
          <a:p>
            <a:pPr algn="l"/>
            <a:r>
              <a:rPr sz="1600" b="1">
                <a:solidFill>
                  <a:srgbClr val="000000"/>
                </a:solidFill>
              </a:rPr>
              <a:t>MIGRA</a:t>
            </a:r>
          </a:p>
        </p:txBody>
      </p:sp>
      <p:sp>
        <p:nvSpPr>
          <p:cNvPr id="19" name="TextBox 18"/>
          <p:cNvSpPr txBox="1"/>
          <p:nvPr/>
        </p:nvSpPr>
        <p:spPr>
          <a:xfrm>
            <a:off x="8321040" y="4160520"/>
            <a:ext cx="3657600" cy="1097280"/>
          </a:xfrm>
          <a:prstGeom prst="rect">
            <a:avLst/>
          </a:prstGeom>
          <a:noFill/>
        </p:spPr>
        <p:txBody>
          <a:bodyPr wrap="square">
            <a:spAutoFit/>
          </a:bodyPr>
          <a:lstStyle/>
          <a:p>
            <a:pPr algn="l"/>
            <a:r>
              <a:rPr sz="1200" b="0">
                <a:solidFill>
                  <a:srgbClr val="333333"/>
                </a:solidFill>
              </a:rPr>
              <a:t>木質感と開放的なリビングの中で
上質な時間を過ごすためのプレミアム木造シリーズ。</a:t>
            </a:r>
          </a:p>
        </p:txBody>
      </p:sp>
      <p:sp>
        <p:nvSpPr>
          <p:cNvPr id="20" name="TextBox 19"/>
          <p:cNvSpPr txBox="1"/>
          <p:nvPr/>
        </p:nvSpPr>
        <p:spPr>
          <a:xfrm>
            <a:off x="8321040" y="5394960"/>
            <a:ext cx="3657600" cy="457200"/>
          </a:xfrm>
          <a:prstGeom prst="rect">
            <a:avLst/>
          </a:prstGeom>
          <a:noFill/>
        </p:spPr>
        <p:txBody>
          <a:bodyPr wrap="square">
            <a:spAutoFit/>
          </a:bodyPr>
          <a:lstStyle/>
          <a:p>
            <a:pPr algn="l"/>
            <a:r>
              <a:rPr sz="1500" b="1">
                <a:solidFill>
                  <a:srgbClr val="1A1A1A"/>
                </a:solidFill>
              </a:rPr>
              <a:t>¥9,950,000〜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669280" cy="68580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108960"/>
            <a:ext cx="2743200" cy="457200"/>
          </a:xfrm>
          <a:prstGeom prst="rect">
            <a:avLst/>
          </a:prstGeom>
          <a:noFill/>
        </p:spPr>
        <p:txBody>
          <a:bodyPr wrap="square">
            <a:spAutoFit/>
          </a:bodyPr>
          <a:lstStyle/>
          <a:p>
            <a:pPr algn="ctr"/>
            <a:r>
              <a:rPr sz="1100" b="0">
                <a:solidFill>
                  <a:srgbClr val="999999"/>
                </a:solidFill>
              </a:rPr>
              <a:t>［製品写真エリア］</a:t>
            </a:r>
          </a:p>
        </p:txBody>
      </p:sp>
      <p:sp>
        <p:nvSpPr>
          <p:cNvPr id="4" name="TextBox 3"/>
          <p:cNvSpPr txBox="1"/>
          <p:nvPr/>
        </p:nvSpPr>
        <p:spPr>
          <a:xfrm>
            <a:off x="5943600" y="457200"/>
            <a:ext cx="5943600" cy="640080"/>
          </a:xfrm>
          <a:prstGeom prst="rect">
            <a:avLst/>
          </a:prstGeom>
          <a:noFill/>
        </p:spPr>
        <p:txBody>
          <a:bodyPr wrap="square">
            <a:spAutoFit/>
          </a:bodyPr>
          <a:lstStyle/>
          <a:p>
            <a:pPr algn="l"/>
            <a:r>
              <a:rPr sz="3000" b="1">
                <a:solidFill>
                  <a:srgbClr val="000000"/>
                </a:solidFill>
              </a:rPr>
              <a:t>Tinys INSPIRATION</a:t>
            </a:r>
          </a:p>
        </p:txBody>
      </p:sp>
      <p:sp>
        <p:nvSpPr>
          <p:cNvPr id="5" name="TextBox 4"/>
          <p:cNvSpPr txBox="1"/>
          <p:nvPr/>
        </p:nvSpPr>
        <p:spPr>
          <a:xfrm>
            <a:off x="5943600" y="1143000"/>
            <a:ext cx="5943600" cy="365760"/>
          </a:xfrm>
          <a:prstGeom prst="rect">
            <a:avLst/>
          </a:prstGeom>
          <a:noFill/>
        </p:spPr>
        <p:txBody>
          <a:bodyPr wrap="square">
            <a:spAutoFit/>
          </a:bodyPr>
          <a:lstStyle/>
          <a:p>
            <a:pPr algn="l"/>
            <a:r>
              <a:rPr sz="1400" b="0">
                <a:solidFill>
                  <a:srgbClr val="999999"/>
                </a:solidFill>
              </a:rPr>
              <a:t>定番ベーシックモデル</a:t>
            </a:r>
          </a:p>
        </p:txBody>
      </p:sp>
      <p:cxnSp>
        <p:nvCxnSpPr>
          <p:cNvPr id="6" name="Connector 5"/>
          <p:cNvCxnSpPr/>
          <p:nvPr/>
        </p:nvCxnSpPr>
        <p:spPr>
          <a:xfrm>
            <a:off x="5943600" y="1600200"/>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0" y="1737360"/>
            <a:ext cx="5760720" cy="640080"/>
          </a:xfrm>
          <a:prstGeom prst="rect">
            <a:avLst/>
          </a:prstGeom>
          <a:noFill/>
        </p:spPr>
        <p:txBody>
          <a:bodyPr wrap="square">
            <a:spAutoFit/>
          </a:bodyPr>
          <a:lstStyle/>
          <a:p>
            <a:pPr algn="l"/>
            <a:r>
              <a:rPr sz="1500" b="1">
                <a:solidFill>
                  <a:srgbClr val="000000"/>
                </a:solidFill>
              </a:rPr>
              <a:t>低価格・高品質。用途に合わせたサイズバリエーションと寒冷地仕様も展開。</a:t>
            </a:r>
          </a:p>
        </p:txBody>
      </p:sp>
      <p:cxnSp>
        <p:nvCxnSpPr>
          <p:cNvPr id="8" name="Connector 7"/>
          <p:cNvCxnSpPr/>
          <p:nvPr/>
        </p:nvCxnSpPr>
        <p:spPr>
          <a:xfrm>
            <a:off x="5943600" y="2514600"/>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943600" y="2651760"/>
            <a:ext cx="5760720" cy="365760"/>
          </a:xfrm>
          <a:prstGeom prst="rect">
            <a:avLst/>
          </a:prstGeom>
          <a:noFill/>
        </p:spPr>
        <p:txBody>
          <a:bodyPr wrap="square">
            <a:spAutoFit/>
          </a:bodyPr>
          <a:lstStyle/>
          <a:p>
            <a:pPr algn="l"/>
            <a:r>
              <a:rPr sz="1400" b="1">
                <a:solidFill>
                  <a:srgbClr val="000000"/>
                </a:solidFill>
              </a:rPr>
              <a:t>税抜価格</a:t>
            </a:r>
          </a:p>
        </p:txBody>
      </p:sp>
      <p:sp>
        <p:nvSpPr>
          <p:cNvPr id="10" name="TextBox 9"/>
          <p:cNvSpPr txBox="1"/>
          <p:nvPr/>
        </p:nvSpPr>
        <p:spPr>
          <a:xfrm>
            <a:off x="5943600" y="3063240"/>
            <a:ext cx="5760720" cy="3200400"/>
          </a:xfrm>
          <a:prstGeom prst="rect">
            <a:avLst/>
          </a:prstGeom>
          <a:noFill/>
        </p:spPr>
        <p:txBody>
          <a:bodyPr wrap="square">
            <a:spAutoFit/>
          </a:bodyPr>
          <a:lstStyle/>
          <a:p>
            <a:pPr algn="l">
              <a:spcBef>
                <a:spcPts val="500"/>
              </a:spcBef>
            </a:pPr>
            <a:r>
              <a:rPr sz="1200" b="0">
                <a:solidFill>
                  <a:srgbClr val="000000"/>
                </a:solidFill>
              </a:rPr>
              <a:t>・6mモデル：全長6000×全幅2380mm　｜　¥7,490,000〜</a:t>
            </a:r>
          </a:p>
          <a:p>
            <a:pPr algn="l">
              <a:spcBef>
                <a:spcPts val="500"/>
              </a:spcBef>
            </a:pPr>
            <a:r>
              <a:rPr sz="1200" b="0">
                <a:solidFill>
                  <a:srgbClr val="000000"/>
                </a:solidFill>
              </a:rPr>
              <a:t>・7.2mモデル：全長7200×全幅2380mm　｜　¥7,990,000〜
（※限定即納車：¥8,150,000）</a:t>
            </a:r>
          </a:p>
          <a:p>
            <a:pPr algn="l">
              <a:spcBef>
                <a:spcPts val="500"/>
              </a:spcBef>
            </a:pPr>
            <a:r>
              <a:rPr sz="1200" b="0">
                <a:solidFill>
                  <a:srgbClr val="000000"/>
                </a:solidFill>
              </a:rPr>
              <a:t>・9mモデル：全長9000×全幅2380mm　｜　¥8,780,000〜
（※限定即納車：¥9,500,000）</a:t>
            </a:r>
          </a:p>
          <a:p>
            <a:pPr algn="l">
              <a:spcBef>
                <a:spcPts val="500"/>
              </a:spcBef>
            </a:pPr>
            <a:r>
              <a:rPr sz="1200" b="0">
                <a:solidFill>
                  <a:srgbClr val="000000"/>
                </a:solidFill>
              </a:rPr>
              <a:t>・寒冷地モデル：高断熱仕様・片流れ屋根　｜　¥8,000,000〜</a:t>
            </a:r>
          </a:p>
        </p:txBody>
      </p:sp>
      <p:cxnSp>
        <p:nvCxnSpPr>
          <p:cNvPr id="11" name="Connector 10"/>
          <p:cNvCxnSpPr/>
          <p:nvPr/>
        </p:nvCxnSpPr>
        <p:spPr>
          <a:xfrm>
            <a:off x="5943600" y="5760720"/>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0" y="5852160"/>
            <a:ext cx="5760720" cy="274320"/>
          </a:xfrm>
          <a:prstGeom prst="rect">
            <a:avLst/>
          </a:prstGeom>
          <a:noFill/>
        </p:spPr>
        <p:txBody>
          <a:bodyPr wrap="square">
            <a:spAutoFit/>
          </a:bodyPr>
          <a:lstStyle/>
          <a:p>
            <a:pPr algn="l"/>
            <a:r>
              <a:rPr sz="1200" b="1">
                <a:solidFill>
                  <a:srgbClr val="999999"/>
                </a:solidFill>
              </a:rPr>
              <a:t>■ こんな用途に最適</a:t>
            </a:r>
          </a:p>
        </p:txBody>
      </p:sp>
      <p:sp>
        <p:nvSpPr>
          <p:cNvPr id="13" name="TextBox 12"/>
          <p:cNvSpPr txBox="1"/>
          <p:nvPr/>
        </p:nvSpPr>
        <p:spPr>
          <a:xfrm>
            <a:off x="5943600" y="6172200"/>
            <a:ext cx="5760720" cy="411480"/>
          </a:xfrm>
          <a:prstGeom prst="rect">
            <a:avLst/>
          </a:prstGeom>
          <a:noFill/>
        </p:spPr>
        <p:txBody>
          <a:bodyPr wrap="square">
            <a:spAutoFit/>
          </a:bodyPr>
          <a:lstStyle/>
          <a:p>
            <a:pPr algn="l"/>
            <a:r>
              <a:rPr sz="1100" b="0">
                <a:solidFill>
                  <a:srgbClr val="333333"/>
                </a:solidFill>
              </a:rPr>
              <a:t>グランピング宿泊棟 ／ サテライトオフィス ／ 店舗・受付 ／ セカンドハウス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ROADIE &amp; ROADIE mini</a:t>
            </a:r>
          </a:p>
        </p:txBody>
      </p:sp>
      <p:sp>
        <p:nvSpPr>
          <p:cNvPr id="3" name="TextBox 2"/>
          <p:cNvSpPr txBox="1"/>
          <p:nvPr/>
        </p:nvSpPr>
        <p:spPr>
          <a:xfrm>
            <a:off x="457200" y="914400"/>
            <a:ext cx="7315200" cy="365760"/>
          </a:xfrm>
          <a:prstGeom prst="rect">
            <a:avLst/>
          </a:prstGeom>
          <a:noFill/>
        </p:spPr>
        <p:txBody>
          <a:bodyPr wrap="square">
            <a:spAutoFit/>
          </a:bodyPr>
          <a:lstStyle/>
          <a:p>
            <a:pPr algn="l"/>
            <a:r>
              <a:rPr sz="1400" b="0">
                <a:solidFill>
                  <a:srgbClr val="999999"/>
                </a:solidFill>
              </a:rPr>
              <a:t>自然と繋がるモデル</a:t>
            </a:r>
          </a:p>
        </p:txBody>
      </p:sp>
      <p:cxnSp>
        <p:nvCxnSpPr>
          <p:cNvPr id="4" name="Connector 3"/>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365760" y="1188720"/>
            <a:ext cx="5577840" cy="25603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2331720"/>
            <a:ext cx="2560320" cy="365760"/>
          </a:xfrm>
          <a:prstGeom prst="rect">
            <a:avLst/>
          </a:prstGeom>
          <a:noFill/>
        </p:spPr>
        <p:txBody>
          <a:bodyPr wrap="square">
            <a:spAutoFit/>
          </a:bodyPr>
          <a:lstStyle/>
          <a:p>
            <a:pPr algn="ctr"/>
            <a:r>
              <a:rPr sz="1000" b="0">
                <a:solidFill>
                  <a:srgbClr val="999999"/>
                </a:solidFill>
              </a:rPr>
              <a:t>［ROADIE 写真エリア］</a:t>
            </a:r>
          </a:p>
        </p:txBody>
      </p:sp>
      <p:cxnSp>
        <p:nvCxnSpPr>
          <p:cNvPr id="7" name="Connector 6"/>
          <p:cNvCxnSpPr/>
          <p:nvPr/>
        </p:nvCxnSpPr>
        <p:spPr>
          <a:xfrm>
            <a:off x="6217920" y="1097280"/>
            <a:ext cx="0" cy="548640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0" y="1188720"/>
            <a:ext cx="5303520" cy="457200"/>
          </a:xfrm>
          <a:prstGeom prst="rect">
            <a:avLst/>
          </a:prstGeom>
          <a:noFill/>
        </p:spPr>
        <p:txBody>
          <a:bodyPr wrap="square">
            <a:spAutoFit/>
          </a:bodyPr>
          <a:lstStyle/>
          <a:p>
            <a:pPr algn="l"/>
            <a:r>
              <a:rPr sz="1800" b="1">
                <a:solidFill>
                  <a:srgbClr val="000000"/>
                </a:solidFill>
              </a:rPr>
              <a:t>ROADIE</a:t>
            </a:r>
          </a:p>
        </p:txBody>
      </p:sp>
      <p:sp>
        <p:nvSpPr>
          <p:cNvPr id="9" name="TextBox 8"/>
          <p:cNvSpPr txBox="1"/>
          <p:nvPr/>
        </p:nvSpPr>
        <p:spPr>
          <a:xfrm>
            <a:off x="6400800" y="1691640"/>
            <a:ext cx="5303520" cy="1828800"/>
          </a:xfrm>
          <a:prstGeom prst="rect">
            <a:avLst/>
          </a:prstGeom>
          <a:noFill/>
        </p:spPr>
        <p:txBody>
          <a:bodyPr wrap="square">
            <a:spAutoFit/>
          </a:bodyPr>
          <a:lstStyle/>
          <a:p>
            <a:pPr algn="l"/>
            <a:r>
              <a:rPr sz="1200" b="0">
                <a:solidFill>
                  <a:srgbClr val="000000"/>
                </a:solidFill>
              </a:rPr>
              <a:t>・キャンプ場やリゾート施設に最適。豊かな自然を</a:t>
            </a:r>
          </a:p>
          <a:p>
            <a:pPr algn="l"/>
            <a:r>
              <a:rPr sz="1200" b="0">
                <a:solidFill>
                  <a:srgbClr val="000000"/>
                </a:solidFill>
              </a:rPr>
              <a:t>　借景にするシームレスデザイン。</a:t>
            </a:r>
          </a:p>
          <a:p>
            <a:pPr algn="l">
              <a:spcBef>
                <a:spcPts val="500"/>
              </a:spcBef>
            </a:pPr>
            <a:r>
              <a:rPr sz="1200" b="0">
                <a:solidFill>
                  <a:srgbClr val="000000"/>
                </a:solidFill>
              </a:rPr>
              <a:t>・標準モデル：¥10,250,000〜</a:t>
            </a:r>
          </a:p>
          <a:p>
            <a:pPr algn="l"/>
            <a:r>
              <a:rPr sz="1200" b="0">
                <a:solidFill>
                  <a:srgbClr val="000000"/>
                </a:solidFill>
              </a:rPr>
              <a:t>・寒冷地モデル：¥10,350,000〜</a:t>
            </a:r>
          </a:p>
        </p:txBody>
      </p:sp>
      <p:cxnSp>
        <p:nvCxnSpPr>
          <p:cNvPr id="10" name="Connector 9"/>
          <p:cNvCxnSpPr/>
          <p:nvPr/>
        </p:nvCxnSpPr>
        <p:spPr>
          <a:xfrm>
            <a:off x="365760" y="3886200"/>
            <a:ext cx="113385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4069080"/>
            <a:ext cx="2560320" cy="2286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892040"/>
            <a:ext cx="2286000" cy="914400"/>
          </a:xfrm>
          <a:prstGeom prst="rect">
            <a:avLst/>
          </a:prstGeom>
          <a:noFill/>
        </p:spPr>
        <p:txBody>
          <a:bodyPr wrap="square">
            <a:spAutoFit/>
          </a:bodyPr>
          <a:lstStyle/>
          <a:p>
            <a:pPr algn="ctr"/>
            <a:r>
              <a:rPr sz="1000" b="0">
                <a:solidFill>
                  <a:srgbClr val="999999"/>
                </a:solidFill>
              </a:rPr>
              <a:t>平面図
（約3.2m × 約2m
 面積6.51㎡）</a:t>
            </a:r>
          </a:p>
        </p:txBody>
      </p:sp>
      <p:sp>
        <p:nvSpPr>
          <p:cNvPr id="13" name="TextBox 12"/>
          <p:cNvSpPr txBox="1"/>
          <p:nvPr/>
        </p:nvSpPr>
        <p:spPr>
          <a:xfrm>
            <a:off x="6400800" y="4114800"/>
            <a:ext cx="5303520" cy="457200"/>
          </a:xfrm>
          <a:prstGeom prst="rect">
            <a:avLst/>
          </a:prstGeom>
          <a:noFill/>
        </p:spPr>
        <p:txBody>
          <a:bodyPr wrap="square">
            <a:spAutoFit/>
          </a:bodyPr>
          <a:lstStyle/>
          <a:p>
            <a:pPr algn="l"/>
            <a:r>
              <a:rPr sz="1800" b="1">
                <a:solidFill>
                  <a:srgbClr val="000000"/>
                </a:solidFill>
              </a:rPr>
              <a:t>ROADIE mini</a:t>
            </a:r>
          </a:p>
        </p:txBody>
      </p:sp>
      <p:sp>
        <p:nvSpPr>
          <p:cNvPr id="14" name="TextBox 13"/>
          <p:cNvSpPr txBox="1"/>
          <p:nvPr/>
        </p:nvSpPr>
        <p:spPr>
          <a:xfrm>
            <a:off x="6400800" y="4617720"/>
            <a:ext cx="5303520" cy="1828800"/>
          </a:xfrm>
          <a:prstGeom prst="rect">
            <a:avLst/>
          </a:prstGeom>
          <a:noFill/>
        </p:spPr>
        <p:txBody>
          <a:bodyPr wrap="square">
            <a:spAutoFit/>
          </a:bodyPr>
          <a:lstStyle/>
          <a:p>
            <a:pPr algn="l"/>
            <a:r>
              <a:rPr sz="1200" b="0">
                <a:solidFill>
                  <a:srgbClr val="000000"/>
                </a:solidFill>
              </a:rPr>
              <a:t>・牽引免許不要の小型トレーラー（面積6.51㎡）。</a:t>
            </a:r>
          </a:p>
          <a:p>
            <a:pPr algn="l"/>
            <a:r>
              <a:rPr sz="1200" b="0">
                <a:solidFill>
                  <a:srgbClr val="000000"/>
                </a:solidFill>
              </a:rPr>
              <a:t>　多目的にアレンジ可能な広々フラットタイプ。</a:t>
            </a:r>
          </a:p>
          <a:p>
            <a:pPr algn="l">
              <a:spcBef>
                <a:spcPts val="500"/>
              </a:spcBef>
            </a:pPr>
            <a:r>
              <a:rPr sz="1200" b="0">
                <a:solidFill>
                  <a:srgbClr val="000000"/>
                </a:solidFill>
              </a:rPr>
              <a:t>・標準モデル：¥3,700,000〜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943600" cy="68580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3108960"/>
            <a:ext cx="2560320" cy="457200"/>
          </a:xfrm>
          <a:prstGeom prst="rect">
            <a:avLst/>
          </a:prstGeom>
          <a:noFill/>
        </p:spPr>
        <p:txBody>
          <a:bodyPr wrap="square">
            <a:spAutoFit/>
          </a:bodyPr>
          <a:lstStyle/>
          <a:p>
            <a:pPr algn="ctr"/>
            <a:r>
              <a:rPr sz="1100" b="0">
                <a:solidFill>
                  <a:srgbClr val="999999"/>
                </a:solidFill>
              </a:rPr>
              <a:t>［MIGRA 写真エリア］</a:t>
            </a:r>
          </a:p>
        </p:txBody>
      </p:sp>
      <p:sp>
        <p:nvSpPr>
          <p:cNvPr id="4" name="TextBox 3"/>
          <p:cNvSpPr txBox="1"/>
          <p:nvPr/>
        </p:nvSpPr>
        <p:spPr>
          <a:xfrm>
            <a:off x="6217920" y="457200"/>
            <a:ext cx="5669280" cy="640080"/>
          </a:xfrm>
          <a:prstGeom prst="rect">
            <a:avLst/>
          </a:prstGeom>
          <a:noFill/>
        </p:spPr>
        <p:txBody>
          <a:bodyPr wrap="square">
            <a:spAutoFit/>
          </a:bodyPr>
          <a:lstStyle/>
          <a:p>
            <a:pPr algn="l"/>
            <a:r>
              <a:rPr sz="3600" b="1">
                <a:solidFill>
                  <a:srgbClr val="000000"/>
                </a:solidFill>
              </a:rPr>
              <a:t>MIGRA</a:t>
            </a:r>
          </a:p>
        </p:txBody>
      </p:sp>
      <p:sp>
        <p:nvSpPr>
          <p:cNvPr id="5" name="TextBox 4"/>
          <p:cNvSpPr txBox="1"/>
          <p:nvPr/>
        </p:nvSpPr>
        <p:spPr>
          <a:xfrm>
            <a:off x="6217920" y="1143000"/>
            <a:ext cx="5669280" cy="411480"/>
          </a:xfrm>
          <a:prstGeom prst="rect">
            <a:avLst/>
          </a:prstGeom>
          <a:noFill/>
        </p:spPr>
        <p:txBody>
          <a:bodyPr wrap="square">
            <a:spAutoFit/>
          </a:bodyPr>
          <a:lstStyle/>
          <a:p>
            <a:pPr algn="l"/>
            <a:r>
              <a:rPr sz="1600" b="1">
                <a:solidFill>
                  <a:srgbClr val="333333"/>
                </a:solidFill>
              </a:rPr>
              <a:t>上質な木造シリーズ</a:t>
            </a:r>
          </a:p>
        </p:txBody>
      </p:sp>
      <p:sp>
        <p:nvSpPr>
          <p:cNvPr id="6" name="TextBox 5"/>
          <p:cNvSpPr txBox="1"/>
          <p:nvPr/>
        </p:nvSpPr>
        <p:spPr>
          <a:xfrm>
            <a:off x="6217920" y="1691640"/>
            <a:ext cx="5669280" cy="822960"/>
          </a:xfrm>
          <a:prstGeom prst="rect">
            <a:avLst/>
          </a:prstGeom>
          <a:noFill/>
        </p:spPr>
        <p:txBody>
          <a:bodyPr wrap="square">
            <a:spAutoFit/>
          </a:bodyPr>
          <a:lstStyle/>
          <a:p>
            <a:pPr algn="l"/>
            <a:r>
              <a:rPr sz="1400" b="0">
                <a:solidFill>
                  <a:srgbClr val="333333"/>
                </a:solidFill>
              </a:rPr>
              <a:t>木の温かみを持つ快適なリビング空間。
機能性と美しさを兼ね備えたハイエンドトレーラーハウス。</a:t>
            </a:r>
          </a:p>
        </p:txBody>
      </p:sp>
      <p:cxnSp>
        <p:nvCxnSpPr>
          <p:cNvPr id="7" name="Connector 6"/>
          <p:cNvCxnSpPr/>
          <p:nvPr/>
        </p:nvCxnSpPr>
        <p:spPr>
          <a:xfrm>
            <a:off x="6217920" y="2697480"/>
            <a:ext cx="5486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0" y="2880360"/>
            <a:ext cx="5669280" cy="2743200"/>
          </a:xfrm>
          <a:prstGeom prst="rect">
            <a:avLst/>
          </a:prstGeom>
          <a:noFill/>
        </p:spPr>
        <p:txBody>
          <a:bodyPr wrap="square">
            <a:spAutoFit/>
          </a:bodyPr>
          <a:lstStyle/>
          <a:p>
            <a:pPr algn="l">
              <a:spcBef>
                <a:spcPts val="600"/>
              </a:spcBef>
            </a:pPr>
            <a:r>
              <a:rPr sz="1300" b="0">
                <a:solidFill>
                  <a:srgbClr val="000000"/>
                </a:solidFill>
              </a:rPr>
              <a:t>・標準モデル：¥9,950,000〜</a:t>
            </a:r>
          </a:p>
          <a:p>
            <a:pPr algn="l">
              <a:spcBef>
                <a:spcPts val="600"/>
              </a:spcBef>
            </a:pPr>
            <a:r>
              <a:rPr sz="1300" b="0">
                <a:solidFill>
                  <a:srgbClr val="000000"/>
                </a:solidFill>
              </a:rPr>
              <a:t>・寒冷地モデル（W断熱・トリプルガラス）：¥10,050,000〜</a:t>
            </a:r>
          </a:p>
          <a:p>
            <a:pPr algn="l">
              <a:spcBef>
                <a:spcPts val="600"/>
              </a:spcBef>
            </a:pPr>
            <a:r>
              <a:rPr sz="1300" b="0">
                <a:solidFill>
                  <a:srgbClr val="000000"/>
                </a:solidFill>
              </a:rPr>
              <a:t>・太陽光搭載モデル（オフグリッド対応）：¥13,000,000〜</a:t>
            </a:r>
          </a:p>
        </p:txBody>
      </p:sp>
      <p:cxnSp>
        <p:nvCxnSpPr>
          <p:cNvPr id="9" name="Connector 8"/>
          <p:cNvCxnSpPr/>
          <p:nvPr/>
        </p:nvCxnSpPr>
        <p:spPr>
          <a:xfrm>
            <a:off x="6217920" y="4846320"/>
            <a:ext cx="54864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7920" y="4983480"/>
            <a:ext cx="5669280" cy="274320"/>
          </a:xfrm>
          <a:prstGeom prst="rect">
            <a:avLst/>
          </a:prstGeom>
          <a:noFill/>
        </p:spPr>
        <p:txBody>
          <a:bodyPr wrap="square">
            <a:spAutoFit/>
          </a:bodyPr>
          <a:lstStyle/>
          <a:p>
            <a:pPr algn="l"/>
            <a:r>
              <a:rPr sz="1200" b="1">
                <a:solidFill>
                  <a:srgbClr val="999999"/>
                </a:solidFill>
              </a:rPr>
              <a:t>■ こんな用途に最適</a:t>
            </a:r>
          </a:p>
        </p:txBody>
      </p:sp>
      <p:sp>
        <p:nvSpPr>
          <p:cNvPr id="11" name="TextBox 10"/>
          <p:cNvSpPr txBox="1"/>
          <p:nvPr/>
        </p:nvSpPr>
        <p:spPr>
          <a:xfrm>
            <a:off x="6217920" y="5303520"/>
            <a:ext cx="5669280" cy="365760"/>
          </a:xfrm>
          <a:prstGeom prst="rect">
            <a:avLst/>
          </a:prstGeom>
          <a:noFill/>
        </p:spPr>
        <p:txBody>
          <a:bodyPr wrap="square">
            <a:spAutoFit/>
          </a:bodyPr>
          <a:lstStyle/>
          <a:p>
            <a:pPr algn="l"/>
            <a:r>
              <a:rPr sz="1100" b="0">
                <a:solidFill>
                  <a:srgbClr val="333333"/>
                </a:solidFill>
              </a:rPr>
              <a:t>高級グランピング ／ プレミアムセカンドハウス ／ オフグリッド居住</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303520"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108960"/>
            <a:ext cx="2560320" cy="457200"/>
          </a:xfrm>
          <a:prstGeom prst="rect">
            <a:avLst/>
          </a:prstGeom>
          <a:noFill/>
        </p:spPr>
        <p:txBody>
          <a:bodyPr wrap="square">
            <a:spAutoFit/>
          </a:bodyPr>
          <a:lstStyle/>
          <a:p>
            <a:pPr algn="ctr"/>
            <a:r>
              <a:rPr sz="1100" b="0">
                <a:solidFill>
                  <a:srgbClr val="999999"/>
                </a:solidFill>
              </a:rPr>
              <a:t>［構造図エリア］</a:t>
            </a:r>
          </a:p>
        </p:txBody>
      </p:sp>
      <p:sp>
        <p:nvSpPr>
          <p:cNvPr id="4" name="TextBox 3"/>
          <p:cNvSpPr txBox="1"/>
          <p:nvPr/>
        </p:nvSpPr>
        <p:spPr>
          <a:xfrm>
            <a:off x="5669280" y="457200"/>
            <a:ext cx="6217920" cy="594360"/>
          </a:xfrm>
          <a:prstGeom prst="rect">
            <a:avLst/>
          </a:prstGeom>
          <a:noFill/>
        </p:spPr>
        <p:txBody>
          <a:bodyPr wrap="square">
            <a:spAutoFit/>
          </a:bodyPr>
          <a:lstStyle/>
          <a:p>
            <a:pPr algn="l"/>
            <a:r>
              <a:rPr sz="2600" b="1">
                <a:solidFill>
                  <a:srgbClr val="000000"/>
                </a:solidFill>
              </a:rPr>
              <a:t>基本構造と性能</a:t>
            </a:r>
          </a:p>
        </p:txBody>
      </p:sp>
      <p:sp>
        <p:nvSpPr>
          <p:cNvPr id="5" name="TextBox 4"/>
          <p:cNvSpPr txBox="1"/>
          <p:nvPr/>
        </p:nvSpPr>
        <p:spPr>
          <a:xfrm>
            <a:off x="5669280" y="1097280"/>
            <a:ext cx="6217920" cy="365760"/>
          </a:xfrm>
          <a:prstGeom prst="rect">
            <a:avLst/>
          </a:prstGeom>
          <a:noFill/>
        </p:spPr>
        <p:txBody>
          <a:bodyPr wrap="square">
            <a:spAutoFit/>
          </a:bodyPr>
          <a:lstStyle/>
          <a:p>
            <a:pPr algn="l"/>
            <a:r>
              <a:rPr sz="1400" b="0">
                <a:solidFill>
                  <a:srgbClr val="999999"/>
                </a:solidFill>
              </a:rPr>
              <a:t>長く安心して使える、プロ仕様の構造。</a:t>
            </a:r>
          </a:p>
        </p:txBody>
      </p:sp>
      <p:cxnSp>
        <p:nvCxnSpPr>
          <p:cNvPr id="6" name="Connector 5"/>
          <p:cNvCxnSpPr/>
          <p:nvPr/>
        </p:nvCxnSpPr>
        <p:spPr>
          <a:xfrm>
            <a:off x="5669280" y="1554480"/>
            <a:ext cx="60350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0" y="1737360"/>
            <a:ext cx="6035040" cy="365760"/>
          </a:xfrm>
          <a:prstGeom prst="rect">
            <a:avLst/>
          </a:prstGeom>
          <a:noFill/>
        </p:spPr>
        <p:txBody>
          <a:bodyPr wrap="square">
            <a:spAutoFit/>
          </a:bodyPr>
          <a:lstStyle/>
          <a:p>
            <a:pPr algn="l"/>
            <a:r>
              <a:rPr sz="1300" b="1">
                <a:solidFill>
                  <a:srgbClr val="000000"/>
                </a:solidFill>
              </a:rPr>
              <a:t>・構造：堅牢な軽量鉄骨造</a:t>
            </a:r>
          </a:p>
        </p:txBody>
      </p:sp>
      <p:sp>
        <p:nvSpPr>
          <p:cNvPr id="8" name="TextBox 7"/>
          <p:cNvSpPr txBox="1"/>
          <p:nvPr/>
        </p:nvSpPr>
        <p:spPr>
          <a:xfrm>
            <a:off x="5852160" y="2121408"/>
            <a:ext cx="5852160" cy="594360"/>
          </a:xfrm>
          <a:prstGeom prst="rect">
            <a:avLst/>
          </a:prstGeom>
          <a:noFill/>
        </p:spPr>
        <p:txBody>
          <a:bodyPr wrap="square">
            <a:spAutoFit/>
          </a:bodyPr>
          <a:lstStyle/>
          <a:p>
            <a:pPr algn="l"/>
            <a:r>
              <a:rPr sz="1100" b="0">
                <a:solidFill>
                  <a:srgbClr val="333333"/>
                </a:solidFill>
              </a:rPr>
              <a:t>移動・輸送の振動に耐える業務用設計。一般住宅と同等以上の強度。</a:t>
            </a:r>
          </a:p>
        </p:txBody>
      </p:sp>
      <p:cxnSp>
        <p:nvCxnSpPr>
          <p:cNvPr id="9" name="Connector 8"/>
          <p:cNvCxnSpPr/>
          <p:nvPr/>
        </p:nvCxnSpPr>
        <p:spPr>
          <a:xfrm>
            <a:off x="5669280" y="2761487"/>
            <a:ext cx="60350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669280" y="2834639"/>
            <a:ext cx="6035040" cy="365760"/>
          </a:xfrm>
          <a:prstGeom prst="rect">
            <a:avLst/>
          </a:prstGeom>
          <a:noFill/>
        </p:spPr>
        <p:txBody>
          <a:bodyPr wrap="square">
            <a:spAutoFit/>
          </a:bodyPr>
          <a:lstStyle/>
          <a:p>
            <a:pPr algn="l"/>
            <a:r>
              <a:rPr sz="1300" b="1">
                <a:solidFill>
                  <a:srgbClr val="000000"/>
                </a:solidFill>
              </a:rPr>
              <a:t>・安全性：内装建材 F★★★★（フォースター）以上</a:t>
            </a:r>
          </a:p>
        </p:txBody>
      </p:sp>
      <p:sp>
        <p:nvSpPr>
          <p:cNvPr id="11" name="TextBox 10"/>
          <p:cNvSpPr txBox="1"/>
          <p:nvPr/>
        </p:nvSpPr>
        <p:spPr>
          <a:xfrm>
            <a:off x="5852160" y="3218687"/>
            <a:ext cx="5852160" cy="594360"/>
          </a:xfrm>
          <a:prstGeom prst="rect">
            <a:avLst/>
          </a:prstGeom>
          <a:noFill/>
        </p:spPr>
        <p:txBody>
          <a:bodyPr wrap="square">
            <a:spAutoFit/>
          </a:bodyPr>
          <a:lstStyle/>
          <a:p>
            <a:pPr algn="l"/>
            <a:r>
              <a:rPr sz="1100" b="0">
                <a:solidFill>
                  <a:srgbClr val="333333"/>
                </a:solidFill>
              </a:rPr>
              <a:t>シックハウス症候群の原因物質を最大限に抑制。
小さなお子様にも安心の室内環境。</a:t>
            </a:r>
          </a:p>
        </p:txBody>
      </p:sp>
      <p:cxnSp>
        <p:nvCxnSpPr>
          <p:cNvPr id="12" name="Connector 11"/>
          <p:cNvCxnSpPr/>
          <p:nvPr/>
        </p:nvCxnSpPr>
        <p:spPr>
          <a:xfrm>
            <a:off x="5669280" y="3858768"/>
            <a:ext cx="60350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0" y="3931920"/>
            <a:ext cx="6035040" cy="365760"/>
          </a:xfrm>
          <a:prstGeom prst="rect">
            <a:avLst/>
          </a:prstGeom>
          <a:noFill/>
        </p:spPr>
        <p:txBody>
          <a:bodyPr wrap="square">
            <a:spAutoFit/>
          </a:bodyPr>
          <a:lstStyle/>
          <a:p>
            <a:pPr algn="l"/>
            <a:r>
              <a:rPr sz="1300" b="1">
                <a:solidFill>
                  <a:srgbClr val="000000"/>
                </a:solidFill>
              </a:rPr>
              <a:t>・断熱性能：床・天井・壁に高性能断熱材を採用</a:t>
            </a:r>
          </a:p>
        </p:txBody>
      </p:sp>
      <p:sp>
        <p:nvSpPr>
          <p:cNvPr id="14" name="TextBox 13"/>
          <p:cNvSpPr txBox="1"/>
          <p:nvPr/>
        </p:nvSpPr>
        <p:spPr>
          <a:xfrm>
            <a:off x="5852160" y="4315968"/>
            <a:ext cx="5852160" cy="594360"/>
          </a:xfrm>
          <a:prstGeom prst="rect">
            <a:avLst/>
          </a:prstGeom>
          <a:noFill/>
        </p:spPr>
        <p:txBody>
          <a:bodyPr wrap="square">
            <a:spAutoFit/>
          </a:bodyPr>
          <a:lstStyle/>
          <a:p>
            <a:pPr algn="l"/>
            <a:r>
              <a:rPr sz="1100" b="0">
                <a:solidFill>
                  <a:srgbClr val="333333"/>
                </a:solidFill>
              </a:rPr>
              <a:t>床：ミラフォームMKS 40mm　天井：GW24K 100mm　壁：GW24K 50mm
夏の猛暑・冬の寒冷地でも快適な室内環境を実現。</a:t>
            </a:r>
          </a:p>
        </p:txBody>
      </p:sp>
      <p:cxnSp>
        <p:nvCxnSpPr>
          <p:cNvPr id="15" name="Connector 14"/>
          <p:cNvCxnSpPr/>
          <p:nvPr/>
        </p:nvCxnSpPr>
        <p:spPr>
          <a:xfrm>
            <a:off x="5669280" y="4956048"/>
            <a:ext cx="60350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0" y="5029200"/>
            <a:ext cx="6035040" cy="365760"/>
          </a:xfrm>
          <a:prstGeom prst="rect">
            <a:avLst/>
          </a:prstGeom>
          <a:noFill/>
        </p:spPr>
        <p:txBody>
          <a:bodyPr wrap="square">
            <a:spAutoFit/>
          </a:bodyPr>
          <a:lstStyle/>
          <a:p>
            <a:pPr algn="l"/>
            <a:r>
              <a:rPr sz="1300" b="1">
                <a:solidFill>
                  <a:srgbClr val="000000"/>
                </a:solidFill>
              </a:rPr>
              <a:t>・外装：耐久性に優れた立平ロック25型 / 角波SK333</a:t>
            </a:r>
          </a:p>
        </p:txBody>
      </p:sp>
      <p:sp>
        <p:nvSpPr>
          <p:cNvPr id="17" name="TextBox 16"/>
          <p:cNvSpPr txBox="1"/>
          <p:nvPr/>
        </p:nvSpPr>
        <p:spPr>
          <a:xfrm>
            <a:off x="5852160" y="5413248"/>
            <a:ext cx="5852160" cy="594360"/>
          </a:xfrm>
          <a:prstGeom prst="rect">
            <a:avLst/>
          </a:prstGeom>
          <a:noFill/>
        </p:spPr>
        <p:txBody>
          <a:bodyPr wrap="square">
            <a:spAutoFit/>
          </a:bodyPr>
          <a:lstStyle/>
          <a:p>
            <a:pPr algn="l"/>
            <a:r>
              <a:rPr sz="1100" b="0">
                <a:solidFill>
                  <a:srgbClr val="333333"/>
                </a:solidFill>
              </a:rPr>
              <a:t>雨・風・紫外線に強く、メンテナンスコストを最小化。</a:t>
            </a:r>
          </a:p>
        </p:txBody>
      </p:sp>
      <p:cxnSp>
        <p:nvCxnSpPr>
          <p:cNvPr id="18" name="Connector 17"/>
          <p:cNvCxnSpPr/>
          <p:nvPr/>
        </p:nvCxnSpPr>
        <p:spPr>
          <a:xfrm>
            <a:off x="5669280" y="6053328"/>
            <a:ext cx="60350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空間のカスタマイズ</a:t>
            </a:r>
          </a:p>
        </p:txBody>
      </p:sp>
      <p:cxnSp>
        <p:nvCxnSpPr>
          <p:cNvPr id="3" name="Connector 2"/>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65760" y="1188720"/>
            <a:ext cx="5029200" cy="2103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103120"/>
            <a:ext cx="2103120" cy="365760"/>
          </a:xfrm>
          <a:prstGeom prst="rect">
            <a:avLst/>
          </a:prstGeom>
          <a:noFill/>
        </p:spPr>
        <p:txBody>
          <a:bodyPr wrap="square">
            <a:spAutoFit/>
          </a:bodyPr>
          <a:lstStyle/>
          <a:p>
            <a:pPr algn="ctr"/>
            <a:r>
              <a:rPr sz="1000" b="0">
                <a:solidFill>
                  <a:srgbClr val="999999"/>
                </a:solidFill>
              </a:rPr>
              <a:t>［内観写真①］</a:t>
            </a:r>
          </a:p>
        </p:txBody>
      </p:sp>
      <p:sp>
        <p:nvSpPr>
          <p:cNvPr id="6" name="Rectangle 5"/>
          <p:cNvSpPr/>
          <p:nvPr/>
        </p:nvSpPr>
        <p:spPr>
          <a:xfrm>
            <a:off x="365760" y="3429000"/>
            <a:ext cx="5029200" cy="2103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4343400"/>
            <a:ext cx="2103120" cy="365760"/>
          </a:xfrm>
          <a:prstGeom prst="rect">
            <a:avLst/>
          </a:prstGeom>
          <a:noFill/>
        </p:spPr>
        <p:txBody>
          <a:bodyPr wrap="square">
            <a:spAutoFit/>
          </a:bodyPr>
          <a:lstStyle/>
          <a:p>
            <a:pPr algn="ctr"/>
            <a:r>
              <a:rPr sz="1000" b="0">
                <a:solidFill>
                  <a:srgbClr val="999999"/>
                </a:solidFill>
              </a:rPr>
              <a:t>［内観写真②］</a:t>
            </a:r>
          </a:p>
        </p:txBody>
      </p:sp>
      <p:sp>
        <p:nvSpPr>
          <p:cNvPr id="8" name="TextBox 7"/>
          <p:cNvSpPr txBox="1"/>
          <p:nvPr/>
        </p:nvSpPr>
        <p:spPr>
          <a:xfrm>
            <a:off x="5760720" y="1188720"/>
            <a:ext cx="5943600" cy="365760"/>
          </a:xfrm>
          <a:prstGeom prst="rect">
            <a:avLst/>
          </a:prstGeom>
          <a:noFill/>
        </p:spPr>
        <p:txBody>
          <a:bodyPr wrap="square">
            <a:spAutoFit/>
          </a:bodyPr>
          <a:lstStyle/>
          <a:p>
            <a:pPr algn="l"/>
            <a:r>
              <a:rPr sz="1400" b="1">
                <a:solidFill>
                  <a:srgbClr val="000000"/>
                </a:solidFill>
              </a:rPr>
              <a:t>標準装備：</a:t>
            </a:r>
          </a:p>
        </p:txBody>
      </p:sp>
      <p:cxnSp>
        <p:nvCxnSpPr>
          <p:cNvPr id="9" name="Connector 8"/>
          <p:cNvCxnSpPr/>
          <p:nvPr/>
        </p:nvCxnSpPr>
        <p:spPr>
          <a:xfrm>
            <a:off x="5760720" y="1600200"/>
            <a:ext cx="5943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760720" y="1691640"/>
            <a:ext cx="5943600" cy="457200"/>
          </a:xfrm>
          <a:prstGeom prst="rect">
            <a:avLst/>
          </a:prstGeom>
          <a:noFill/>
        </p:spPr>
        <p:txBody>
          <a:bodyPr wrap="square">
            <a:spAutoFit/>
          </a:bodyPr>
          <a:lstStyle/>
          <a:p>
            <a:pPr algn="l"/>
            <a:r>
              <a:rPr sz="1200" b="0">
                <a:solidFill>
                  <a:srgbClr val="333333"/>
                </a:solidFill>
              </a:rPr>
              <a:t>ダクトレール照明、ダウンライト、基本電気配線・スイッチ完備。</a:t>
            </a:r>
          </a:p>
        </p:txBody>
      </p:sp>
      <p:sp>
        <p:nvSpPr>
          <p:cNvPr id="11" name="TextBox 10"/>
          <p:cNvSpPr txBox="1"/>
          <p:nvPr/>
        </p:nvSpPr>
        <p:spPr>
          <a:xfrm>
            <a:off x="5760720" y="2331720"/>
            <a:ext cx="5943600" cy="365760"/>
          </a:xfrm>
          <a:prstGeom prst="rect">
            <a:avLst/>
          </a:prstGeom>
          <a:noFill/>
        </p:spPr>
        <p:txBody>
          <a:bodyPr wrap="square">
            <a:spAutoFit/>
          </a:bodyPr>
          <a:lstStyle/>
          <a:p>
            <a:pPr algn="l"/>
            <a:r>
              <a:rPr sz="1400" b="1">
                <a:solidFill>
                  <a:srgbClr val="000000"/>
                </a:solidFill>
              </a:rPr>
              <a:t>カスタムオプション：</a:t>
            </a:r>
          </a:p>
        </p:txBody>
      </p:sp>
      <p:cxnSp>
        <p:nvCxnSpPr>
          <p:cNvPr id="12" name="Connector 11"/>
          <p:cNvCxnSpPr/>
          <p:nvPr/>
        </p:nvCxnSpPr>
        <p:spPr>
          <a:xfrm>
            <a:off x="5760720" y="2743200"/>
            <a:ext cx="5943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760720" y="2834640"/>
            <a:ext cx="5943600" cy="3200400"/>
          </a:xfrm>
          <a:prstGeom prst="rect">
            <a:avLst/>
          </a:prstGeom>
          <a:noFill/>
        </p:spPr>
        <p:txBody>
          <a:bodyPr wrap="square">
            <a:spAutoFit/>
          </a:bodyPr>
          <a:lstStyle/>
          <a:p>
            <a:pPr algn="l">
              <a:spcBef>
                <a:spcPts val="500"/>
              </a:spcBef>
            </a:pPr>
            <a:r>
              <a:rPr sz="1200" b="0">
                <a:solidFill>
                  <a:srgbClr val="333333"/>
                </a:solidFill>
              </a:rPr>
              <a:t>・水回り：トイレ、シャワールーム、洗面台、キッチン等のインフラ実装</a:t>
            </a:r>
          </a:p>
          <a:p>
            <a:pPr algn="l">
              <a:spcBef>
                <a:spcPts val="500"/>
              </a:spcBef>
            </a:pPr>
            <a:r>
              <a:rPr sz="1200" b="0">
                <a:solidFill>
                  <a:srgbClr val="333333"/>
                </a:solidFill>
              </a:rPr>
              <a:t>・空調設備：エアコン設置（ブラケット含む）</a:t>
            </a:r>
          </a:p>
          <a:p>
            <a:pPr algn="l">
              <a:spcBef>
                <a:spcPts val="500"/>
              </a:spcBef>
            </a:pPr>
            <a:r>
              <a:rPr sz="1200" b="0">
                <a:solidFill>
                  <a:srgbClr val="333333"/>
                </a:solidFill>
              </a:rPr>
              <a:t>・開口部：引き違いテラス窓、FIX窓、各種ドアの追加・位置変更</a:t>
            </a:r>
          </a:p>
          <a:p>
            <a:pPr algn="l">
              <a:spcBef>
                <a:spcPts val="500"/>
              </a:spcBef>
            </a:pPr>
            <a:r>
              <a:rPr sz="1200" b="0">
                <a:solidFill>
                  <a:srgbClr val="333333"/>
                </a:solidFill>
              </a:rPr>
              <a:t>・内装仕上：フロアタイル、塩ビタイル、シナ合板など用途に合わせたマテリアル変更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輸送料金について</a:t>
            </a:r>
          </a:p>
        </p:txBody>
      </p:sp>
      <p:cxnSp>
        <p:nvCxnSpPr>
          <p:cNvPr id="3" name="Connector 2"/>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097280"/>
            <a:ext cx="7772400" cy="365760"/>
          </a:xfrm>
          <a:prstGeom prst="rect">
            <a:avLst/>
          </a:prstGeom>
          <a:noFill/>
        </p:spPr>
        <p:txBody>
          <a:bodyPr wrap="square">
            <a:spAutoFit/>
          </a:bodyPr>
          <a:lstStyle/>
          <a:p>
            <a:pPr algn="l"/>
            <a:r>
              <a:rPr sz="1300" b="0">
                <a:solidFill>
                  <a:srgbClr val="000000"/>
                </a:solidFill>
              </a:rPr>
              <a:t>製造拠点から設置エリアまでの距離に応じた明瞭な輸送料金体系。</a:t>
            </a:r>
          </a:p>
        </p:txBody>
      </p:sp>
      <p:sp>
        <p:nvSpPr>
          <p:cNvPr id="5" name="TextBox 4"/>
          <p:cNvSpPr txBox="1"/>
          <p:nvPr/>
        </p:nvSpPr>
        <p:spPr>
          <a:xfrm>
            <a:off x="457200" y="1508760"/>
            <a:ext cx="7772400" cy="320040"/>
          </a:xfrm>
          <a:prstGeom prst="rect">
            <a:avLst/>
          </a:prstGeom>
          <a:noFill/>
        </p:spPr>
        <p:txBody>
          <a:bodyPr wrap="square">
            <a:spAutoFit/>
          </a:bodyPr>
          <a:lstStyle/>
          <a:p>
            <a:pPr algn="l"/>
            <a:r>
              <a:rPr sz="1200" b="0">
                <a:solidFill>
                  <a:srgbClr val="999999"/>
                </a:solidFill>
              </a:rPr>
              <a:t>（※特殊条件・フェリー等は要別途見積）</a:t>
            </a:r>
          </a:p>
        </p:txBody>
      </p:sp>
      <p:sp>
        <p:nvSpPr>
          <p:cNvPr id="6" name="Rectangle 5"/>
          <p:cNvSpPr/>
          <p:nvPr/>
        </p:nvSpPr>
        <p:spPr>
          <a:xfrm>
            <a:off x="457200" y="1965960"/>
            <a:ext cx="352044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3337560" cy="411480"/>
          </a:xfrm>
          <a:prstGeom prst="rect">
            <a:avLst/>
          </a:prstGeom>
          <a:noFill/>
        </p:spPr>
        <p:txBody>
          <a:bodyPr wrap="square">
            <a:spAutoFit/>
          </a:bodyPr>
          <a:lstStyle/>
          <a:p>
            <a:pPr algn="l"/>
            <a:r>
              <a:rPr sz="1200" b="1">
                <a:solidFill>
                  <a:srgbClr val="FFFFFF"/>
                </a:solidFill>
              </a:rPr>
              <a:t>Tinys INSPIRATIONシリーズ</a:t>
            </a:r>
          </a:p>
          <a:p>
            <a:pPr algn="l"/>
            <a:r>
              <a:rPr sz="1000" b="0">
                <a:solidFill>
                  <a:srgbClr val="DDDDDD"/>
                </a:solidFill>
              </a:rPr>
              <a:t>製造地：名古屋</a:t>
            </a:r>
          </a:p>
        </p:txBody>
      </p:sp>
      <p:cxnSp>
        <p:nvCxnSpPr>
          <p:cNvPr id="8" name="Connector 7"/>
          <p:cNvCxnSpPr/>
          <p:nvPr/>
        </p:nvCxnSpPr>
        <p:spPr>
          <a:xfrm>
            <a:off x="457200" y="2468880"/>
            <a:ext cx="3520439"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2578608"/>
            <a:ext cx="3520440" cy="5943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715768"/>
            <a:ext cx="2011680" cy="320040"/>
          </a:xfrm>
          <a:prstGeom prst="rect">
            <a:avLst/>
          </a:prstGeom>
          <a:noFill/>
        </p:spPr>
        <p:txBody>
          <a:bodyPr wrap="square">
            <a:spAutoFit/>
          </a:bodyPr>
          <a:lstStyle/>
          <a:p>
            <a:pPr algn="l"/>
            <a:r>
              <a:rPr sz="1100" b="0">
                <a:solidFill>
                  <a:srgbClr val="000000"/>
                </a:solidFill>
              </a:rPr>
              <a:t>短距離（〜200km）</a:t>
            </a:r>
          </a:p>
        </p:txBody>
      </p:sp>
      <p:sp>
        <p:nvSpPr>
          <p:cNvPr id="11" name="TextBox 10"/>
          <p:cNvSpPr txBox="1"/>
          <p:nvPr/>
        </p:nvSpPr>
        <p:spPr>
          <a:xfrm>
            <a:off x="2651760" y="2715768"/>
            <a:ext cx="1188720" cy="320040"/>
          </a:xfrm>
          <a:prstGeom prst="rect">
            <a:avLst/>
          </a:prstGeom>
          <a:noFill/>
        </p:spPr>
        <p:txBody>
          <a:bodyPr wrap="square">
            <a:spAutoFit/>
          </a:bodyPr>
          <a:lstStyle/>
          <a:p>
            <a:pPr algn="r"/>
            <a:r>
              <a:rPr sz="1200" b="1">
                <a:solidFill>
                  <a:srgbClr val="000000"/>
                </a:solidFill>
              </a:rPr>
              <a:t>¥310,000</a:t>
            </a:r>
          </a:p>
        </p:txBody>
      </p:sp>
      <p:sp>
        <p:nvSpPr>
          <p:cNvPr id="12" name="Rectangle 11"/>
          <p:cNvSpPr/>
          <p:nvPr/>
        </p:nvSpPr>
        <p:spPr>
          <a:xfrm>
            <a:off x="457200" y="3218687"/>
            <a:ext cx="352044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355847"/>
            <a:ext cx="2011680" cy="320040"/>
          </a:xfrm>
          <a:prstGeom prst="rect">
            <a:avLst/>
          </a:prstGeom>
          <a:noFill/>
        </p:spPr>
        <p:txBody>
          <a:bodyPr wrap="square">
            <a:spAutoFit/>
          </a:bodyPr>
          <a:lstStyle/>
          <a:p>
            <a:pPr algn="l"/>
            <a:r>
              <a:rPr sz="1100" b="0">
                <a:solidFill>
                  <a:srgbClr val="000000"/>
                </a:solidFill>
              </a:rPr>
              <a:t>中距離（〜500km）</a:t>
            </a:r>
          </a:p>
        </p:txBody>
      </p:sp>
      <p:sp>
        <p:nvSpPr>
          <p:cNvPr id="14" name="TextBox 13"/>
          <p:cNvSpPr txBox="1"/>
          <p:nvPr/>
        </p:nvSpPr>
        <p:spPr>
          <a:xfrm>
            <a:off x="2651760" y="3355847"/>
            <a:ext cx="1188720" cy="320040"/>
          </a:xfrm>
          <a:prstGeom prst="rect">
            <a:avLst/>
          </a:prstGeom>
          <a:noFill/>
        </p:spPr>
        <p:txBody>
          <a:bodyPr wrap="square">
            <a:spAutoFit/>
          </a:bodyPr>
          <a:lstStyle/>
          <a:p>
            <a:pPr algn="r"/>
            <a:r>
              <a:rPr sz="1200" b="1">
                <a:solidFill>
                  <a:srgbClr val="000000"/>
                </a:solidFill>
              </a:rPr>
              <a:t>¥570,000</a:t>
            </a:r>
          </a:p>
        </p:txBody>
      </p:sp>
      <p:sp>
        <p:nvSpPr>
          <p:cNvPr id="15" name="Rectangle 14"/>
          <p:cNvSpPr/>
          <p:nvPr/>
        </p:nvSpPr>
        <p:spPr>
          <a:xfrm>
            <a:off x="457200" y="3858768"/>
            <a:ext cx="3520440" cy="5943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95928"/>
            <a:ext cx="2011680" cy="320040"/>
          </a:xfrm>
          <a:prstGeom prst="rect">
            <a:avLst/>
          </a:prstGeom>
          <a:noFill/>
        </p:spPr>
        <p:txBody>
          <a:bodyPr wrap="square">
            <a:spAutoFit/>
          </a:bodyPr>
          <a:lstStyle/>
          <a:p>
            <a:pPr algn="l"/>
            <a:r>
              <a:rPr sz="1100" b="0">
                <a:solidFill>
                  <a:srgbClr val="000000"/>
                </a:solidFill>
              </a:rPr>
              <a:t>遠距離（〜800km）</a:t>
            </a:r>
          </a:p>
        </p:txBody>
      </p:sp>
      <p:sp>
        <p:nvSpPr>
          <p:cNvPr id="17" name="TextBox 16"/>
          <p:cNvSpPr txBox="1"/>
          <p:nvPr/>
        </p:nvSpPr>
        <p:spPr>
          <a:xfrm>
            <a:off x="2651760" y="3995928"/>
            <a:ext cx="1188720" cy="320040"/>
          </a:xfrm>
          <a:prstGeom prst="rect">
            <a:avLst/>
          </a:prstGeom>
          <a:noFill/>
        </p:spPr>
        <p:txBody>
          <a:bodyPr wrap="square">
            <a:spAutoFit/>
          </a:bodyPr>
          <a:lstStyle/>
          <a:p>
            <a:pPr algn="r"/>
            <a:r>
              <a:rPr sz="1200" b="1">
                <a:solidFill>
                  <a:srgbClr val="000000"/>
                </a:solidFill>
              </a:rPr>
              <a:t>¥840,000</a:t>
            </a:r>
          </a:p>
        </p:txBody>
      </p:sp>
      <p:sp>
        <p:nvSpPr>
          <p:cNvPr id="18" name="Rectangle 17"/>
          <p:cNvSpPr/>
          <p:nvPr/>
        </p:nvSpPr>
        <p:spPr>
          <a:xfrm>
            <a:off x="4160520" y="1965960"/>
            <a:ext cx="352044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59" y="2011680"/>
            <a:ext cx="3337560" cy="411480"/>
          </a:xfrm>
          <a:prstGeom prst="rect">
            <a:avLst/>
          </a:prstGeom>
          <a:noFill/>
        </p:spPr>
        <p:txBody>
          <a:bodyPr wrap="square">
            <a:spAutoFit/>
          </a:bodyPr>
          <a:lstStyle/>
          <a:p>
            <a:pPr algn="l"/>
            <a:r>
              <a:rPr sz="1200" b="1">
                <a:solidFill>
                  <a:srgbClr val="FFFFFF"/>
                </a:solidFill>
              </a:rPr>
              <a:t>ROADIEシリーズ</a:t>
            </a:r>
          </a:p>
          <a:p>
            <a:pPr algn="l"/>
            <a:r>
              <a:rPr sz="1000" b="0">
                <a:solidFill>
                  <a:srgbClr val="DDDDDD"/>
                </a:solidFill>
              </a:rPr>
              <a:t>製造地：千葉</a:t>
            </a:r>
          </a:p>
        </p:txBody>
      </p:sp>
      <p:cxnSp>
        <p:nvCxnSpPr>
          <p:cNvPr id="20" name="Connector 19"/>
          <p:cNvCxnSpPr/>
          <p:nvPr/>
        </p:nvCxnSpPr>
        <p:spPr>
          <a:xfrm>
            <a:off x="4160520" y="2468880"/>
            <a:ext cx="35204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160520" y="2578608"/>
            <a:ext cx="3520440" cy="5943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1959" y="2715768"/>
            <a:ext cx="2011680" cy="320040"/>
          </a:xfrm>
          <a:prstGeom prst="rect">
            <a:avLst/>
          </a:prstGeom>
          <a:noFill/>
        </p:spPr>
        <p:txBody>
          <a:bodyPr wrap="square">
            <a:spAutoFit/>
          </a:bodyPr>
          <a:lstStyle/>
          <a:p>
            <a:pPr algn="l"/>
            <a:r>
              <a:rPr sz="1100" b="0">
                <a:solidFill>
                  <a:srgbClr val="000000"/>
                </a:solidFill>
              </a:rPr>
              <a:t>短距離（〜200km）</a:t>
            </a:r>
          </a:p>
        </p:txBody>
      </p:sp>
      <p:sp>
        <p:nvSpPr>
          <p:cNvPr id="23" name="TextBox 22"/>
          <p:cNvSpPr txBox="1"/>
          <p:nvPr/>
        </p:nvSpPr>
        <p:spPr>
          <a:xfrm>
            <a:off x="6355079" y="2715768"/>
            <a:ext cx="1188720" cy="320040"/>
          </a:xfrm>
          <a:prstGeom prst="rect">
            <a:avLst/>
          </a:prstGeom>
          <a:noFill/>
        </p:spPr>
        <p:txBody>
          <a:bodyPr wrap="square">
            <a:spAutoFit/>
          </a:bodyPr>
          <a:lstStyle/>
          <a:p>
            <a:pPr algn="r"/>
            <a:r>
              <a:rPr sz="1200" b="1">
                <a:solidFill>
                  <a:srgbClr val="000000"/>
                </a:solidFill>
              </a:rPr>
              <a:t>¥310,000</a:t>
            </a:r>
          </a:p>
        </p:txBody>
      </p:sp>
      <p:sp>
        <p:nvSpPr>
          <p:cNvPr id="24" name="Rectangle 23"/>
          <p:cNvSpPr/>
          <p:nvPr/>
        </p:nvSpPr>
        <p:spPr>
          <a:xfrm>
            <a:off x="4160520" y="3218687"/>
            <a:ext cx="352044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59" y="3355847"/>
            <a:ext cx="2011680" cy="320040"/>
          </a:xfrm>
          <a:prstGeom prst="rect">
            <a:avLst/>
          </a:prstGeom>
          <a:noFill/>
        </p:spPr>
        <p:txBody>
          <a:bodyPr wrap="square">
            <a:spAutoFit/>
          </a:bodyPr>
          <a:lstStyle/>
          <a:p>
            <a:pPr algn="l"/>
            <a:r>
              <a:rPr sz="1100" b="0">
                <a:solidFill>
                  <a:srgbClr val="000000"/>
                </a:solidFill>
              </a:rPr>
              <a:t>中距離（〜500km）</a:t>
            </a:r>
          </a:p>
        </p:txBody>
      </p:sp>
      <p:sp>
        <p:nvSpPr>
          <p:cNvPr id="26" name="TextBox 25"/>
          <p:cNvSpPr txBox="1"/>
          <p:nvPr/>
        </p:nvSpPr>
        <p:spPr>
          <a:xfrm>
            <a:off x="6355079" y="3355847"/>
            <a:ext cx="1188720" cy="320040"/>
          </a:xfrm>
          <a:prstGeom prst="rect">
            <a:avLst/>
          </a:prstGeom>
          <a:noFill/>
        </p:spPr>
        <p:txBody>
          <a:bodyPr wrap="square">
            <a:spAutoFit/>
          </a:bodyPr>
          <a:lstStyle/>
          <a:p>
            <a:pPr algn="r"/>
            <a:r>
              <a:rPr sz="1200" b="1">
                <a:solidFill>
                  <a:srgbClr val="000000"/>
                </a:solidFill>
              </a:rPr>
              <a:t>¥570,000</a:t>
            </a:r>
          </a:p>
        </p:txBody>
      </p:sp>
      <p:sp>
        <p:nvSpPr>
          <p:cNvPr id="27" name="Rectangle 26"/>
          <p:cNvSpPr/>
          <p:nvPr/>
        </p:nvSpPr>
        <p:spPr>
          <a:xfrm>
            <a:off x="4160520" y="3858768"/>
            <a:ext cx="3520440" cy="5943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51959" y="3995928"/>
            <a:ext cx="2011680" cy="320040"/>
          </a:xfrm>
          <a:prstGeom prst="rect">
            <a:avLst/>
          </a:prstGeom>
          <a:noFill/>
        </p:spPr>
        <p:txBody>
          <a:bodyPr wrap="square">
            <a:spAutoFit/>
          </a:bodyPr>
          <a:lstStyle/>
          <a:p>
            <a:pPr algn="l"/>
            <a:r>
              <a:rPr sz="1100" b="0">
                <a:solidFill>
                  <a:srgbClr val="000000"/>
                </a:solidFill>
              </a:rPr>
              <a:t>遠距離（〜800km）</a:t>
            </a:r>
          </a:p>
        </p:txBody>
      </p:sp>
      <p:sp>
        <p:nvSpPr>
          <p:cNvPr id="29" name="TextBox 28"/>
          <p:cNvSpPr txBox="1"/>
          <p:nvPr/>
        </p:nvSpPr>
        <p:spPr>
          <a:xfrm>
            <a:off x="6355079" y="3995928"/>
            <a:ext cx="1188720" cy="320040"/>
          </a:xfrm>
          <a:prstGeom prst="rect">
            <a:avLst/>
          </a:prstGeom>
          <a:noFill/>
        </p:spPr>
        <p:txBody>
          <a:bodyPr wrap="square">
            <a:spAutoFit/>
          </a:bodyPr>
          <a:lstStyle/>
          <a:p>
            <a:pPr algn="r"/>
            <a:r>
              <a:rPr sz="1200" b="1">
                <a:solidFill>
                  <a:srgbClr val="000000"/>
                </a:solidFill>
              </a:rPr>
              <a:t>¥840,000</a:t>
            </a:r>
          </a:p>
        </p:txBody>
      </p:sp>
      <p:sp>
        <p:nvSpPr>
          <p:cNvPr id="30" name="Rectangle 29"/>
          <p:cNvSpPr/>
          <p:nvPr/>
        </p:nvSpPr>
        <p:spPr>
          <a:xfrm>
            <a:off x="7863840" y="1965960"/>
            <a:ext cx="352044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79" y="2011680"/>
            <a:ext cx="3337560" cy="411480"/>
          </a:xfrm>
          <a:prstGeom prst="rect">
            <a:avLst/>
          </a:prstGeom>
          <a:noFill/>
        </p:spPr>
        <p:txBody>
          <a:bodyPr wrap="square">
            <a:spAutoFit/>
          </a:bodyPr>
          <a:lstStyle/>
          <a:p>
            <a:pPr algn="l"/>
            <a:r>
              <a:rPr sz="1200" b="1">
                <a:solidFill>
                  <a:srgbClr val="FFFFFF"/>
                </a:solidFill>
              </a:rPr>
              <a:t>MIGRAシリーズ</a:t>
            </a:r>
          </a:p>
          <a:p>
            <a:pPr algn="l"/>
            <a:r>
              <a:rPr sz="1000" b="0">
                <a:solidFill>
                  <a:srgbClr val="DDDDDD"/>
                </a:solidFill>
              </a:rPr>
              <a:t>製造地：要確認</a:t>
            </a:r>
          </a:p>
        </p:txBody>
      </p:sp>
      <p:cxnSp>
        <p:nvCxnSpPr>
          <p:cNvPr id="32" name="Connector 31"/>
          <p:cNvCxnSpPr/>
          <p:nvPr/>
        </p:nvCxnSpPr>
        <p:spPr>
          <a:xfrm>
            <a:off x="7863840" y="2468880"/>
            <a:ext cx="35204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863840" y="2578608"/>
            <a:ext cx="3520440" cy="5943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55279" y="2715768"/>
            <a:ext cx="2011680" cy="320040"/>
          </a:xfrm>
          <a:prstGeom prst="rect">
            <a:avLst/>
          </a:prstGeom>
          <a:noFill/>
        </p:spPr>
        <p:txBody>
          <a:bodyPr wrap="square">
            <a:spAutoFit/>
          </a:bodyPr>
          <a:lstStyle/>
          <a:p>
            <a:pPr algn="l"/>
            <a:r>
              <a:rPr sz="1100" b="0">
                <a:solidFill>
                  <a:srgbClr val="000000"/>
                </a:solidFill>
              </a:rPr>
              <a:t>短距離（〜200km）</a:t>
            </a:r>
          </a:p>
        </p:txBody>
      </p:sp>
      <p:sp>
        <p:nvSpPr>
          <p:cNvPr id="35" name="TextBox 34"/>
          <p:cNvSpPr txBox="1"/>
          <p:nvPr/>
        </p:nvSpPr>
        <p:spPr>
          <a:xfrm>
            <a:off x="10058400" y="2715768"/>
            <a:ext cx="1188720" cy="320040"/>
          </a:xfrm>
          <a:prstGeom prst="rect">
            <a:avLst/>
          </a:prstGeom>
          <a:noFill/>
        </p:spPr>
        <p:txBody>
          <a:bodyPr wrap="square">
            <a:spAutoFit/>
          </a:bodyPr>
          <a:lstStyle/>
          <a:p>
            <a:pPr algn="r"/>
            <a:r>
              <a:rPr sz="1200" b="1">
                <a:solidFill>
                  <a:srgbClr val="000000"/>
                </a:solidFill>
              </a:rPr>
              <a:t>¥310,000</a:t>
            </a:r>
          </a:p>
        </p:txBody>
      </p:sp>
      <p:sp>
        <p:nvSpPr>
          <p:cNvPr id="36" name="Rectangle 35"/>
          <p:cNvSpPr/>
          <p:nvPr/>
        </p:nvSpPr>
        <p:spPr>
          <a:xfrm>
            <a:off x="7863840" y="3218687"/>
            <a:ext cx="352044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79" y="3355847"/>
            <a:ext cx="2011680" cy="320040"/>
          </a:xfrm>
          <a:prstGeom prst="rect">
            <a:avLst/>
          </a:prstGeom>
          <a:noFill/>
        </p:spPr>
        <p:txBody>
          <a:bodyPr wrap="square">
            <a:spAutoFit/>
          </a:bodyPr>
          <a:lstStyle/>
          <a:p>
            <a:pPr algn="l"/>
            <a:r>
              <a:rPr sz="1100" b="0">
                <a:solidFill>
                  <a:srgbClr val="000000"/>
                </a:solidFill>
              </a:rPr>
              <a:t>中距離（〜500km）</a:t>
            </a:r>
          </a:p>
        </p:txBody>
      </p:sp>
      <p:sp>
        <p:nvSpPr>
          <p:cNvPr id="38" name="TextBox 37"/>
          <p:cNvSpPr txBox="1"/>
          <p:nvPr/>
        </p:nvSpPr>
        <p:spPr>
          <a:xfrm>
            <a:off x="10058400" y="3355847"/>
            <a:ext cx="1188720" cy="320040"/>
          </a:xfrm>
          <a:prstGeom prst="rect">
            <a:avLst/>
          </a:prstGeom>
          <a:noFill/>
        </p:spPr>
        <p:txBody>
          <a:bodyPr wrap="square">
            <a:spAutoFit/>
          </a:bodyPr>
          <a:lstStyle/>
          <a:p>
            <a:pPr algn="r"/>
            <a:r>
              <a:rPr sz="1200" b="1">
                <a:solidFill>
                  <a:srgbClr val="000000"/>
                </a:solidFill>
              </a:rPr>
              <a:t>¥570,000</a:t>
            </a:r>
          </a:p>
        </p:txBody>
      </p:sp>
      <p:sp>
        <p:nvSpPr>
          <p:cNvPr id="39" name="Rectangle 38"/>
          <p:cNvSpPr/>
          <p:nvPr/>
        </p:nvSpPr>
        <p:spPr>
          <a:xfrm>
            <a:off x="7863840" y="3858768"/>
            <a:ext cx="3520440" cy="59436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79" y="3995928"/>
            <a:ext cx="2011680" cy="320040"/>
          </a:xfrm>
          <a:prstGeom prst="rect">
            <a:avLst/>
          </a:prstGeom>
          <a:noFill/>
        </p:spPr>
        <p:txBody>
          <a:bodyPr wrap="square">
            <a:spAutoFit/>
          </a:bodyPr>
          <a:lstStyle/>
          <a:p>
            <a:pPr algn="l"/>
            <a:r>
              <a:rPr sz="1100" b="0">
                <a:solidFill>
                  <a:srgbClr val="000000"/>
                </a:solidFill>
              </a:rPr>
              <a:t>遠距離（〜800km）</a:t>
            </a:r>
          </a:p>
        </p:txBody>
      </p:sp>
      <p:sp>
        <p:nvSpPr>
          <p:cNvPr id="41" name="TextBox 40"/>
          <p:cNvSpPr txBox="1"/>
          <p:nvPr/>
        </p:nvSpPr>
        <p:spPr>
          <a:xfrm>
            <a:off x="10058400" y="3995928"/>
            <a:ext cx="1188720" cy="320040"/>
          </a:xfrm>
          <a:prstGeom prst="rect">
            <a:avLst/>
          </a:prstGeom>
          <a:noFill/>
        </p:spPr>
        <p:txBody>
          <a:bodyPr wrap="square">
            <a:spAutoFit/>
          </a:bodyPr>
          <a:lstStyle/>
          <a:p>
            <a:pPr algn="r"/>
            <a:r>
              <a:rPr sz="1200" b="1">
                <a:solidFill>
                  <a:srgbClr val="000000"/>
                </a:solidFill>
              </a:rPr>
              <a:t>¥840,000</a:t>
            </a:r>
          </a:p>
        </p:txBody>
      </p:sp>
      <p:sp>
        <p:nvSpPr>
          <p:cNvPr id="42" name="TextBox 41"/>
          <p:cNvSpPr txBox="1"/>
          <p:nvPr/>
        </p:nvSpPr>
        <p:spPr>
          <a:xfrm>
            <a:off x="457200" y="4937760"/>
            <a:ext cx="11247120" cy="365760"/>
          </a:xfrm>
          <a:prstGeom prst="rect">
            <a:avLst/>
          </a:prstGeom>
          <a:noFill/>
        </p:spPr>
        <p:txBody>
          <a:bodyPr wrap="square">
            <a:spAutoFit/>
          </a:bodyPr>
          <a:lstStyle/>
          <a:p>
            <a:pPr algn="l"/>
            <a:r>
              <a:rPr sz="1000" b="0">
                <a:solidFill>
                  <a:srgbClr val="999999"/>
                </a:solidFill>
              </a:rPr>
              <a:t>※MIGRAシリーズは大型モデルのため、特殊車両許可が必要な場合があります。別途お見積もりをご案内します。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収益シミュレーション</a:t>
            </a:r>
          </a:p>
        </p:txBody>
      </p:sp>
      <p:sp>
        <p:nvSpPr>
          <p:cNvPr id="3" name="TextBox 2"/>
          <p:cNvSpPr txBox="1"/>
          <p:nvPr/>
        </p:nvSpPr>
        <p:spPr>
          <a:xfrm>
            <a:off x="457200" y="914400"/>
            <a:ext cx="7315200" cy="365760"/>
          </a:xfrm>
          <a:prstGeom prst="rect">
            <a:avLst/>
          </a:prstGeom>
          <a:noFill/>
        </p:spPr>
        <p:txBody>
          <a:bodyPr wrap="square">
            <a:spAutoFit/>
          </a:bodyPr>
          <a:lstStyle/>
          <a:p>
            <a:pPr algn="l"/>
            <a:r>
              <a:rPr sz="1400" b="0">
                <a:solidFill>
                  <a:srgbClr val="999999"/>
                </a:solidFill>
              </a:rPr>
              <a:t>グランピング施設への1台導入モデルケース（ROADIE）</a:t>
            </a:r>
          </a:p>
        </p:txBody>
      </p:sp>
      <p:cxnSp>
        <p:nvCxnSpPr>
          <p:cNvPr id="4" name="Connector 3"/>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188720"/>
            <a:ext cx="5303520" cy="5029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937760" cy="365760"/>
          </a:xfrm>
          <a:prstGeom prst="rect">
            <a:avLst/>
          </a:prstGeom>
          <a:noFill/>
        </p:spPr>
        <p:txBody>
          <a:bodyPr wrap="square">
            <a:spAutoFit/>
          </a:bodyPr>
          <a:lstStyle/>
          <a:p>
            <a:pPr algn="l"/>
            <a:r>
              <a:rPr sz="1400" b="1">
                <a:solidFill>
                  <a:srgbClr val="000000"/>
                </a:solidFill>
              </a:rPr>
              <a:t>【初期投資】</a:t>
            </a:r>
          </a:p>
        </p:txBody>
      </p:sp>
      <p:cxnSp>
        <p:nvCxnSpPr>
          <p:cNvPr id="7" name="Connector 6"/>
          <p:cNvCxnSpPr/>
          <p:nvPr/>
        </p:nvCxnSpPr>
        <p:spPr>
          <a:xfrm>
            <a:off x="640080" y="1783080"/>
            <a:ext cx="49377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1920240"/>
            <a:ext cx="4937760" cy="3200400"/>
          </a:xfrm>
          <a:prstGeom prst="rect">
            <a:avLst/>
          </a:prstGeom>
          <a:noFill/>
        </p:spPr>
        <p:txBody>
          <a:bodyPr wrap="square">
            <a:spAutoFit/>
          </a:bodyPr>
          <a:lstStyle/>
          <a:p>
            <a:pPr algn="l">
              <a:spcBef>
                <a:spcPts val="400"/>
              </a:spcBef>
            </a:pPr>
            <a:r>
              <a:rPr sz="1200" b="0">
                <a:solidFill>
                  <a:srgbClr val="000000"/>
                </a:solidFill>
              </a:rPr>
              <a:t>ROADIE 本体価格</a:t>
            </a:r>
          </a:p>
          <a:p>
            <a:pPr algn="l">
              <a:spcBef>
                <a:spcPts val="400"/>
              </a:spcBef>
            </a:pPr>
            <a:r>
              <a:rPr sz="1200" b="0">
                <a:solidFill>
                  <a:srgbClr val="000000"/>
                </a:solidFill>
              </a:rPr>
              <a:t>輸送費（中距離想定）</a:t>
            </a:r>
          </a:p>
          <a:p>
            <a:pPr algn="l">
              <a:spcBef>
                <a:spcPts val="400"/>
              </a:spcBef>
            </a:pPr>
            <a:r>
              <a:rPr sz="1200" b="0">
                <a:solidFill>
                  <a:srgbClr val="000000"/>
                </a:solidFill>
              </a:rPr>
              <a:t>設置・造成工事（概算）</a:t>
            </a:r>
          </a:p>
          <a:p>
            <a:pPr algn="l">
              <a:spcBef>
                <a:spcPts val="400"/>
              </a:spcBef>
            </a:pPr>
            <a:r>
              <a:rPr sz="1200" b="0">
                <a:solidFill>
                  <a:srgbClr val="000000"/>
                </a:solidFill>
              </a:rPr>
              <a:t>カスタム・オプション（概算）</a:t>
            </a:r>
          </a:p>
        </p:txBody>
      </p:sp>
      <p:sp>
        <p:nvSpPr>
          <p:cNvPr id="9" name="TextBox 8"/>
          <p:cNvSpPr txBox="1"/>
          <p:nvPr/>
        </p:nvSpPr>
        <p:spPr>
          <a:xfrm>
            <a:off x="640080" y="0"/>
            <a:ext cx="4937760" cy="91440"/>
          </a:xfrm>
          <a:prstGeom prst="rect">
            <a:avLst/>
          </a:prstGeom>
          <a:noFill/>
        </p:spPr>
        <p:txBody>
          <a:bodyPr wrap="square">
            <a:spAutoFit/>
          </a:bodyPr>
          <a:lstStyle/>
          <a:p/>
        </p:txBody>
      </p:sp>
      <p:sp>
        <p:nvSpPr>
          <p:cNvPr id="10" name="TextBox 9"/>
          <p:cNvSpPr txBox="1"/>
          <p:nvPr/>
        </p:nvSpPr>
        <p:spPr>
          <a:xfrm>
            <a:off x="640080" y="0"/>
            <a:ext cx="4937760" cy="91440"/>
          </a:xfrm>
          <a:prstGeom prst="rect">
            <a:avLst/>
          </a:prstGeom>
          <a:noFill/>
        </p:spPr>
        <p:txBody>
          <a:bodyPr wrap="square">
            <a:spAutoFit/>
          </a:bodyPr>
          <a:lstStyle/>
          <a:p/>
        </p:txBody>
      </p:sp>
      <p:sp>
        <p:nvSpPr>
          <p:cNvPr id="11" name="TextBox 10"/>
          <p:cNvSpPr txBox="1"/>
          <p:nvPr/>
        </p:nvSpPr>
        <p:spPr>
          <a:xfrm>
            <a:off x="640080" y="0"/>
            <a:ext cx="4937760" cy="91440"/>
          </a:xfrm>
          <a:prstGeom prst="rect">
            <a:avLst/>
          </a:prstGeom>
          <a:noFill/>
        </p:spPr>
        <p:txBody>
          <a:bodyPr wrap="square">
            <a:spAutoFit/>
          </a:bodyPr>
          <a:lstStyle/>
          <a:p/>
        </p:txBody>
      </p:sp>
      <p:sp>
        <p:nvSpPr>
          <p:cNvPr id="12" name="TextBox 11"/>
          <p:cNvSpPr txBox="1"/>
          <p:nvPr/>
        </p:nvSpPr>
        <p:spPr>
          <a:xfrm>
            <a:off x="640080" y="0"/>
            <a:ext cx="4937760" cy="91440"/>
          </a:xfrm>
          <a:prstGeom prst="rect">
            <a:avLst/>
          </a:prstGeom>
          <a:noFill/>
        </p:spPr>
        <p:txBody>
          <a:bodyPr wrap="square">
            <a:spAutoFit/>
          </a:bodyPr>
          <a:lstStyle/>
          <a:p/>
        </p:txBody>
      </p:sp>
      <p:sp>
        <p:nvSpPr>
          <p:cNvPr id="13" name="TextBox 12"/>
          <p:cNvSpPr txBox="1"/>
          <p:nvPr/>
        </p:nvSpPr>
        <p:spPr>
          <a:xfrm>
            <a:off x="731520" y="1920240"/>
            <a:ext cx="3474720" cy="347472"/>
          </a:xfrm>
          <a:prstGeom prst="rect">
            <a:avLst/>
          </a:prstGeom>
          <a:noFill/>
        </p:spPr>
        <p:txBody>
          <a:bodyPr wrap="square">
            <a:spAutoFit/>
          </a:bodyPr>
          <a:lstStyle/>
          <a:p>
            <a:pPr algn="l"/>
            <a:r>
              <a:rPr sz="1200" b="0">
                <a:solidFill>
                  <a:srgbClr val="333333"/>
                </a:solidFill>
              </a:rPr>
              <a:t>ROADIE 本体価格</a:t>
            </a:r>
          </a:p>
        </p:txBody>
      </p:sp>
      <p:sp>
        <p:nvSpPr>
          <p:cNvPr id="14" name="TextBox 13"/>
          <p:cNvSpPr txBox="1"/>
          <p:nvPr/>
        </p:nvSpPr>
        <p:spPr>
          <a:xfrm>
            <a:off x="3840480" y="1920240"/>
            <a:ext cx="1554480" cy="347472"/>
          </a:xfrm>
          <a:prstGeom prst="rect">
            <a:avLst/>
          </a:prstGeom>
          <a:noFill/>
        </p:spPr>
        <p:txBody>
          <a:bodyPr wrap="square">
            <a:spAutoFit/>
          </a:bodyPr>
          <a:lstStyle/>
          <a:p>
            <a:pPr algn="r"/>
            <a:r>
              <a:rPr sz="1200" b="0">
                <a:solidFill>
                  <a:srgbClr val="000000"/>
                </a:solidFill>
              </a:rPr>
              <a:t>¥10,250,000</a:t>
            </a:r>
          </a:p>
        </p:txBody>
      </p:sp>
      <p:sp>
        <p:nvSpPr>
          <p:cNvPr id="15" name="TextBox 14"/>
          <p:cNvSpPr txBox="1"/>
          <p:nvPr/>
        </p:nvSpPr>
        <p:spPr>
          <a:xfrm>
            <a:off x="731520" y="2322576"/>
            <a:ext cx="3474720" cy="347472"/>
          </a:xfrm>
          <a:prstGeom prst="rect">
            <a:avLst/>
          </a:prstGeom>
          <a:noFill/>
        </p:spPr>
        <p:txBody>
          <a:bodyPr wrap="square">
            <a:spAutoFit/>
          </a:bodyPr>
          <a:lstStyle/>
          <a:p>
            <a:pPr algn="l"/>
            <a:r>
              <a:rPr sz="1200" b="0">
                <a:solidFill>
                  <a:srgbClr val="333333"/>
                </a:solidFill>
              </a:rPr>
              <a:t>輸送費（中距離想定）</a:t>
            </a:r>
          </a:p>
        </p:txBody>
      </p:sp>
      <p:sp>
        <p:nvSpPr>
          <p:cNvPr id="16" name="TextBox 15"/>
          <p:cNvSpPr txBox="1"/>
          <p:nvPr/>
        </p:nvSpPr>
        <p:spPr>
          <a:xfrm>
            <a:off x="3840480" y="2322576"/>
            <a:ext cx="1554480" cy="347472"/>
          </a:xfrm>
          <a:prstGeom prst="rect">
            <a:avLst/>
          </a:prstGeom>
          <a:noFill/>
        </p:spPr>
        <p:txBody>
          <a:bodyPr wrap="square">
            <a:spAutoFit/>
          </a:bodyPr>
          <a:lstStyle/>
          <a:p>
            <a:pPr algn="r"/>
            <a:r>
              <a:rPr sz="1200" b="0">
                <a:solidFill>
                  <a:srgbClr val="000000"/>
                </a:solidFill>
              </a:rPr>
              <a:t>¥570,000</a:t>
            </a:r>
          </a:p>
        </p:txBody>
      </p:sp>
      <p:sp>
        <p:nvSpPr>
          <p:cNvPr id="17" name="TextBox 16"/>
          <p:cNvSpPr txBox="1"/>
          <p:nvPr/>
        </p:nvSpPr>
        <p:spPr>
          <a:xfrm>
            <a:off x="731520" y="2724912"/>
            <a:ext cx="3474720" cy="347472"/>
          </a:xfrm>
          <a:prstGeom prst="rect">
            <a:avLst/>
          </a:prstGeom>
          <a:noFill/>
        </p:spPr>
        <p:txBody>
          <a:bodyPr wrap="square">
            <a:spAutoFit/>
          </a:bodyPr>
          <a:lstStyle/>
          <a:p>
            <a:pPr algn="l"/>
            <a:r>
              <a:rPr sz="1200" b="0">
                <a:solidFill>
                  <a:srgbClr val="333333"/>
                </a:solidFill>
              </a:rPr>
              <a:t>設置・造成工事（概算）</a:t>
            </a:r>
          </a:p>
        </p:txBody>
      </p:sp>
      <p:sp>
        <p:nvSpPr>
          <p:cNvPr id="18" name="TextBox 17"/>
          <p:cNvSpPr txBox="1"/>
          <p:nvPr/>
        </p:nvSpPr>
        <p:spPr>
          <a:xfrm>
            <a:off x="3840480" y="2724912"/>
            <a:ext cx="1554480" cy="347472"/>
          </a:xfrm>
          <a:prstGeom prst="rect">
            <a:avLst/>
          </a:prstGeom>
          <a:noFill/>
        </p:spPr>
        <p:txBody>
          <a:bodyPr wrap="square">
            <a:spAutoFit/>
          </a:bodyPr>
          <a:lstStyle/>
          <a:p>
            <a:pPr algn="r"/>
            <a:r>
              <a:rPr sz="1200" b="0">
                <a:solidFill>
                  <a:srgbClr val="000000"/>
                </a:solidFill>
              </a:rPr>
              <a:t>¥500,000</a:t>
            </a:r>
          </a:p>
        </p:txBody>
      </p:sp>
      <p:sp>
        <p:nvSpPr>
          <p:cNvPr id="19" name="TextBox 18"/>
          <p:cNvSpPr txBox="1"/>
          <p:nvPr/>
        </p:nvSpPr>
        <p:spPr>
          <a:xfrm>
            <a:off x="731520" y="3127248"/>
            <a:ext cx="3474720" cy="347472"/>
          </a:xfrm>
          <a:prstGeom prst="rect">
            <a:avLst/>
          </a:prstGeom>
          <a:noFill/>
        </p:spPr>
        <p:txBody>
          <a:bodyPr wrap="square">
            <a:spAutoFit/>
          </a:bodyPr>
          <a:lstStyle/>
          <a:p>
            <a:pPr algn="l"/>
            <a:r>
              <a:rPr sz="1200" b="0">
                <a:solidFill>
                  <a:srgbClr val="333333"/>
                </a:solidFill>
              </a:rPr>
              <a:t>カスタム・オプション（概算）</a:t>
            </a:r>
          </a:p>
        </p:txBody>
      </p:sp>
      <p:sp>
        <p:nvSpPr>
          <p:cNvPr id="20" name="TextBox 19"/>
          <p:cNvSpPr txBox="1"/>
          <p:nvPr/>
        </p:nvSpPr>
        <p:spPr>
          <a:xfrm>
            <a:off x="3840480" y="3127248"/>
            <a:ext cx="1554480" cy="347472"/>
          </a:xfrm>
          <a:prstGeom prst="rect">
            <a:avLst/>
          </a:prstGeom>
          <a:noFill/>
        </p:spPr>
        <p:txBody>
          <a:bodyPr wrap="square">
            <a:spAutoFit/>
          </a:bodyPr>
          <a:lstStyle/>
          <a:p>
            <a:pPr algn="r"/>
            <a:r>
              <a:rPr sz="1200" b="0">
                <a:solidFill>
                  <a:srgbClr val="000000"/>
                </a:solidFill>
              </a:rPr>
              <a:t>¥500,000</a:t>
            </a:r>
          </a:p>
        </p:txBody>
      </p:sp>
      <p:cxnSp>
        <p:nvCxnSpPr>
          <p:cNvPr id="21" name="Connector 20"/>
          <p:cNvCxnSpPr/>
          <p:nvPr/>
        </p:nvCxnSpPr>
        <p:spPr>
          <a:xfrm>
            <a:off x="640080" y="3575303"/>
            <a:ext cx="49377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3639312"/>
            <a:ext cx="3474720" cy="411480"/>
          </a:xfrm>
          <a:prstGeom prst="rect">
            <a:avLst/>
          </a:prstGeom>
          <a:noFill/>
        </p:spPr>
        <p:txBody>
          <a:bodyPr wrap="square">
            <a:spAutoFit/>
          </a:bodyPr>
          <a:lstStyle/>
          <a:p>
            <a:pPr algn="l"/>
            <a:r>
              <a:rPr sz="1400" b="1">
                <a:solidFill>
                  <a:srgbClr val="000000"/>
                </a:solidFill>
              </a:rPr>
              <a:t>初期投資合計</a:t>
            </a:r>
          </a:p>
        </p:txBody>
      </p:sp>
      <p:sp>
        <p:nvSpPr>
          <p:cNvPr id="23" name="TextBox 22"/>
          <p:cNvSpPr txBox="1"/>
          <p:nvPr/>
        </p:nvSpPr>
        <p:spPr>
          <a:xfrm>
            <a:off x="3200400" y="3639312"/>
            <a:ext cx="2194560" cy="411480"/>
          </a:xfrm>
          <a:prstGeom prst="rect">
            <a:avLst/>
          </a:prstGeom>
          <a:noFill/>
        </p:spPr>
        <p:txBody>
          <a:bodyPr wrap="square">
            <a:spAutoFit/>
          </a:bodyPr>
          <a:lstStyle/>
          <a:p>
            <a:pPr algn="r"/>
            <a:r>
              <a:rPr sz="1400" b="1">
                <a:solidFill>
                  <a:srgbClr val="000000"/>
                </a:solidFill>
              </a:rPr>
              <a:t>¥11,820,000</a:t>
            </a:r>
          </a:p>
        </p:txBody>
      </p:sp>
      <p:sp>
        <p:nvSpPr>
          <p:cNvPr id="24" name="Rectangle 23"/>
          <p:cNvSpPr/>
          <p:nvPr/>
        </p:nvSpPr>
        <p:spPr>
          <a:xfrm>
            <a:off x="6217920" y="1188720"/>
            <a:ext cx="5486400" cy="5029200"/>
          </a:xfrm>
          <a:prstGeom prst="rect">
            <a:avLst/>
          </a:prstGeom>
          <a:solidFill>
            <a:srgbClr val="F0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1371600"/>
            <a:ext cx="5120640" cy="365760"/>
          </a:xfrm>
          <a:prstGeom prst="rect">
            <a:avLst/>
          </a:prstGeom>
          <a:noFill/>
        </p:spPr>
        <p:txBody>
          <a:bodyPr wrap="square">
            <a:spAutoFit/>
          </a:bodyPr>
          <a:lstStyle/>
          <a:p>
            <a:pPr algn="l"/>
            <a:r>
              <a:rPr sz="1400" b="1">
                <a:solidFill>
                  <a:srgbClr val="000000"/>
                </a:solidFill>
              </a:rPr>
              <a:t>【年間収益シミュレーション】</a:t>
            </a:r>
          </a:p>
        </p:txBody>
      </p:sp>
      <p:cxnSp>
        <p:nvCxnSpPr>
          <p:cNvPr id="26" name="Connector 25"/>
          <p:cNvCxnSpPr/>
          <p:nvPr/>
        </p:nvCxnSpPr>
        <p:spPr>
          <a:xfrm>
            <a:off x="6400800" y="1783080"/>
            <a:ext cx="51206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92240" y="1965960"/>
            <a:ext cx="2743200" cy="365760"/>
          </a:xfrm>
          <a:prstGeom prst="rect">
            <a:avLst/>
          </a:prstGeom>
          <a:noFill/>
        </p:spPr>
        <p:txBody>
          <a:bodyPr wrap="square">
            <a:spAutoFit/>
          </a:bodyPr>
          <a:lstStyle/>
          <a:p>
            <a:pPr algn="l"/>
            <a:r>
              <a:rPr sz="1200" b="0">
                <a:solidFill>
                  <a:srgbClr val="333333"/>
                </a:solidFill>
              </a:rPr>
              <a:t>宿泊単価</a:t>
            </a:r>
          </a:p>
        </p:txBody>
      </p:sp>
      <p:sp>
        <p:nvSpPr>
          <p:cNvPr id="28" name="TextBox 27"/>
          <p:cNvSpPr txBox="1"/>
          <p:nvPr/>
        </p:nvSpPr>
        <p:spPr>
          <a:xfrm>
            <a:off x="8686800" y="1965960"/>
            <a:ext cx="2743200" cy="365760"/>
          </a:xfrm>
          <a:prstGeom prst="rect">
            <a:avLst/>
          </a:prstGeom>
          <a:noFill/>
        </p:spPr>
        <p:txBody>
          <a:bodyPr wrap="square">
            <a:spAutoFit/>
          </a:bodyPr>
          <a:lstStyle/>
          <a:p>
            <a:pPr algn="r"/>
            <a:r>
              <a:rPr sz="1200" b="0">
                <a:solidFill>
                  <a:srgbClr val="000000"/>
                </a:solidFill>
              </a:rPr>
              <a:t>¥25,000 ／泊</a:t>
            </a:r>
          </a:p>
        </p:txBody>
      </p:sp>
      <p:sp>
        <p:nvSpPr>
          <p:cNvPr id="29" name="TextBox 28"/>
          <p:cNvSpPr txBox="1"/>
          <p:nvPr/>
        </p:nvSpPr>
        <p:spPr>
          <a:xfrm>
            <a:off x="6492240" y="2423160"/>
            <a:ext cx="2743200" cy="365760"/>
          </a:xfrm>
          <a:prstGeom prst="rect">
            <a:avLst/>
          </a:prstGeom>
          <a:noFill/>
        </p:spPr>
        <p:txBody>
          <a:bodyPr wrap="square">
            <a:spAutoFit/>
          </a:bodyPr>
          <a:lstStyle/>
          <a:p>
            <a:pPr algn="l"/>
            <a:r>
              <a:rPr sz="1200" b="0">
                <a:solidFill>
                  <a:srgbClr val="333333"/>
                </a:solidFill>
              </a:rPr>
              <a:t>稼働率</a:t>
            </a:r>
          </a:p>
        </p:txBody>
      </p:sp>
      <p:sp>
        <p:nvSpPr>
          <p:cNvPr id="30" name="TextBox 29"/>
          <p:cNvSpPr txBox="1"/>
          <p:nvPr/>
        </p:nvSpPr>
        <p:spPr>
          <a:xfrm>
            <a:off x="8686800" y="2423160"/>
            <a:ext cx="2743200" cy="365760"/>
          </a:xfrm>
          <a:prstGeom prst="rect">
            <a:avLst/>
          </a:prstGeom>
          <a:noFill/>
        </p:spPr>
        <p:txBody>
          <a:bodyPr wrap="square">
            <a:spAutoFit/>
          </a:bodyPr>
          <a:lstStyle/>
          <a:p>
            <a:pPr algn="r"/>
            <a:r>
              <a:rPr sz="1200" b="0">
                <a:solidFill>
                  <a:srgbClr val="000000"/>
                </a:solidFill>
              </a:rPr>
              <a:t>60%（年間219泊）</a:t>
            </a:r>
          </a:p>
        </p:txBody>
      </p:sp>
      <p:sp>
        <p:nvSpPr>
          <p:cNvPr id="31" name="TextBox 30"/>
          <p:cNvSpPr txBox="1"/>
          <p:nvPr/>
        </p:nvSpPr>
        <p:spPr>
          <a:xfrm>
            <a:off x="6492240" y="2880360"/>
            <a:ext cx="2743200" cy="365760"/>
          </a:xfrm>
          <a:prstGeom prst="rect">
            <a:avLst/>
          </a:prstGeom>
          <a:noFill/>
        </p:spPr>
        <p:txBody>
          <a:bodyPr wrap="square">
            <a:spAutoFit/>
          </a:bodyPr>
          <a:lstStyle/>
          <a:p>
            <a:pPr algn="l"/>
            <a:r>
              <a:rPr sz="1200" b="0">
                <a:solidFill>
                  <a:srgbClr val="333333"/>
                </a:solidFill>
              </a:rPr>
              <a:t>年間売上</a:t>
            </a:r>
          </a:p>
        </p:txBody>
      </p:sp>
      <p:sp>
        <p:nvSpPr>
          <p:cNvPr id="32" name="TextBox 31"/>
          <p:cNvSpPr txBox="1"/>
          <p:nvPr/>
        </p:nvSpPr>
        <p:spPr>
          <a:xfrm>
            <a:off x="8686800" y="2880360"/>
            <a:ext cx="2743200" cy="365760"/>
          </a:xfrm>
          <a:prstGeom prst="rect">
            <a:avLst/>
          </a:prstGeom>
          <a:noFill/>
        </p:spPr>
        <p:txBody>
          <a:bodyPr wrap="square">
            <a:spAutoFit/>
          </a:bodyPr>
          <a:lstStyle/>
          <a:p>
            <a:pPr algn="r"/>
            <a:r>
              <a:rPr sz="1200" b="1">
                <a:solidFill>
                  <a:srgbClr val="000000"/>
                </a:solidFill>
              </a:rPr>
              <a:t>約¥5,475,000</a:t>
            </a:r>
          </a:p>
        </p:txBody>
      </p:sp>
      <p:cxnSp>
        <p:nvCxnSpPr>
          <p:cNvPr id="33" name="Connector 32"/>
          <p:cNvCxnSpPr/>
          <p:nvPr/>
        </p:nvCxnSpPr>
        <p:spPr>
          <a:xfrm>
            <a:off x="6400800" y="3429000"/>
            <a:ext cx="512064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217920" y="3520440"/>
            <a:ext cx="5486400" cy="10058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3611879"/>
            <a:ext cx="2743200" cy="365760"/>
          </a:xfrm>
          <a:prstGeom prst="rect">
            <a:avLst/>
          </a:prstGeom>
          <a:noFill/>
        </p:spPr>
        <p:txBody>
          <a:bodyPr wrap="square">
            <a:spAutoFit/>
          </a:bodyPr>
          <a:lstStyle/>
          <a:p>
            <a:pPr algn="l"/>
            <a:r>
              <a:rPr sz="1400" b="1">
                <a:solidFill>
                  <a:srgbClr val="FFFFFF"/>
                </a:solidFill>
              </a:rPr>
              <a:t>投資回収期間</a:t>
            </a:r>
          </a:p>
        </p:txBody>
      </p:sp>
      <p:sp>
        <p:nvSpPr>
          <p:cNvPr id="36" name="TextBox 35"/>
          <p:cNvSpPr txBox="1"/>
          <p:nvPr/>
        </p:nvSpPr>
        <p:spPr>
          <a:xfrm>
            <a:off x="8961120" y="3611879"/>
            <a:ext cx="2560320" cy="365760"/>
          </a:xfrm>
          <a:prstGeom prst="rect">
            <a:avLst/>
          </a:prstGeom>
          <a:noFill/>
        </p:spPr>
        <p:txBody>
          <a:bodyPr wrap="square">
            <a:spAutoFit/>
          </a:bodyPr>
          <a:lstStyle/>
          <a:p>
            <a:pPr algn="r"/>
            <a:r>
              <a:rPr sz="2000" b="1">
                <a:solidFill>
                  <a:srgbClr val="90EE90"/>
                </a:solidFill>
              </a:rPr>
              <a:t>約2年2ヶ月</a:t>
            </a:r>
          </a:p>
        </p:txBody>
      </p:sp>
      <p:sp>
        <p:nvSpPr>
          <p:cNvPr id="37" name="TextBox 36"/>
          <p:cNvSpPr txBox="1"/>
          <p:nvPr/>
        </p:nvSpPr>
        <p:spPr>
          <a:xfrm>
            <a:off x="6400800" y="4663440"/>
            <a:ext cx="5212080" cy="411480"/>
          </a:xfrm>
          <a:prstGeom prst="rect">
            <a:avLst/>
          </a:prstGeom>
          <a:noFill/>
        </p:spPr>
        <p:txBody>
          <a:bodyPr wrap="square">
            <a:spAutoFit/>
          </a:bodyPr>
          <a:lstStyle/>
          <a:p>
            <a:pPr algn="l"/>
            <a:r>
              <a:rPr sz="1000" b="0">
                <a:solidFill>
                  <a:srgbClr val="333333"/>
                </a:solidFill>
              </a:rPr>
              <a:t>※複数台導入でスケールメリットあり。中古売却（出口）により実質コストをさらに低減可能。</a:t>
            </a:r>
          </a:p>
        </p:txBody>
      </p:sp>
      <p:sp>
        <p:nvSpPr>
          <p:cNvPr id="38" name="TextBox 37"/>
          <p:cNvSpPr txBox="1"/>
          <p:nvPr/>
        </p:nvSpPr>
        <p:spPr>
          <a:xfrm>
            <a:off x="457200" y="6400800"/>
            <a:ext cx="11247120" cy="320040"/>
          </a:xfrm>
          <a:prstGeom prst="rect">
            <a:avLst/>
          </a:prstGeom>
          <a:noFill/>
        </p:spPr>
        <p:txBody>
          <a:bodyPr wrap="square">
            <a:spAutoFit/>
          </a:bodyPr>
          <a:lstStyle/>
          <a:p>
            <a:pPr algn="l"/>
            <a:r>
              <a:rPr sz="1000" b="0">
                <a:solidFill>
                  <a:srgbClr val="999999"/>
                </a:solidFill>
              </a:rPr>
              <a:t>※上記はモデルケースです。実際の数値は立地・運営状況により異なります。詳細シミュレーションはご相談ください。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中古専門プラットフォーム</a:t>
            </a:r>
          </a:p>
        </p:txBody>
      </p:sp>
      <p:cxnSp>
        <p:nvCxnSpPr>
          <p:cNvPr id="3" name="Connector 2"/>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188720"/>
            <a:ext cx="5303520" cy="2286000"/>
          </a:xfrm>
          <a:prstGeom prst="rect">
            <a:avLst/>
          </a:prstGeom>
          <a:noFill/>
        </p:spPr>
        <p:txBody>
          <a:bodyPr wrap="square">
            <a:spAutoFit/>
          </a:bodyPr>
          <a:lstStyle/>
          <a:p>
            <a:pPr algn="l"/>
            <a:r>
              <a:rPr sz="1400" b="1">
                <a:solidFill>
                  <a:srgbClr val="000000"/>
                </a:solidFill>
              </a:rPr>
              <a:t>「TRAILER HOUSE SECOND HAND by YADOKARI」。</a:t>
            </a:r>
          </a:p>
          <a:p>
            <a:pPr algn="l">
              <a:spcBef>
                <a:spcPts val="600"/>
              </a:spcBef>
            </a:pPr>
            <a:r>
              <a:rPr sz="1300" b="0">
                <a:solidFill>
                  <a:srgbClr val="000000"/>
                </a:solidFill>
              </a:rPr>
              <a:t>日本初の中古トレーラーハウス専門サイトを自社運営。</a:t>
            </a:r>
          </a:p>
          <a:p>
            <a:pPr algn="l">
              <a:spcBef>
                <a:spcPts val="400"/>
              </a:spcBef>
            </a:pPr>
            <a:r>
              <a:rPr sz="1300" b="0">
                <a:solidFill>
                  <a:srgbClr val="000000"/>
                </a:solidFill>
              </a:rPr>
              <a:t>導入後の売却（出口戦略）や、初期費用を抑えた</a:t>
            </a:r>
          </a:p>
          <a:p>
            <a:pPr algn="l"/>
            <a:r>
              <a:rPr sz="1300" b="0">
                <a:solidFill>
                  <a:srgbClr val="000000"/>
                </a:solidFill>
              </a:rPr>
              <a:t>中古購入を強力にサポート。</a:t>
            </a:r>
          </a:p>
        </p:txBody>
      </p:sp>
      <p:cxnSp>
        <p:nvCxnSpPr>
          <p:cNvPr id="5" name="Connector 4"/>
          <p:cNvCxnSpPr/>
          <p:nvPr/>
        </p:nvCxnSpPr>
        <p:spPr>
          <a:xfrm>
            <a:off x="457200" y="3566160"/>
            <a:ext cx="51206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3703320"/>
            <a:ext cx="5029200" cy="365760"/>
          </a:xfrm>
          <a:prstGeom prst="rect">
            <a:avLst/>
          </a:prstGeom>
          <a:noFill/>
        </p:spPr>
        <p:txBody>
          <a:bodyPr wrap="square">
            <a:spAutoFit/>
          </a:bodyPr>
          <a:lstStyle/>
          <a:p>
            <a:pPr algn="l"/>
            <a:r>
              <a:rPr sz="1300" b="1">
                <a:solidFill>
                  <a:srgbClr val="000000"/>
                </a:solidFill>
              </a:rPr>
              <a:t>流通事例：</a:t>
            </a:r>
          </a:p>
        </p:txBody>
      </p:sp>
      <p:sp>
        <p:nvSpPr>
          <p:cNvPr id="7" name="TextBox 6"/>
          <p:cNvSpPr txBox="1"/>
          <p:nvPr/>
        </p:nvSpPr>
        <p:spPr>
          <a:xfrm>
            <a:off x="457200" y="4114800"/>
            <a:ext cx="5303520" cy="1828800"/>
          </a:xfrm>
          <a:prstGeom prst="rect">
            <a:avLst/>
          </a:prstGeom>
          <a:noFill/>
        </p:spPr>
        <p:txBody>
          <a:bodyPr wrap="square">
            <a:spAutoFit/>
          </a:bodyPr>
          <a:lstStyle/>
          <a:p>
            <a:pPr algn="l">
              <a:spcBef>
                <a:spcPts val="500"/>
              </a:spcBef>
            </a:pPr>
            <a:r>
              <a:rPr sz="1200" b="0">
                <a:solidFill>
                  <a:srgbClr val="333333"/>
                </a:solidFill>
              </a:rPr>
              <a:t>・牽引免許不要コンパクトトレーラー：¥1,300,000</a:t>
            </a:r>
          </a:p>
          <a:p>
            <a:pPr algn="l">
              <a:spcBef>
                <a:spcPts val="500"/>
              </a:spcBef>
            </a:pPr>
            <a:r>
              <a:rPr sz="1200" b="0">
                <a:solidFill>
                  <a:srgbClr val="333333"/>
                </a:solidFill>
              </a:rPr>
              <a:t>・宿泊向けトレーラーハウス（住箱）：¥3,500,000〜¥4,200,000</a:t>
            </a:r>
          </a:p>
          <a:p>
            <a:pPr algn="l">
              <a:spcBef>
                <a:spcPts val="500"/>
              </a:spcBef>
            </a:pPr>
            <a:r>
              <a:rPr sz="1200" b="0">
                <a:solidFill>
                  <a:srgbClr val="333333"/>
                </a:solidFill>
              </a:rPr>
              <a:t>・オフィス・店舗向け9mモデル：¥5,850,000</a:t>
            </a:r>
          </a:p>
        </p:txBody>
      </p:sp>
      <p:sp>
        <p:nvSpPr>
          <p:cNvPr id="8" name="Rectangle 7"/>
          <p:cNvSpPr/>
          <p:nvPr/>
        </p:nvSpPr>
        <p:spPr>
          <a:xfrm>
            <a:off x="6217920" y="1188720"/>
            <a:ext cx="5486400" cy="53035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560320"/>
            <a:ext cx="5120640" cy="1645920"/>
          </a:xfrm>
          <a:prstGeom prst="rect">
            <a:avLst/>
          </a:prstGeom>
          <a:noFill/>
        </p:spPr>
        <p:txBody>
          <a:bodyPr wrap="square">
            <a:spAutoFit/>
          </a:bodyPr>
          <a:lstStyle/>
          <a:p>
            <a:pPr algn="ctr"/>
            <a:r>
              <a:rPr sz="1800" b="1">
                <a:solidFill>
                  <a:srgbClr val="FFFFFF"/>
                </a:solidFill>
              </a:rPr>
              <a:t>TRAILER HOUSE
SECOND HAND
by YADOKARI</a:t>
            </a:r>
          </a:p>
        </p:txBody>
      </p:sp>
      <p:sp>
        <p:nvSpPr>
          <p:cNvPr id="10" name="TextBox 9"/>
          <p:cNvSpPr txBox="1"/>
          <p:nvPr/>
        </p:nvSpPr>
        <p:spPr>
          <a:xfrm>
            <a:off x="6400800" y="4389120"/>
            <a:ext cx="5120640" cy="457200"/>
          </a:xfrm>
          <a:prstGeom prst="rect">
            <a:avLst/>
          </a:prstGeom>
          <a:noFill/>
        </p:spPr>
        <p:txBody>
          <a:bodyPr wrap="square">
            <a:spAutoFit/>
          </a:bodyPr>
          <a:lstStyle/>
          <a:p>
            <a:pPr algn="ctr"/>
            <a:r>
              <a:rPr sz="1300" b="0">
                <a:solidFill>
                  <a:srgbClr val="DDDDDD"/>
                </a:solidFill>
              </a:rPr>
              <a:t>中古物件掲載中</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導入までの流れ</a:t>
            </a:r>
          </a:p>
        </p:txBody>
      </p:sp>
      <p:cxnSp>
        <p:nvCxnSpPr>
          <p:cNvPr id="3" name="Connector 2"/>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943600" y="914400"/>
            <a:ext cx="0" cy="566928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57200" y="1188720"/>
            <a:ext cx="100584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1005840" cy="411480"/>
          </a:xfrm>
          <a:prstGeom prst="rect">
            <a:avLst/>
          </a:prstGeom>
          <a:noFill/>
        </p:spPr>
        <p:txBody>
          <a:bodyPr wrap="square">
            <a:spAutoFit/>
          </a:bodyPr>
          <a:lstStyle/>
          <a:p>
            <a:pPr algn="ctr"/>
            <a:r>
              <a:rPr sz="1800" b="1">
                <a:solidFill>
                  <a:srgbClr val="FFFFFF"/>
                </a:solidFill>
              </a:rPr>
              <a:t>1</a:t>
            </a:r>
          </a:p>
        </p:txBody>
      </p:sp>
      <p:sp>
        <p:nvSpPr>
          <p:cNvPr id="7" name="TextBox 6"/>
          <p:cNvSpPr txBox="1"/>
          <p:nvPr/>
        </p:nvSpPr>
        <p:spPr>
          <a:xfrm>
            <a:off x="1600200" y="1225296"/>
            <a:ext cx="4023360" cy="365760"/>
          </a:xfrm>
          <a:prstGeom prst="rect">
            <a:avLst/>
          </a:prstGeom>
          <a:noFill/>
        </p:spPr>
        <p:txBody>
          <a:bodyPr wrap="square">
            <a:spAutoFit/>
          </a:bodyPr>
          <a:lstStyle/>
          <a:p>
            <a:pPr algn="l"/>
            <a:r>
              <a:rPr sz="1400" b="1">
                <a:solidFill>
                  <a:srgbClr val="000000"/>
                </a:solidFill>
              </a:rPr>
              <a:t>1. ご相談・ヒアリング</a:t>
            </a:r>
          </a:p>
        </p:txBody>
      </p:sp>
      <p:sp>
        <p:nvSpPr>
          <p:cNvPr id="8" name="Rectangle 7"/>
          <p:cNvSpPr/>
          <p:nvPr/>
        </p:nvSpPr>
        <p:spPr>
          <a:xfrm>
            <a:off x="4206240" y="1234440"/>
            <a:ext cx="1463040" cy="3474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0" y="1280160"/>
            <a:ext cx="1371600" cy="274320"/>
          </a:xfrm>
          <a:prstGeom prst="rect">
            <a:avLst/>
          </a:prstGeom>
          <a:noFill/>
        </p:spPr>
        <p:txBody>
          <a:bodyPr wrap="square">
            <a:spAutoFit/>
          </a:bodyPr>
          <a:lstStyle/>
          <a:p>
            <a:pPr algn="ctr"/>
            <a:r>
              <a:rPr sz="1100" b="0">
                <a:solidFill>
                  <a:srgbClr val="333333"/>
                </a:solidFill>
              </a:rPr>
              <a:t>約1〜2週間</a:t>
            </a:r>
          </a:p>
        </p:txBody>
      </p:sp>
      <p:sp>
        <p:nvSpPr>
          <p:cNvPr id="10" name="TextBox 9"/>
          <p:cNvSpPr txBox="1"/>
          <p:nvPr/>
        </p:nvSpPr>
        <p:spPr>
          <a:xfrm>
            <a:off x="6217920" y="1234440"/>
            <a:ext cx="5486400" cy="640080"/>
          </a:xfrm>
          <a:prstGeom prst="rect">
            <a:avLst/>
          </a:prstGeom>
          <a:noFill/>
        </p:spPr>
        <p:txBody>
          <a:bodyPr wrap="square">
            <a:spAutoFit/>
          </a:bodyPr>
          <a:lstStyle/>
          <a:p>
            <a:pPr algn="l"/>
            <a:r>
              <a:rPr sz="1200" b="0">
                <a:solidFill>
                  <a:srgbClr val="333333"/>
                </a:solidFill>
              </a:rPr>
              <a:t>用途、予算、設置場所の条件（法規制含む）の確認。</a:t>
            </a:r>
          </a:p>
        </p:txBody>
      </p:sp>
      <p:cxnSp>
        <p:nvCxnSpPr>
          <p:cNvPr id="11" name="Connector 10"/>
          <p:cNvCxnSpPr/>
          <p:nvPr/>
        </p:nvCxnSpPr>
        <p:spPr>
          <a:xfrm>
            <a:off x="457200" y="2011679"/>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57200" y="2103120"/>
            <a:ext cx="100584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148839"/>
            <a:ext cx="1005840" cy="411480"/>
          </a:xfrm>
          <a:prstGeom prst="rect">
            <a:avLst/>
          </a:prstGeom>
          <a:noFill/>
        </p:spPr>
        <p:txBody>
          <a:bodyPr wrap="square">
            <a:spAutoFit/>
          </a:bodyPr>
          <a:lstStyle/>
          <a:p>
            <a:pPr algn="ctr"/>
            <a:r>
              <a:rPr sz="1800" b="1">
                <a:solidFill>
                  <a:srgbClr val="FFFFFF"/>
                </a:solidFill>
              </a:rPr>
              <a:t>2</a:t>
            </a:r>
          </a:p>
        </p:txBody>
      </p:sp>
      <p:sp>
        <p:nvSpPr>
          <p:cNvPr id="14" name="TextBox 13"/>
          <p:cNvSpPr txBox="1"/>
          <p:nvPr/>
        </p:nvSpPr>
        <p:spPr>
          <a:xfrm>
            <a:off x="1600200" y="2139696"/>
            <a:ext cx="4023360" cy="365760"/>
          </a:xfrm>
          <a:prstGeom prst="rect">
            <a:avLst/>
          </a:prstGeom>
          <a:noFill/>
        </p:spPr>
        <p:txBody>
          <a:bodyPr wrap="square">
            <a:spAutoFit/>
          </a:bodyPr>
          <a:lstStyle/>
          <a:p>
            <a:pPr algn="l"/>
            <a:r>
              <a:rPr sz="1400" b="1">
                <a:solidFill>
                  <a:srgbClr val="000000"/>
                </a:solidFill>
              </a:rPr>
              <a:t>2. プランニング・お見積り</a:t>
            </a:r>
          </a:p>
        </p:txBody>
      </p:sp>
      <p:sp>
        <p:nvSpPr>
          <p:cNvPr id="15" name="Rectangle 14"/>
          <p:cNvSpPr/>
          <p:nvPr/>
        </p:nvSpPr>
        <p:spPr>
          <a:xfrm>
            <a:off x="4206240" y="2148839"/>
            <a:ext cx="1463040" cy="3474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60" y="2194560"/>
            <a:ext cx="1371600" cy="274320"/>
          </a:xfrm>
          <a:prstGeom prst="rect">
            <a:avLst/>
          </a:prstGeom>
          <a:noFill/>
        </p:spPr>
        <p:txBody>
          <a:bodyPr wrap="square">
            <a:spAutoFit/>
          </a:bodyPr>
          <a:lstStyle/>
          <a:p>
            <a:pPr algn="ctr"/>
            <a:r>
              <a:rPr sz="1100" b="0">
                <a:solidFill>
                  <a:srgbClr val="333333"/>
                </a:solidFill>
              </a:rPr>
              <a:t>約2〜3週間</a:t>
            </a:r>
          </a:p>
        </p:txBody>
      </p:sp>
      <p:sp>
        <p:nvSpPr>
          <p:cNvPr id="17" name="TextBox 16"/>
          <p:cNvSpPr txBox="1"/>
          <p:nvPr/>
        </p:nvSpPr>
        <p:spPr>
          <a:xfrm>
            <a:off x="6217920" y="2148839"/>
            <a:ext cx="5486400" cy="640080"/>
          </a:xfrm>
          <a:prstGeom prst="rect">
            <a:avLst/>
          </a:prstGeom>
          <a:noFill/>
        </p:spPr>
        <p:txBody>
          <a:bodyPr wrap="square">
            <a:spAutoFit/>
          </a:bodyPr>
          <a:lstStyle/>
          <a:p>
            <a:pPr algn="l"/>
            <a:r>
              <a:rPr sz="1200" b="0">
                <a:solidFill>
                  <a:srgbClr val="333333"/>
                </a:solidFill>
              </a:rPr>
              <a:t>モデル選定、レイアウト作成、カスタム仕様の決定と精緻なお見積り。</a:t>
            </a:r>
          </a:p>
        </p:txBody>
      </p:sp>
      <p:cxnSp>
        <p:nvCxnSpPr>
          <p:cNvPr id="18" name="Connector 17"/>
          <p:cNvCxnSpPr/>
          <p:nvPr/>
        </p:nvCxnSpPr>
        <p:spPr>
          <a:xfrm>
            <a:off x="457200" y="2926079"/>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57200" y="3017520"/>
            <a:ext cx="100584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063239"/>
            <a:ext cx="1005840" cy="411480"/>
          </a:xfrm>
          <a:prstGeom prst="rect">
            <a:avLst/>
          </a:prstGeom>
          <a:noFill/>
        </p:spPr>
        <p:txBody>
          <a:bodyPr wrap="square">
            <a:spAutoFit/>
          </a:bodyPr>
          <a:lstStyle/>
          <a:p>
            <a:pPr algn="ctr"/>
            <a:r>
              <a:rPr sz="1800" b="1">
                <a:solidFill>
                  <a:srgbClr val="FFFFFF"/>
                </a:solidFill>
              </a:rPr>
              <a:t>3</a:t>
            </a:r>
          </a:p>
        </p:txBody>
      </p:sp>
      <p:sp>
        <p:nvSpPr>
          <p:cNvPr id="21" name="TextBox 20"/>
          <p:cNvSpPr txBox="1"/>
          <p:nvPr/>
        </p:nvSpPr>
        <p:spPr>
          <a:xfrm>
            <a:off x="1600200" y="3054096"/>
            <a:ext cx="4023360" cy="365760"/>
          </a:xfrm>
          <a:prstGeom prst="rect">
            <a:avLst/>
          </a:prstGeom>
          <a:noFill/>
        </p:spPr>
        <p:txBody>
          <a:bodyPr wrap="square">
            <a:spAutoFit/>
          </a:bodyPr>
          <a:lstStyle/>
          <a:p>
            <a:pPr algn="l"/>
            <a:r>
              <a:rPr sz="1400" b="1">
                <a:solidFill>
                  <a:srgbClr val="000000"/>
                </a:solidFill>
              </a:rPr>
              <a:t>3. ご契約</a:t>
            </a:r>
          </a:p>
        </p:txBody>
      </p:sp>
      <p:sp>
        <p:nvSpPr>
          <p:cNvPr id="22" name="Rectangle 21"/>
          <p:cNvSpPr/>
          <p:nvPr/>
        </p:nvSpPr>
        <p:spPr>
          <a:xfrm>
            <a:off x="4206240" y="3063239"/>
            <a:ext cx="1463040" cy="3474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60" y="3108960"/>
            <a:ext cx="1371600" cy="274320"/>
          </a:xfrm>
          <a:prstGeom prst="rect">
            <a:avLst/>
          </a:prstGeom>
          <a:noFill/>
        </p:spPr>
        <p:txBody>
          <a:bodyPr wrap="square">
            <a:spAutoFit/>
          </a:bodyPr>
          <a:lstStyle/>
          <a:p>
            <a:pPr algn="ctr"/>
            <a:r>
              <a:rPr sz="1100" b="0">
                <a:solidFill>
                  <a:srgbClr val="333333"/>
                </a:solidFill>
              </a:rPr>
              <a:t>約1週間</a:t>
            </a:r>
          </a:p>
        </p:txBody>
      </p:sp>
      <p:sp>
        <p:nvSpPr>
          <p:cNvPr id="24" name="TextBox 23"/>
          <p:cNvSpPr txBox="1"/>
          <p:nvPr/>
        </p:nvSpPr>
        <p:spPr>
          <a:xfrm>
            <a:off x="6217920" y="3063239"/>
            <a:ext cx="5486400" cy="640080"/>
          </a:xfrm>
          <a:prstGeom prst="rect">
            <a:avLst/>
          </a:prstGeom>
          <a:noFill/>
        </p:spPr>
        <p:txBody>
          <a:bodyPr wrap="square">
            <a:spAutoFit/>
          </a:bodyPr>
          <a:lstStyle/>
          <a:p>
            <a:pPr algn="l"/>
            <a:r>
              <a:rPr sz="1200" b="0">
                <a:solidFill>
                  <a:srgbClr val="333333"/>
                </a:solidFill>
              </a:rPr>
              <a:t>仕様確約および製造に向けた正式契約。</a:t>
            </a:r>
          </a:p>
        </p:txBody>
      </p:sp>
      <p:cxnSp>
        <p:nvCxnSpPr>
          <p:cNvPr id="25" name="Connector 24"/>
          <p:cNvCxnSpPr/>
          <p:nvPr/>
        </p:nvCxnSpPr>
        <p:spPr>
          <a:xfrm>
            <a:off x="457200" y="384048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57200" y="3931920"/>
            <a:ext cx="100584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977639"/>
            <a:ext cx="1005840" cy="411480"/>
          </a:xfrm>
          <a:prstGeom prst="rect">
            <a:avLst/>
          </a:prstGeom>
          <a:noFill/>
        </p:spPr>
        <p:txBody>
          <a:bodyPr wrap="square">
            <a:spAutoFit/>
          </a:bodyPr>
          <a:lstStyle/>
          <a:p>
            <a:pPr algn="ctr"/>
            <a:r>
              <a:rPr sz="1800" b="1">
                <a:solidFill>
                  <a:srgbClr val="FFFFFF"/>
                </a:solidFill>
              </a:rPr>
              <a:t>4</a:t>
            </a:r>
          </a:p>
        </p:txBody>
      </p:sp>
      <p:sp>
        <p:nvSpPr>
          <p:cNvPr id="28" name="TextBox 27"/>
          <p:cNvSpPr txBox="1"/>
          <p:nvPr/>
        </p:nvSpPr>
        <p:spPr>
          <a:xfrm>
            <a:off x="1600200" y="3968496"/>
            <a:ext cx="4023360" cy="365760"/>
          </a:xfrm>
          <a:prstGeom prst="rect">
            <a:avLst/>
          </a:prstGeom>
          <a:noFill/>
        </p:spPr>
        <p:txBody>
          <a:bodyPr wrap="square">
            <a:spAutoFit/>
          </a:bodyPr>
          <a:lstStyle/>
          <a:p>
            <a:pPr algn="l"/>
            <a:r>
              <a:rPr sz="1400" b="1">
                <a:solidFill>
                  <a:srgbClr val="000000"/>
                </a:solidFill>
              </a:rPr>
              <a:t>4. 製造・施工</a:t>
            </a:r>
          </a:p>
        </p:txBody>
      </p:sp>
      <p:sp>
        <p:nvSpPr>
          <p:cNvPr id="29" name="Rectangle 28"/>
          <p:cNvSpPr/>
          <p:nvPr/>
        </p:nvSpPr>
        <p:spPr>
          <a:xfrm>
            <a:off x="4206240" y="3977639"/>
            <a:ext cx="1463040" cy="3474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51960" y="4023359"/>
            <a:ext cx="1371600" cy="274320"/>
          </a:xfrm>
          <a:prstGeom prst="rect">
            <a:avLst/>
          </a:prstGeom>
          <a:noFill/>
        </p:spPr>
        <p:txBody>
          <a:bodyPr wrap="square">
            <a:spAutoFit/>
          </a:bodyPr>
          <a:lstStyle/>
          <a:p>
            <a:pPr algn="ctr"/>
            <a:r>
              <a:rPr sz="1100" b="0">
                <a:solidFill>
                  <a:srgbClr val="333333"/>
                </a:solidFill>
              </a:rPr>
              <a:t>約8〜12週間</a:t>
            </a:r>
          </a:p>
        </p:txBody>
      </p:sp>
      <p:sp>
        <p:nvSpPr>
          <p:cNvPr id="31" name="TextBox 30"/>
          <p:cNvSpPr txBox="1"/>
          <p:nvPr/>
        </p:nvSpPr>
        <p:spPr>
          <a:xfrm>
            <a:off x="6217920" y="3977639"/>
            <a:ext cx="5486400" cy="640080"/>
          </a:xfrm>
          <a:prstGeom prst="rect">
            <a:avLst/>
          </a:prstGeom>
          <a:noFill/>
        </p:spPr>
        <p:txBody>
          <a:bodyPr wrap="square">
            <a:spAutoFit/>
          </a:bodyPr>
          <a:lstStyle/>
          <a:p>
            <a:pPr algn="l"/>
            <a:r>
              <a:rPr sz="1200" b="0">
                <a:solidFill>
                  <a:srgbClr val="333333"/>
                </a:solidFill>
              </a:rPr>
              <a:t>徹底した品質管理のもと、国内工場にて製造・内装施工。</a:t>
            </a:r>
          </a:p>
        </p:txBody>
      </p:sp>
      <p:cxnSp>
        <p:nvCxnSpPr>
          <p:cNvPr id="32" name="Connector 31"/>
          <p:cNvCxnSpPr/>
          <p:nvPr/>
        </p:nvCxnSpPr>
        <p:spPr>
          <a:xfrm>
            <a:off x="457200" y="475488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57200" y="4846320"/>
            <a:ext cx="1005840" cy="5029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892040"/>
            <a:ext cx="1005840" cy="411480"/>
          </a:xfrm>
          <a:prstGeom prst="rect">
            <a:avLst/>
          </a:prstGeom>
          <a:noFill/>
        </p:spPr>
        <p:txBody>
          <a:bodyPr wrap="square">
            <a:spAutoFit/>
          </a:bodyPr>
          <a:lstStyle/>
          <a:p>
            <a:pPr algn="ctr"/>
            <a:r>
              <a:rPr sz="1800" b="1">
                <a:solidFill>
                  <a:srgbClr val="FFFFFF"/>
                </a:solidFill>
              </a:rPr>
              <a:t>5</a:t>
            </a:r>
          </a:p>
        </p:txBody>
      </p:sp>
      <p:sp>
        <p:nvSpPr>
          <p:cNvPr id="35" name="TextBox 34"/>
          <p:cNvSpPr txBox="1"/>
          <p:nvPr/>
        </p:nvSpPr>
        <p:spPr>
          <a:xfrm>
            <a:off x="1600200" y="4882896"/>
            <a:ext cx="4023360" cy="365760"/>
          </a:xfrm>
          <a:prstGeom prst="rect">
            <a:avLst/>
          </a:prstGeom>
          <a:noFill/>
        </p:spPr>
        <p:txBody>
          <a:bodyPr wrap="square">
            <a:spAutoFit/>
          </a:bodyPr>
          <a:lstStyle/>
          <a:p>
            <a:pPr algn="l"/>
            <a:r>
              <a:rPr sz="1400" b="1">
                <a:solidFill>
                  <a:srgbClr val="000000"/>
                </a:solidFill>
              </a:rPr>
              <a:t>5. 納車・設置</a:t>
            </a:r>
          </a:p>
        </p:txBody>
      </p:sp>
      <p:sp>
        <p:nvSpPr>
          <p:cNvPr id="36" name="Rectangle 35"/>
          <p:cNvSpPr/>
          <p:nvPr/>
        </p:nvSpPr>
        <p:spPr>
          <a:xfrm>
            <a:off x="4206240" y="4892040"/>
            <a:ext cx="1463040" cy="34747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51960" y="4937759"/>
            <a:ext cx="1371600" cy="274320"/>
          </a:xfrm>
          <a:prstGeom prst="rect">
            <a:avLst/>
          </a:prstGeom>
          <a:noFill/>
        </p:spPr>
        <p:txBody>
          <a:bodyPr wrap="square">
            <a:spAutoFit/>
          </a:bodyPr>
          <a:lstStyle/>
          <a:p>
            <a:pPr algn="ctr"/>
            <a:r>
              <a:rPr sz="1100" b="0">
                <a:solidFill>
                  <a:srgbClr val="333333"/>
                </a:solidFill>
              </a:rPr>
              <a:t>1〜2日</a:t>
            </a:r>
          </a:p>
        </p:txBody>
      </p:sp>
      <p:sp>
        <p:nvSpPr>
          <p:cNvPr id="38" name="TextBox 37"/>
          <p:cNvSpPr txBox="1"/>
          <p:nvPr/>
        </p:nvSpPr>
        <p:spPr>
          <a:xfrm>
            <a:off x="6217920" y="4892040"/>
            <a:ext cx="5486400" cy="640080"/>
          </a:xfrm>
          <a:prstGeom prst="rect">
            <a:avLst/>
          </a:prstGeom>
          <a:noFill/>
        </p:spPr>
        <p:txBody>
          <a:bodyPr wrap="square">
            <a:spAutoFit/>
          </a:bodyPr>
          <a:lstStyle/>
          <a:p>
            <a:pPr algn="l"/>
            <a:r>
              <a:rPr sz="1200" b="0">
                <a:solidFill>
                  <a:srgbClr val="333333"/>
                </a:solidFill>
              </a:rPr>
              <a:t>専門チームによる牽引納車、指定場所への確実な設置作業。</a:t>
            </a:r>
          </a:p>
        </p:txBody>
      </p:sp>
      <p:sp>
        <p:nvSpPr>
          <p:cNvPr id="39" name="Rectangle 38"/>
          <p:cNvSpPr/>
          <p:nvPr/>
        </p:nvSpPr>
        <p:spPr>
          <a:xfrm>
            <a:off x="457200" y="6080760"/>
            <a:ext cx="11247120" cy="54864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6144768"/>
            <a:ext cx="10972800" cy="411480"/>
          </a:xfrm>
          <a:prstGeom prst="rect">
            <a:avLst/>
          </a:prstGeom>
          <a:noFill/>
        </p:spPr>
        <p:txBody>
          <a:bodyPr wrap="square">
            <a:spAutoFit/>
          </a:bodyPr>
          <a:lstStyle/>
          <a:p>
            <a:pPr algn="ctr"/>
            <a:r>
              <a:rPr sz="1500" b="1">
                <a:solidFill>
                  <a:srgbClr val="FFFFFF"/>
                </a:solidFill>
              </a:rPr>
              <a:t>ご注文〜ご利用開始まで：約3〜4ヶ月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7315200" cy="685800"/>
          </a:xfrm>
          <a:prstGeom prst="rect">
            <a:avLst/>
          </a:prstGeom>
          <a:noFill/>
        </p:spPr>
        <p:txBody>
          <a:bodyPr wrap="square">
            <a:spAutoFit/>
          </a:bodyPr>
          <a:lstStyle/>
          <a:p>
            <a:pPr algn="l"/>
            <a:r>
              <a:rPr sz="2800" b="1">
                <a:solidFill>
                  <a:srgbClr val="000000"/>
                </a:solidFill>
              </a:rPr>
              <a:t>よくあるご質問（FAQ）</a:t>
            </a:r>
          </a:p>
        </p:txBody>
      </p:sp>
      <p:cxnSp>
        <p:nvCxnSpPr>
          <p:cNvPr id="3" name="Connector 2"/>
          <p:cNvCxnSpPr/>
          <p:nvPr/>
        </p:nvCxnSpPr>
        <p:spPr>
          <a:xfrm>
            <a:off x="457200" y="960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57200" y="1143000"/>
            <a:ext cx="5577840" cy="1508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34440"/>
            <a:ext cx="5303520" cy="411480"/>
          </a:xfrm>
          <a:prstGeom prst="rect">
            <a:avLst/>
          </a:prstGeom>
          <a:noFill/>
        </p:spPr>
        <p:txBody>
          <a:bodyPr wrap="square">
            <a:spAutoFit/>
          </a:bodyPr>
          <a:lstStyle/>
          <a:p>
            <a:pPr algn="l"/>
            <a:r>
              <a:rPr sz="1200" b="1">
                <a:solidFill>
                  <a:srgbClr val="333333"/>
                </a:solidFill>
              </a:rPr>
              <a:t>Q1. 建築確認申請は必要ですか？</a:t>
            </a:r>
          </a:p>
        </p:txBody>
      </p:sp>
      <p:sp>
        <p:nvSpPr>
          <p:cNvPr id="6" name="TextBox 5"/>
          <p:cNvSpPr txBox="1"/>
          <p:nvPr/>
        </p:nvSpPr>
        <p:spPr>
          <a:xfrm>
            <a:off x="594360" y="1673352"/>
            <a:ext cx="5303520" cy="896112"/>
          </a:xfrm>
          <a:prstGeom prst="rect">
            <a:avLst/>
          </a:prstGeom>
          <a:noFill/>
        </p:spPr>
        <p:txBody>
          <a:bodyPr wrap="square">
            <a:spAutoFit/>
          </a:bodyPr>
          <a:lstStyle/>
          <a:p>
            <a:pPr algn="l"/>
            <a:r>
              <a:rPr sz="1100" b="0">
                <a:solidFill>
                  <a:srgbClr val="333333"/>
                </a:solidFill>
              </a:rPr>
              <a:t>一定の条件（随時かつ任意に移動できる状態等）を満たすことで「車両」扱いとなり、建築確認申請が不要になります。設置条件については個別にご確認ください。</a:t>
            </a:r>
          </a:p>
        </p:txBody>
      </p:sp>
      <p:sp>
        <p:nvSpPr>
          <p:cNvPr id="7" name="Rectangle 6"/>
          <p:cNvSpPr/>
          <p:nvPr/>
        </p:nvSpPr>
        <p:spPr>
          <a:xfrm>
            <a:off x="6309360" y="1143000"/>
            <a:ext cx="5577840" cy="1508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234440"/>
            <a:ext cx="5303520" cy="411480"/>
          </a:xfrm>
          <a:prstGeom prst="rect">
            <a:avLst/>
          </a:prstGeom>
          <a:noFill/>
        </p:spPr>
        <p:txBody>
          <a:bodyPr wrap="square">
            <a:spAutoFit/>
          </a:bodyPr>
          <a:lstStyle/>
          <a:p>
            <a:pPr algn="l"/>
            <a:r>
              <a:rPr sz="1200" b="1">
                <a:solidFill>
                  <a:srgbClr val="333333"/>
                </a:solidFill>
              </a:rPr>
              <a:t>Q2. 固定資産税はかかりますか？</a:t>
            </a:r>
          </a:p>
        </p:txBody>
      </p:sp>
      <p:sp>
        <p:nvSpPr>
          <p:cNvPr id="9" name="TextBox 8"/>
          <p:cNvSpPr txBox="1"/>
          <p:nvPr/>
        </p:nvSpPr>
        <p:spPr>
          <a:xfrm>
            <a:off x="6446520" y="1673352"/>
            <a:ext cx="5303520" cy="896112"/>
          </a:xfrm>
          <a:prstGeom prst="rect">
            <a:avLst/>
          </a:prstGeom>
          <a:noFill/>
        </p:spPr>
        <p:txBody>
          <a:bodyPr wrap="square">
            <a:spAutoFit/>
          </a:bodyPr>
          <a:lstStyle/>
          <a:p>
            <a:pPr algn="l"/>
            <a:r>
              <a:rPr sz="1100" b="0">
                <a:solidFill>
                  <a:srgbClr val="333333"/>
                </a:solidFill>
              </a:rPr>
              <a:t>車両として登録されている場合、土地への定着が認められないため原則として固定資産税の対象外となります。※条件・自治体により異なる場合があります。</a:t>
            </a:r>
          </a:p>
        </p:txBody>
      </p:sp>
      <p:sp>
        <p:nvSpPr>
          <p:cNvPr id="10" name="Rectangle 9"/>
          <p:cNvSpPr/>
          <p:nvPr/>
        </p:nvSpPr>
        <p:spPr>
          <a:xfrm>
            <a:off x="457200" y="2834640"/>
            <a:ext cx="5577840" cy="1508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926080"/>
            <a:ext cx="5303520" cy="411480"/>
          </a:xfrm>
          <a:prstGeom prst="rect">
            <a:avLst/>
          </a:prstGeom>
          <a:noFill/>
        </p:spPr>
        <p:txBody>
          <a:bodyPr wrap="square">
            <a:spAutoFit/>
          </a:bodyPr>
          <a:lstStyle/>
          <a:p>
            <a:pPr algn="l"/>
            <a:r>
              <a:rPr sz="1200" b="1">
                <a:solidFill>
                  <a:srgbClr val="333333"/>
                </a:solidFill>
              </a:rPr>
              <a:t>Q3. ローン・リースは使えますか？</a:t>
            </a:r>
          </a:p>
        </p:txBody>
      </p:sp>
      <p:sp>
        <p:nvSpPr>
          <p:cNvPr id="12" name="TextBox 11"/>
          <p:cNvSpPr txBox="1"/>
          <p:nvPr/>
        </p:nvSpPr>
        <p:spPr>
          <a:xfrm>
            <a:off x="594360" y="3364992"/>
            <a:ext cx="5303520" cy="896112"/>
          </a:xfrm>
          <a:prstGeom prst="rect">
            <a:avLst/>
          </a:prstGeom>
          <a:noFill/>
        </p:spPr>
        <p:txBody>
          <a:bodyPr wrap="square">
            <a:spAutoFit/>
          </a:bodyPr>
          <a:lstStyle/>
          <a:p>
            <a:pPr algn="l"/>
            <a:r>
              <a:rPr sz="1100" b="0">
                <a:solidFill>
                  <a:srgbClr val="333333"/>
                </a:solidFill>
              </a:rPr>
              <a:t>各種金融機関のローンやリースに対応しています。詳細はご相談ください。</a:t>
            </a:r>
          </a:p>
        </p:txBody>
      </p:sp>
      <p:sp>
        <p:nvSpPr>
          <p:cNvPr id="13" name="Rectangle 12"/>
          <p:cNvSpPr/>
          <p:nvPr/>
        </p:nvSpPr>
        <p:spPr>
          <a:xfrm>
            <a:off x="6309360" y="2834640"/>
            <a:ext cx="5577840" cy="1508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926080"/>
            <a:ext cx="5303520" cy="411480"/>
          </a:xfrm>
          <a:prstGeom prst="rect">
            <a:avLst/>
          </a:prstGeom>
          <a:noFill/>
        </p:spPr>
        <p:txBody>
          <a:bodyPr wrap="square">
            <a:spAutoFit/>
          </a:bodyPr>
          <a:lstStyle/>
          <a:p>
            <a:pPr algn="l"/>
            <a:r>
              <a:rPr sz="1200" b="1">
                <a:solidFill>
                  <a:srgbClr val="333333"/>
                </a:solidFill>
              </a:rPr>
              <a:t>Q4. 台風・大雪など災害時は大丈夫ですか？</a:t>
            </a:r>
          </a:p>
        </p:txBody>
      </p:sp>
      <p:sp>
        <p:nvSpPr>
          <p:cNvPr id="15" name="TextBox 14"/>
          <p:cNvSpPr txBox="1"/>
          <p:nvPr/>
        </p:nvSpPr>
        <p:spPr>
          <a:xfrm>
            <a:off x="6446520" y="3364992"/>
            <a:ext cx="5303520" cy="896112"/>
          </a:xfrm>
          <a:prstGeom prst="rect">
            <a:avLst/>
          </a:prstGeom>
          <a:noFill/>
        </p:spPr>
        <p:txBody>
          <a:bodyPr wrap="square">
            <a:spAutoFit/>
          </a:bodyPr>
          <a:lstStyle/>
          <a:p>
            <a:pPr algn="l"/>
            <a:r>
              <a:rPr sz="1100" b="0">
                <a:solidFill>
                  <a:srgbClr val="333333"/>
                </a:solidFill>
              </a:rPr>
              <a:t>堅牢な軽量鉄骨造と高耐久外装材を採用。一般建築物と同等以上の耐候性があります。※大型台風時はアンカー固定を推奨します。</a:t>
            </a:r>
          </a:p>
        </p:txBody>
      </p:sp>
      <p:sp>
        <p:nvSpPr>
          <p:cNvPr id="16" name="Rectangle 15"/>
          <p:cNvSpPr/>
          <p:nvPr/>
        </p:nvSpPr>
        <p:spPr>
          <a:xfrm>
            <a:off x="457200" y="4526280"/>
            <a:ext cx="5577840" cy="1508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617720"/>
            <a:ext cx="5303520" cy="411480"/>
          </a:xfrm>
          <a:prstGeom prst="rect">
            <a:avLst/>
          </a:prstGeom>
          <a:noFill/>
        </p:spPr>
        <p:txBody>
          <a:bodyPr wrap="square">
            <a:spAutoFit/>
          </a:bodyPr>
          <a:lstStyle/>
          <a:p>
            <a:pPr algn="l"/>
            <a:r>
              <a:rPr sz="1200" b="1">
                <a:solidFill>
                  <a:srgbClr val="333333"/>
                </a:solidFill>
              </a:rPr>
              <a:t>Q5. メンテナンスサポートはありますか？</a:t>
            </a:r>
          </a:p>
        </p:txBody>
      </p:sp>
      <p:sp>
        <p:nvSpPr>
          <p:cNvPr id="18" name="TextBox 17"/>
          <p:cNvSpPr txBox="1"/>
          <p:nvPr/>
        </p:nvSpPr>
        <p:spPr>
          <a:xfrm>
            <a:off x="594360" y="5056632"/>
            <a:ext cx="5303520" cy="896112"/>
          </a:xfrm>
          <a:prstGeom prst="rect">
            <a:avLst/>
          </a:prstGeom>
          <a:noFill/>
        </p:spPr>
        <p:txBody>
          <a:bodyPr wrap="square">
            <a:spAutoFit/>
          </a:bodyPr>
          <a:lstStyle/>
          <a:p>
            <a:pPr algn="l"/>
            <a:r>
              <a:rPr sz="1100" b="0">
                <a:solidFill>
                  <a:srgbClr val="333333"/>
                </a:solidFill>
              </a:rPr>
              <a:t>定期点検・修繕対応・部品供給まで YADOKARIが一貫してサポートします。</a:t>
            </a:r>
          </a:p>
        </p:txBody>
      </p:sp>
      <p:sp>
        <p:nvSpPr>
          <p:cNvPr id="19" name="Rectangle 18"/>
          <p:cNvSpPr/>
          <p:nvPr/>
        </p:nvSpPr>
        <p:spPr>
          <a:xfrm>
            <a:off x="6309360" y="4526280"/>
            <a:ext cx="5577840" cy="1508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617720"/>
            <a:ext cx="5303520" cy="411480"/>
          </a:xfrm>
          <a:prstGeom prst="rect">
            <a:avLst/>
          </a:prstGeom>
          <a:noFill/>
        </p:spPr>
        <p:txBody>
          <a:bodyPr wrap="square">
            <a:spAutoFit/>
          </a:bodyPr>
          <a:lstStyle/>
          <a:p>
            <a:pPr algn="l"/>
            <a:r>
              <a:rPr sz="1200" b="1">
                <a:solidFill>
                  <a:srgbClr val="333333"/>
                </a:solidFill>
              </a:rPr>
              <a:t>Q6. 使わなくなったらどうすればいいですか？</a:t>
            </a:r>
          </a:p>
        </p:txBody>
      </p:sp>
      <p:sp>
        <p:nvSpPr>
          <p:cNvPr id="21" name="TextBox 20"/>
          <p:cNvSpPr txBox="1"/>
          <p:nvPr/>
        </p:nvSpPr>
        <p:spPr>
          <a:xfrm>
            <a:off x="6446520" y="5056632"/>
            <a:ext cx="5303520" cy="896112"/>
          </a:xfrm>
          <a:prstGeom prst="rect">
            <a:avLst/>
          </a:prstGeom>
          <a:noFill/>
        </p:spPr>
        <p:txBody>
          <a:bodyPr wrap="square">
            <a:spAutoFit/>
          </a:bodyPr>
          <a:lstStyle/>
          <a:p>
            <a:pPr algn="l"/>
            <a:r>
              <a:rPr sz="1100" b="0">
                <a:solidFill>
                  <a:srgbClr val="333333"/>
                </a:solidFill>
              </a:rPr>
              <a:t>「TRAILER HOUSE SECOND HAND by YADOKARI」にて中古売却が可能です。出口戦略までサポートするのが当社の強みです。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914400" y="2286000"/>
            <a:ext cx="10332720" cy="914400"/>
          </a:xfrm>
          <a:prstGeom prst="rect">
            <a:avLst/>
          </a:prstGeom>
          <a:noFill/>
        </p:spPr>
        <p:txBody>
          <a:bodyPr wrap="square">
            <a:spAutoFit/>
          </a:bodyPr>
          <a:lstStyle/>
          <a:p>
            <a:pPr algn="ctr"/>
            <a:r>
              <a:rPr sz="3400" b="1">
                <a:solidFill>
                  <a:srgbClr val="000000"/>
                </a:solidFill>
              </a:rPr>
              <a:t>新しい暮らしと事業を、ここから。</a:t>
            </a:r>
          </a:p>
        </p:txBody>
      </p:sp>
      <p:cxnSp>
        <p:nvCxnSpPr>
          <p:cNvPr id="3" name="Connector 2"/>
          <p:cNvCxnSpPr/>
          <p:nvPr/>
        </p:nvCxnSpPr>
        <p:spPr>
          <a:xfrm>
            <a:off x="3200400" y="3337560"/>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14400" y="3520440"/>
            <a:ext cx="10332720" cy="457200"/>
          </a:xfrm>
          <a:prstGeom prst="rect">
            <a:avLst/>
          </a:prstGeom>
          <a:noFill/>
        </p:spPr>
        <p:txBody>
          <a:bodyPr wrap="square">
            <a:spAutoFit/>
          </a:bodyPr>
          <a:lstStyle/>
          <a:p>
            <a:pPr algn="ctr"/>
            <a:r>
              <a:rPr sz="1400" b="0">
                <a:solidFill>
                  <a:srgbClr val="333333"/>
                </a:solidFill>
              </a:rPr>
              <a:t>トレーラーハウスに関するご相談、お見積りのご依頼はお気軽にご連絡ください。</a:t>
            </a:r>
          </a:p>
        </p:txBody>
      </p:sp>
      <p:sp>
        <p:nvSpPr>
          <p:cNvPr id="5" name="TextBox 4"/>
          <p:cNvSpPr txBox="1"/>
          <p:nvPr/>
        </p:nvSpPr>
        <p:spPr>
          <a:xfrm>
            <a:off x="914400" y="4069080"/>
            <a:ext cx="10332720" cy="411480"/>
          </a:xfrm>
          <a:prstGeom prst="rect">
            <a:avLst/>
          </a:prstGeom>
          <a:noFill/>
        </p:spPr>
        <p:txBody>
          <a:bodyPr wrap="square">
            <a:spAutoFit/>
          </a:bodyPr>
          <a:lstStyle/>
          <a:p>
            <a:pPr algn="ctr"/>
            <a:r>
              <a:rPr sz="1300" b="0">
                <a:solidFill>
                  <a:srgbClr val="333333"/>
                </a:solidFill>
              </a:rPr>
              <a:t>WEB: https://yadokari.net/</a:t>
            </a:r>
          </a:p>
        </p:txBody>
      </p:sp>
      <p:sp>
        <p:nvSpPr>
          <p:cNvPr id="6" name="TextBox 5"/>
          <p:cNvSpPr txBox="1"/>
          <p:nvPr/>
        </p:nvSpPr>
        <p:spPr>
          <a:xfrm>
            <a:off x="914400" y="4526280"/>
            <a:ext cx="10332720" cy="411480"/>
          </a:xfrm>
          <a:prstGeom prst="rect">
            <a:avLst/>
          </a:prstGeom>
          <a:noFill/>
        </p:spPr>
        <p:txBody>
          <a:bodyPr wrap="square">
            <a:spAutoFit/>
          </a:bodyPr>
          <a:lstStyle/>
          <a:p>
            <a:pPr algn="ctr"/>
            <a:r>
              <a:rPr sz="1300" b="0">
                <a:solidFill>
                  <a:srgbClr val="333333"/>
                </a:solidFill>
              </a:rPr>
              <a:t>お問い合わせフォーム：YADOKARIオフィシャルサイト内「お問い合わせ」より</a:t>
            </a:r>
          </a:p>
        </p:txBody>
      </p:sp>
      <p:cxnSp>
        <p:nvCxnSpPr>
          <p:cNvPr id="7" name="Connector 6"/>
          <p:cNvCxnSpPr/>
          <p:nvPr/>
        </p:nvCxnSpPr>
        <p:spPr>
          <a:xfrm>
            <a:off x="3200400" y="5074920"/>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6492240"/>
            <a:ext cx="10332720" cy="320040"/>
          </a:xfrm>
          <a:prstGeom prst="rect">
            <a:avLst/>
          </a:prstGeom>
          <a:noFill/>
        </p:spPr>
        <p:txBody>
          <a:bodyPr wrap="square">
            <a:spAutoFit/>
          </a:bodyPr>
          <a:lstStyle/>
          <a:p>
            <a:pPr algn="ctr"/>
            <a:r>
              <a:rPr sz="1100" b="0">
                <a:solidFill>
                  <a:srgbClr val="999999"/>
                </a:solidFill>
              </a:rPr>
              <a:t>YADOKARI株式会社　｜　神奈川県横浜市保土ヶ谷区星川1-1-1 星天qlay2階 qlaytion gallery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